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94" r:id="rId4"/>
    <p:sldId id="259" r:id="rId5"/>
    <p:sldId id="296" r:id="rId6"/>
    <p:sldId id="291" r:id="rId7"/>
    <p:sldId id="290" r:id="rId8"/>
    <p:sldId id="263" r:id="rId9"/>
    <p:sldId id="264" r:id="rId10"/>
    <p:sldId id="265" r:id="rId11"/>
    <p:sldId id="267" r:id="rId12"/>
    <p:sldId id="268" r:id="rId13"/>
    <p:sldId id="298" r:id="rId14"/>
    <p:sldId id="297" r:id="rId15"/>
    <p:sldId id="271" r:id="rId16"/>
    <p:sldId id="272" r:id="rId17"/>
    <p:sldId id="273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F7F7F6"/>
    <a:srgbClr val="F8F7F7"/>
    <a:srgbClr val="F4F4F4"/>
    <a:srgbClr val="EDF3E6"/>
    <a:srgbClr val="1D0F0F"/>
    <a:srgbClr val="444444"/>
    <a:srgbClr val="F89345"/>
    <a:srgbClr val="09182C"/>
    <a:srgbClr val="1509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91325" autoAdjust="0"/>
  </p:normalViewPr>
  <p:slideViewPr>
    <p:cSldViewPr snapToGrid="0" snapToObjects="1">
      <p:cViewPr>
        <p:scale>
          <a:sx n="100" d="100"/>
          <a:sy n="100" d="100"/>
        </p:scale>
        <p:origin x="1374" y="18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38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6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상태 전이마다 확인 topic을 두어 하위 시스템 완료 상태를 검증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주행/비전/파지 실패는 timeout, retry, align으로 분기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영상 시연과 rosbag/log KPI를 동일 시나리오에 연결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근접 이동은 AGV, 마지막 정밀 정렬과 파지는 Vision·Robot Arm이 담당</a:t>
            </a:r>
            <a:endParaRPr lang="en-US" altLang="ko-KR" sz="120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957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259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① ROTATE_TO_HEADING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목표점 방향으로 제자리 회전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② DRIVE_STRAIGHT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angular.z = 0으로 직진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③ ROTATE_TO_GOAL_YAW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목표 yaw로 최종 회전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④ STOP_HOLD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다음 동작 전 완전 정지 유지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algn="ctr"/>
            <a:r>
              <a:rPr lang="en-US" altLang="ko-KR" smtClean="0"/>
              <a:t>AGV </a:t>
            </a:r>
            <a:r>
              <a:rPr lang="ko-KR" altLang="en-US" smtClean="0"/>
              <a:t>노드 전체 </a:t>
            </a:r>
            <a:r>
              <a:rPr lang="en-US" altLang="ko-KR" smtClean="0"/>
              <a:t>FLOW (black box </a:t>
            </a:r>
            <a:r>
              <a:rPr lang="ko-KR" altLang="en-US" smtClean="0"/>
              <a:t>포함해서 설명</a:t>
            </a:r>
            <a:r>
              <a:rPr lang="en-US" altLang="ko-KR" smtClean="0"/>
              <a:t>)</a:t>
            </a:r>
          </a:p>
          <a:p>
            <a:pPr algn="ctr"/>
            <a:r>
              <a:rPr lang="en-US" altLang="ko-KR" smtClean="0"/>
              <a:t>Base + </a:t>
            </a:r>
            <a:r>
              <a:rPr lang="ko-KR" altLang="en-US" smtClean="0"/>
              <a:t>내가 한 부분 </a:t>
            </a:r>
            <a:r>
              <a:rPr lang="en-US" altLang="ko-KR" smtClean="0"/>
              <a:t>/ </a:t>
            </a:r>
            <a:r>
              <a:rPr lang="ko-KR" altLang="en-US" smtClean="0"/>
              <a:t>내가 수정한 부분</a:t>
            </a:r>
            <a:r>
              <a:rPr lang="en-US" altLang="ko-KR" smtClean="0"/>
              <a:t>(</a:t>
            </a:r>
            <a:r>
              <a:rPr lang="ko-KR" altLang="en-US" smtClean="0"/>
              <a:t>이유</a:t>
            </a:r>
            <a:r>
              <a:rPr lang="en-US" altLang="ko-KR" smtClean="0"/>
              <a:t>)</a:t>
            </a:r>
            <a:endParaRPr lang="ko-KR" altLang="en-US" smtClean="0"/>
          </a:p>
          <a:p>
            <a:endParaRPr lang="en-US" smtClean="0"/>
          </a:p>
          <a:p>
            <a:endParaRPr lang="en-US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mtClean="0"/>
              <a:t>급발진 문제</a:t>
            </a:r>
            <a:r>
              <a:rPr lang="en-US" altLang="ko-KR" smtClean="0"/>
              <a:t>(firmware)</a:t>
            </a:r>
            <a:r>
              <a:rPr lang="ko-KR" altLang="en-US" smtClean="0"/>
              <a:t> </a:t>
            </a:r>
            <a:r>
              <a:rPr lang="en-US" altLang="ko-KR" smtClean="0">
                <a:sym typeface="Wingdings" panose="05000000000000000000" pitchFamily="2" charset="2"/>
              </a:rPr>
              <a:t> </a:t>
            </a:r>
            <a:endParaRPr lang="ko-KR" altLang="en-US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· 성공률은 표본 수 n을 반드시 병기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· 평균값뿐 아니라 peak, worst case, 실패 횟수 함께 제시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· before/after 비교 항목은 그래프 사용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· 영상 시연 결과와 rosbag/log 데이터를 연결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 flipH="1">
            <a:off x="7096125" y="0"/>
            <a:ext cx="5095875" cy="6858000"/>
          </a:xfrm>
          <a:prstGeom prst="rect">
            <a:avLst/>
          </a:prstGeom>
          <a:gradFill flip="none" rotWithShape="1">
            <a:gsLst>
              <a:gs pos="5000">
                <a:srgbClr val="F4F4F4"/>
              </a:gs>
              <a:gs pos="94000">
                <a:schemeClr val="tx1">
                  <a:lumMod val="75000"/>
                </a:schemeClr>
              </a:gs>
              <a:gs pos="63000">
                <a:srgbClr val="D3D3D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59436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6060"/>
                </a:solidFill>
                <a:latin typeface="+mj-ea"/>
                <a:ea typeface="+mj-ea"/>
              </a:rPr>
              <a:t>FINAL PROJECT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61616"/>
                </a:solidFill>
                <a:latin typeface="+mj-ea"/>
                <a:ea typeface="+mj-ea"/>
              </a:rPr>
              <a:t>ROS2 기반 AGV-로봇팔 통합</a:t>
            </a:r>
            <a:endParaRPr lang="en-US" sz="33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3300" b="1" dirty="0">
                <a:solidFill>
                  <a:srgbClr val="161616"/>
                </a:solidFill>
                <a:latin typeface="+mj-ea"/>
                <a:ea typeface="+mj-ea"/>
              </a:rPr>
              <a:t>물류 분류 로봇</a:t>
            </a:r>
            <a:endParaRPr lang="en-US" sz="33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59" y="2284094"/>
            <a:ext cx="7149465" cy="4297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750" smtClean="0">
                <a:solidFill>
                  <a:srgbClr val="444444"/>
                </a:solidFill>
                <a:latin typeface="+mj-ea"/>
                <a:ea typeface="+mj-ea"/>
              </a:rPr>
              <a:t>하드웨어 </a:t>
            </a:r>
            <a:r>
              <a:rPr lang="en-US" sz="1750" dirty="0">
                <a:solidFill>
                  <a:srgbClr val="444444"/>
                </a:solidFill>
                <a:latin typeface="+mj-ea"/>
                <a:ea typeface="+mj-ea"/>
              </a:rPr>
              <a:t>제약 기반 통합 제어 </a:t>
            </a:r>
            <a:r>
              <a:rPr lang="en-US" sz="1750">
                <a:solidFill>
                  <a:srgbClr val="444444"/>
                </a:solidFill>
                <a:latin typeface="+mj-ea"/>
                <a:ea typeface="+mj-ea"/>
              </a:rPr>
              <a:t>· </a:t>
            </a:r>
            <a:r>
              <a:rPr lang="en-US" sz="1750" smtClean="0">
                <a:solidFill>
                  <a:srgbClr val="444444"/>
                </a:solidFill>
                <a:latin typeface="+mj-ea"/>
                <a:ea typeface="+mj-ea"/>
              </a:rPr>
              <a:t>Mobile</a:t>
            </a:r>
            <a:r>
              <a:rPr lang="en-US" altLang="ko-KR" sz="1750" smtClean="0">
                <a:solidFill>
                  <a:srgbClr val="444444"/>
                </a:solidFill>
                <a:latin typeface="+mj-ea"/>
                <a:ea typeface="+mj-ea"/>
              </a:rPr>
              <a:t>· </a:t>
            </a:r>
            <a:r>
              <a:rPr lang="en-US" sz="1750" smtClean="0">
                <a:solidFill>
                  <a:srgbClr val="444444"/>
                </a:solidFill>
                <a:latin typeface="+mj-ea"/>
                <a:ea typeface="+mj-ea"/>
              </a:rPr>
              <a:t>Vision </a:t>
            </a:r>
            <a:r>
              <a:rPr lang="en-US" sz="1750" dirty="0">
                <a:solidFill>
                  <a:srgbClr val="444444"/>
                </a:solidFill>
                <a:latin typeface="+mj-ea"/>
                <a:ea typeface="+mj-ea"/>
              </a:rPr>
              <a:t>· Manipulation · Mission FSM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3204972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Core Module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3483864"/>
            <a:ext cx="21488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3204972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Implementation Keyword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858008" y="3483864"/>
            <a:ext cx="46634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2477" y="362261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AGV Navigation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3927348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3728" y="3605840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 </a:t>
            </a:r>
            <a:r>
              <a:rPr lang="en-US" sz="1280" smtClean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primitive route · AMCL/odom · safety filter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58008" y="3927348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2477" y="406610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Vision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8368" y="4370832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3728" y="4049324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YOLO · depth · ArUco · eye-in-hand transform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58008" y="4370832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477" y="450958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Manipulation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4814316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3728" y="4492808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myCobot 280 Pi · observe sync · pick/place sequence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58008" y="4814316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477" y="495307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System Integration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03728" y="4936292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ROS2 topics · Mission FSM · timeout/retry/align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807208" y="3154680"/>
            <a:ext cx="0" cy="21031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154680"/>
            <a:ext cx="681228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257800"/>
            <a:ext cx="681228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708141"/>
            <a:ext cx="2996128" cy="738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Team Goong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01</a:t>
            </a:r>
            <a:endParaRPr lang="en-US" sz="950" dirty="0">
              <a:latin typeface="+mj-ea"/>
              <a:ea typeface="+mj-ea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2" t="22844"/>
          <a:stretch/>
        </p:blipFill>
        <p:spPr>
          <a:xfrm>
            <a:off x="8023164" y="214464"/>
            <a:ext cx="4009576" cy="6643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INTRODUCTION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5900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61616"/>
                </a:solidFill>
                <a:latin typeface="+mj-ea"/>
                <a:ea typeface="+mj-ea"/>
              </a:rPr>
              <a:t>프로젝트 </a:t>
            </a:r>
            <a:r>
              <a:rPr lang="en-US" sz="2800" b="1" smtClean="0">
                <a:solidFill>
                  <a:srgbClr val="161616"/>
                </a:solidFill>
                <a:latin typeface="+mj-ea"/>
                <a:ea typeface="+mj-ea"/>
              </a:rPr>
              <a:t>정의 </a:t>
            </a: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및 고도화 방향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02</a:t>
            </a:r>
            <a:endParaRPr lang="en-US" sz="950" dirty="0">
              <a:latin typeface="+mj-ea"/>
              <a:ea typeface="+mj-ea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456969" y="1219200"/>
            <a:ext cx="3594965" cy="2314957"/>
            <a:chOff x="434109" y="1219200"/>
            <a:chExt cx="3594965" cy="2314957"/>
          </a:xfrm>
        </p:grpSpPr>
        <p:sp>
          <p:nvSpPr>
            <p:cNvPr id="18" name="모서리가 둥근 직사각형 17"/>
            <p:cNvSpPr/>
            <p:nvPr/>
          </p:nvSpPr>
          <p:spPr>
            <a:xfrm>
              <a:off x="434109" y="1219200"/>
              <a:ext cx="3594965" cy="226695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525779" y="1315720"/>
              <a:ext cx="3429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현장 Pain Point</a:t>
              </a:r>
              <a:endParaRPr lang="en-US" sz="1600" dirty="0">
                <a:latin typeface="+mj-ea"/>
                <a:ea typeface="+mj-ea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25779" y="1644904"/>
              <a:ext cx="3429000" cy="0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82930" y="1842517"/>
              <a:ext cx="342900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다품종 소형 </a:t>
              </a:r>
              <a:r>
                <a:rPr lang="en-US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물류 </a:t>
              </a:r>
              <a:r>
                <a:rPr 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증가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에 따른 이동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피킹 증가</a:t>
              </a:r>
              <a:endParaRPr lang="en-US" sz="1400" dirty="0">
                <a:latin typeface="+mj-ea"/>
                <a:ea typeface="+mj-ea"/>
              </a:endParaRPr>
            </a:p>
            <a:p>
              <a:pPr marL="0" indent="0" algn="l">
                <a:lnSpc>
                  <a:spcPct val="120000"/>
                </a:lnSpc>
                <a:buNone/>
              </a:pPr>
              <a:r>
                <a:rPr lang="en-US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공간 </a:t>
              </a:r>
              <a:r>
                <a:rPr lang="en-US" sz="140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효율 저하, 반복 작업 부담 발생</a:t>
              </a:r>
              <a:endParaRPr lang="en-US" sz="1400" dirty="0">
                <a:latin typeface="+mj-ea"/>
                <a:ea typeface="+mj-ea"/>
              </a:endParaRPr>
            </a:p>
            <a:p>
              <a:pPr>
                <a:lnSpc>
                  <a:spcPct val="120000"/>
                </a:lnSpc>
              </a:pPr>
              <a:r>
                <a:rPr lang="en-US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이동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정렬 오차가 로봇팔 파지 실패로 연결</a:t>
              </a:r>
              <a:endParaRPr lang="en-US" sz="1400" dirty="0">
                <a:latin typeface="+mj-ea"/>
                <a:ea typeface="+mj-ea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4246244" y="1213231"/>
            <a:ext cx="3615690" cy="2360348"/>
            <a:chOff x="4246244" y="1213231"/>
            <a:chExt cx="3615690" cy="2360348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4246244" y="1213231"/>
              <a:ext cx="3575686" cy="227292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4284344" y="1341427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시스템 목표</a:t>
              </a:r>
              <a:endParaRPr lang="en-US" sz="1600" dirty="0">
                <a:latin typeface="+mj-ea"/>
                <a:ea typeface="+mj-ea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4284344" y="1670611"/>
              <a:ext cx="3520440" cy="0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341494" y="1881939"/>
              <a:ext cx="352044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주문부터 배치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복귀까지 물류 작업 전 과정 자동화</a:t>
              </a:r>
              <a:endPara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모바일 </a:t>
              </a: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비전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로봇팔의 통합 제어</a:t>
              </a:r>
              <a:endPara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실제 하드웨어 제약을 고려한 안정적 작업 수행</a:t>
              </a:r>
              <a:endParaRPr lang="en-US" sz="1400" dirty="0">
                <a:latin typeface="+mj-ea"/>
                <a:ea typeface="+mj-ea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8056244" y="1187523"/>
            <a:ext cx="3613786" cy="2360349"/>
            <a:chOff x="8056244" y="1187523"/>
            <a:chExt cx="3613786" cy="2360349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8056244" y="1187523"/>
              <a:ext cx="3613786" cy="229862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8183880" y="1315720"/>
              <a:ext cx="3429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최종 산출물</a:t>
              </a:r>
              <a:endParaRPr lang="en-US" sz="1600" dirty="0">
                <a:latin typeface="+mj-ea"/>
                <a:ea typeface="+mj-ea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8183880" y="1644904"/>
              <a:ext cx="3429000" cy="0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8241030" y="1856232"/>
              <a:ext cx="342900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ROS2 </a:t>
              </a:r>
              <a:r>
                <a:rPr lang="en-US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기반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모바일 매니퓰레이터 물류 분류 시스템</a:t>
              </a:r>
              <a:endPara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주행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비전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파지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상태 관리 통합 제어 소프트웨어</a:t>
              </a:r>
              <a:endPara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rosbag ·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로그 기반 성능 검증 및 </a:t>
              </a: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KPI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분석 결과</a:t>
              </a: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</a:t>
              </a:r>
              <a:endParaRPr lang="en-US" sz="1400" dirty="0">
                <a:latin typeface="+mj-ea"/>
                <a:ea typeface="+mj-ea"/>
              </a:endParaRPr>
            </a:p>
          </p:txBody>
        </p:sp>
      </p:grpSp>
      <p:sp>
        <p:nvSpPr>
          <p:cNvPr id="16" name="Text 14"/>
          <p:cNvSpPr/>
          <p:nvPr/>
        </p:nvSpPr>
        <p:spPr>
          <a:xfrm>
            <a:off x="502920" y="3612779"/>
            <a:ext cx="2621280" cy="376808"/>
          </a:xfrm>
          <a:prstGeom prst="rect">
            <a:avLst/>
          </a:prstGeom>
          <a:solidFill>
            <a:srgbClr val="161616"/>
          </a:solidFill>
          <a:ln>
            <a:solidFill>
              <a:srgbClr val="161616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600" b="1" smtClean="0">
                <a:latin typeface="+mj-ea"/>
                <a:ea typeface="+mj-ea"/>
              </a:rPr>
              <a:t>1</a:t>
            </a:r>
            <a:r>
              <a:rPr lang="ko-KR" altLang="en-US" sz="1600" b="1" smtClean="0">
                <a:latin typeface="+mj-ea"/>
                <a:ea typeface="+mj-ea"/>
              </a:rPr>
              <a:t>차 대비 기술 고도화 방향</a:t>
            </a:r>
            <a:endParaRPr lang="en-US" sz="1600" b="1" dirty="0">
              <a:latin typeface="+mj-ea"/>
              <a:ea typeface="+mj-ea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923226"/>
              </p:ext>
            </p:extLst>
          </p:nvPr>
        </p:nvGraphicFramePr>
        <p:xfrm>
          <a:off x="538480" y="4212462"/>
          <a:ext cx="11155680" cy="2148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619522335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1403133379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49536188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954102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500" b="1" smtClean="0">
                          <a:solidFill>
                            <a:sysClr val="windowText" lastClr="000000"/>
                          </a:solidFill>
                        </a:rPr>
                        <a:t>구분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r>
                        <a:rPr lang="ko-KR" altLang="en-US" sz="1500" b="1" smtClean="0">
                          <a:solidFill>
                            <a:sysClr val="windowText" lastClr="000000"/>
                          </a:solidFill>
                        </a:rPr>
                        <a:t>차 구현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500" b="1" smtClean="0">
                          <a:solidFill>
                            <a:sysClr val="windowText" lastClr="000000"/>
                          </a:solidFill>
                        </a:rPr>
                        <a:t>차 구현 </a:t>
                      </a:r>
                      <a:r>
                        <a:rPr lang="ko-KR" altLang="en-US" sz="1500" b="1" smtClean="0">
                          <a:solidFill>
                            <a:sysClr val="windowText" lastClr="000000"/>
                          </a:solidFill>
                        </a:rPr>
                        <a:t>목표</a:t>
                      </a:r>
                      <a:endParaRPr lang="en-US" altLang="ko-KR" sz="15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500" b="1" smtClean="0">
                          <a:solidFill>
                            <a:sysClr val="windowText" lastClr="000000"/>
                          </a:solidFill>
                        </a:rPr>
                        <a:t>변경</a:t>
                      </a:r>
                      <a:r>
                        <a:rPr lang="ko-KR" altLang="en-US" sz="1500" b="1" baseline="0" smtClean="0">
                          <a:solidFill>
                            <a:sysClr val="windowText" lastClr="000000"/>
                          </a:solidFill>
                        </a:rPr>
                        <a:t> 및 개선 사항</a:t>
                      </a:r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500" b="1" smtClean="0">
                          <a:solidFill>
                            <a:sysClr val="windowText" lastClr="000000"/>
                          </a:solidFill>
                        </a:rPr>
                        <a:t>근거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0100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en-US" altLang="ko-KR" sz="4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vision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6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고정 </a:t>
                      </a:r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카메라 기반 단일 시점 인식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6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300" smtClean="0">
                          <a:solidFill>
                            <a:sysClr val="windowText" lastClr="000000"/>
                          </a:solidFill>
                        </a:rPr>
                        <a:t>Eye-in-hand</a:t>
                      </a:r>
                      <a:r>
                        <a:rPr lang="en-US" altLang="ko-KR" sz="13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300" baseline="0" smtClean="0">
                          <a:solidFill>
                            <a:sysClr val="windowText" lastClr="000000"/>
                          </a:solidFill>
                        </a:rPr>
                        <a:t>기반 근접 인식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작업 위치 변화 대응 및 관측 시점 유연성 확보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224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mobility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라인 추종 기반 고정 경로 주행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지도 기반 위치추정 및 구간</a:t>
                      </a:r>
                      <a:r>
                        <a:rPr lang="en-US" altLang="ko-KR" sz="13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300" baseline="0" smtClean="0">
                          <a:solidFill>
                            <a:sysClr val="windowText" lastClr="000000"/>
                          </a:solidFill>
                        </a:rPr>
                        <a:t>주행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물리적 라인 의존도 감소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998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WMS / Dashboard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실시간 모니터링 및 주문 입력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비상 정지</a:t>
                      </a:r>
                      <a:r>
                        <a:rPr lang="en-US" altLang="ko-KR" sz="1300" smtClean="0">
                          <a:solidFill>
                            <a:srgbClr val="44444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· </a:t>
                      </a:r>
                      <a:r>
                        <a:rPr lang="ko-KR" altLang="en-US" sz="1300" smtClean="0">
                          <a:solidFill>
                            <a:srgbClr val="44444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오류 상태 </a:t>
                      </a:r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대응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운영 안정성 및 예외 대응 능력 확보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735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Robot Arm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단일</a:t>
                      </a:r>
                      <a:r>
                        <a:rPr lang="en-US" altLang="ko-KR" sz="13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300" baseline="0" smtClean="0">
                          <a:solidFill>
                            <a:sysClr val="windowText" lastClr="000000"/>
                          </a:solidFill>
                        </a:rPr>
                        <a:t>층</a:t>
                      </a:r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 물체 파지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개</a:t>
                      </a:r>
                      <a:r>
                        <a:rPr lang="ko-KR" altLang="en-US" sz="13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층에 대한 물체 파지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다층 적재 환경 대응 범위 확대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226167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INTRODUCTION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5900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핵심 가치 및 목표 </a:t>
            </a:r>
            <a:r>
              <a:rPr lang="en-US" altLang="ko-KR" sz="2800" b="1" smtClean="0">
                <a:solidFill>
                  <a:srgbClr val="161616"/>
                </a:solidFill>
                <a:latin typeface="+mj-ea"/>
                <a:ea typeface="+mj-ea"/>
              </a:rPr>
              <a:t>KPI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3" t="18983" r="49879" b="43345"/>
          <a:stretch/>
        </p:blipFill>
        <p:spPr>
          <a:xfrm>
            <a:off x="359838" y="1307047"/>
            <a:ext cx="5733144" cy="258354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50" t="56740" r="3735" b="7282"/>
          <a:stretch/>
        </p:blipFill>
        <p:spPr>
          <a:xfrm>
            <a:off x="6066761" y="3905306"/>
            <a:ext cx="5631544" cy="246742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" t="56798" r="50238" b="6589"/>
          <a:stretch/>
        </p:blipFill>
        <p:spPr>
          <a:xfrm>
            <a:off x="432286" y="3954599"/>
            <a:ext cx="5617029" cy="251097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50" t="19360" r="4035" b="43391"/>
          <a:stretch/>
        </p:blipFill>
        <p:spPr>
          <a:xfrm>
            <a:off x="6027056" y="1335669"/>
            <a:ext cx="5631544" cy="2554515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03</a:t>
            </a:r>
            <a:endParaRPr lang="en-US" sz="9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0631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그룹 52"/>
          <p:cNvGrpSpPr/>
          <p:nvPr/>
        </p:nvGrpSpPr>
        <p:grpSpPr>
          <a:xfrm>
            <a:off x="2100939" y="1561088"/>
            <a:ext cx="8848277" cy="4990550"/>
            <a:chOff x="3067594" y="1340394"/>
            <a:chExt cx="8591006" cy="4845446"/>
          </a:xfrm>
        </p:grpSpPr>
        <p:pic>
          <p:nvPicPr>
            <p:cNvPr id="43" name="그림 4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7594" y="1340394"/>
              <a:ext cx="8591006" cy="4845446"/>
            </a:xfrm>
            <a:prstGeom prst="rect">
              <a:avLst/>
            </a:prstGeom>
          </p:spPr>
        </p:pic>
        <p:sp>
          <p:nvSpPr>
            <p:cNvPr id="50" name="직사각형 49"/>
            <p:cNvSpPr/>
            <p:nvPr/>
          </p:nvSpPr>
          <p:spPr>
            <a:xfrm>
              <a:off x="6299200" y="2202009"/>
              <a:ext cx="1225550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6664051" y="2508333"/>
              <a:ext cx="674636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 rot="20553224">
              <a:off x="6520131" y="2668009"/>
              <a:ext cx="674636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2088733" y="1566868"/>
            <a:ext cx="8848800" cy="4989600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최종 시나리오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04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197615"/>
            <a:ext cx="6545168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주문 입력부터 </a:t>
            </a:r>
            <a:r>
              <a:rPr lang="en-US" sz="1800" b="1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복귀까지 </a:t>
            </a:r>
            <a:r>
              <a:rPr lang="en-US" sz="1800" b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  <a:sym typeface="Wingdings" panose="05000000000000000000" pitchFamily="2" charset="2"/>
              </a:rPr>
              <a:t> </a:t>
            </a:r>
            <a:r>
              <a:rPr lang="en-US" sz="1800" b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단일 </a:t>
            </a:r>
            <a:r>
              <a:rPr lang="en-US" sz="18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ROS2 mission flow</a:t>
            </a:r>
            <a:r>
              <a:rPr lang="en-US" sz="1800" b="1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로 </a:t>
            </a:r>
            <a:r>
              <a:rPr lang="en-US" sz="1800" b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연결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63" name="자유형 62"/>
          <p:cNvSpPr/>
          <p:nvPr/>
        </p:nvSpPr>
        <p:spPr>
          <a:xfrm>
            <a:off x="939202" y="2236605"/>
            <a:ext cx="9350364" cy="4433647"/>
          </a:xfrm>
          <a:custGeom>
            <a:avLst/>
            <a:gdLst>
              <a:gd name="connsiteX0" fmla="*/ 5705542 w 9934642"/>
              <a:gd name="connsiteY0" fmla="*/ 344596 h 4990510"/>
              <a:gd name="connsiteX1" fmla="*/ 390592 w 9934642"/>
              <a:gd name="connsiteY1" fmla="*/ 458896 h 4990510"/>
              <a:gd name="connsiteX2" fmla="*/ 904942 w 9934642"/>
              <a:gd name="connsiteY2" fmla="*/ 4821346 h 4990510"/>
              <a:gd name="connsiteX3" fmla="*/ 4924492 w 9934642"/>
              <a:gd name="connsiteY3" fmla="*/ 4059346 h 4990510"/>
              <a:gd name="connsiteX4" fmla="*/ 9934642 w 9934642"/>
              <a:gd name="connsiteY4" fmla="*/ 3697396 h 4990510"/>
              <a:gd name="connsiteX0" fmla="*/ 5684037 w 9913137"/>
              <a:gd name="connsiteY0" fmla="*/ 344596 h 4827692"/>
              <a:gd name="connsiteX1" fmla="*/ 369087 w 9913137"/>
              <a:gd name="connsiteY1" fmla="*/ 458896 h 4827692"/>
              <a:gd name="connsiteX2" fmla="*/ 883437 w 9913137"/>
              <a:gd name="connsiteY2" fmla="*/ 4821346 h 4827692"/>
              <a:gd name="connsiteX3" fmla="*/ 4902987 w 9913137"/>
              <a:gd name="connsiteY3" fmla="*/ 4059346 h 4827692"/>
              <a:gd name="connsiteX4" fmla="*/ 9913137 w 9913137"/>
              <a:gd name="connsiteY4" fmla="*/ 3697396 h 4827692"/>
              <a:gd name="connsiteX0" fmla="*/ 5684037 w 9913137"/>
              <a:gd name="connsiteY0" fmla="*/ 344596 h 4827692"/>
              <a:gd name="connsiteX1" fmla="*/ 369087 w 9913137"/>
              <a:gd name="connsiteY1" fmla="*/ 458896 h 4827692"/>
              <a:gd name="connsiteX2" fmla="*/ 883437 w 9913137"/>
              <a:gd name="connsiteY2" fmla="*/ 4821346 h 4827692"/>
              <a:gd name="connsiteX3" fmla="*/ 4902987 w 9913137"/>
              <a:gd name="connsiteY3" fmla="*/ 4059346 h 4827692"/>
              <a:gd name="connsiteX4" fmla="*/ 9913137 w 9913137"/>
              <a:gd name="connsiteY4" fmla="*/ 3697396 h 4827692"/>
              <a:gd name="connsiteX0" fmla="*/ 5719641 w 9948741"/>
              <a:gd name="connsiteY0" fmla="*/ 344596 h 5028126"/>
              <a:gd name="connsiteX1" fmla="*/ 404691 w 9948741"/>
              <a:gd name="connsiteY1" fmla="*/ 458896 h 5028126"/>
              <a:gd name="connsiteX2" fmla="*/ 919041 w 9948741"/>
              <a:gd name="connsiteY2" fmla="*/ 4821346 h 5028126"/>
              <a:gd name="connsiteX3" fmla="*/ 5291944 w 9948741"/>
              <a:gd name="connsiteY3" fmla="*/ 4268905 h 5028126"/>
              <a:gd name="connsiteX4" fmla="*/ 9948741 w 9948741"/>
              <a:gd name="connsiteY4" fmla="*/ 3697396 h 5028126"/>
              <a:gd name="connsiteX0" fmla="*/ 5776880 w 10005980"/>
              <a:gd name="connsiteY0" fmla="*/ 344596 h 4877208"/>
              <a:gd name="connsiteX1" fmla="*/ 461930 w 10005980"/>
              <a:gd name="connsiteY1" fmla="*/ 458896 h 4877208"/>
              <a:gd name="connsiteX2" fmla="*/ 976280 w 10005980"/>
              <a:gd name="connsiteY2" fmla="*/ 4821346 h 4877208"/>
              <a:gd name="connsiteX3" fmla="*/ 5349183 w 10005980"/>
              <a:gd name="connsiteY3" fmla="*/ 4268905 h 4877208"/>
              <a:gd name="connsiteX4" fmla="*/ 10005980 w 10005980"/>
              <a:gd name="connsiteY4" fmla="*/ 3697396 h 487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5980" h="4877208">
                <a:moveTo>
                  <a:pt x="5776880" y="344596"/>
                </a:moveTo>
                <a:cubicBezTo>
                  <a:pt x="3519455" y="28683"/>
                  <a:pt x="1262030" y="-287229"/>
                  <a:pt x="461930" y="458896"/>
                </a:cubicBezTo>
                <a:cubicBezTo>
                  <a:pt x="-338170" y="1205021"/>
                  <a:pt x="-55709" y="4577521"/>
                  <a:pt x="976280" y="4821346"/>
                </a:cubicBezTo>
                <a:cubicBezTo>
                  <a:pt x="2008269" y="5065171"/>
                  <a:pt x="3925775" y="4442259"/>
                  <a:pt x="5349183" y="4268905"/>
                </a:cubicBezTo>
                <a:cubicBezTo>
                  <a:pt x="6772591" y="4095551"/>
                  <a:pt x="9028080" y="3748196"/>
                  <a:pt x="10005980" y="3697396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40" name="이등변 삼각형 39"/>
          <p:cNvSpPr/>
          <p:nvPr/>
        </p:nvSpPr>
        <p:spPr>
          <a:xfrm rot="16200000">
            <a:off x="4582393" y="2264667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4" name="이등변 삼각형 63"/>
          <p:cNvSpPr/>
          <p:nvPr/>
        </p:nvSpPr>
        <p:spPr>
          <a:xfrm rot="14625688">
            <a:off x="1897749" y="2248182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5" name="이등변 삼각형 64"/>
          <p:cNvSpPr/>
          <p:nvPr/>
        </p:nvSpPr>
        <p:spPr>
          <a:xfrm rot="11072487">
            <a:off x="824483" y="413490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6" name="이등변 삼각형 65"/>
          <p:cNvSpPr/>
          <p:nvPr/>
        </p:nvSpPr>
        <p:spPr>
          <a:xfrm rot="9483470">
            <a:off x="1135571" y="5880447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7" name="이등변 삼각형 66"/>
          <p:cNvSpPr/>
          <p:nvPr/>
        </p:nvSpPr>
        <p:spPr>
          <a:xfrm rot="4518165">
            <a:off x="3813620" y="638920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8" name="이등변 삼각형 67"/>
          <p:cNvSpPr/>
          <p:nvPr/>
        </p:nvSpPr>
        <p:spPr>
          <a:xfrm rot="5029121">
            <a:off x="7180264" y="585733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9" name="이등변 삼각형 68"/>
          <p:cNvSpPr/>
          <p:nvPr/>
        </p:nvSpPr>
        <p:spPr>
          <a:xfrm rot="5029121">
            <a:off x="9795900" y="554657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grpSp>
        <p:nvGrpSpPr>
          <p:cNvPr id="46" name="그룹 45"/>
          <p:cNvGrpSpPr/>
          <p:nvPr/>
        </p:nvGrpSpPr>
        <p:grpSpPr>
          <a:xfrm>
            <a:off x="300622" y="2802076"/>
            <a:ext cx="1912433" cy="1043145"/>
            <a:chOff x="1452014" y="-3172967"/>
            <a:chExt cx="1980000" cy="1080000"/>
          </a:xfrm>
        </p:grpSpPr>
        <p:sp>
          <p:nvSpPr>
            <p:cNvPr id="16" name="Shape 14"/>
            <p:cNvSpPr/>
            <p:nvPr/>
          </p:nvSpPr>
          <p:spPr>
            <a:xfrm>
              <a:off x="1452014" y="-3172967"/>
              <a:ext cx="1980000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589174" y="-305409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03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854026" y="-3063239"/>
              <a:ext cx="133077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smtClean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Align to rack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589174" y="-2670047"/>
              <a:ext cx="1716001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1</a:t>
              </a:r>
              <a:r>
                <a:rPr lang="ko-KR" altLang="en-US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차 정렬</a:t>
              </a:r>
              <a:r>
                <a:rPr lang="en-US" altLang="ko-KR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: /</a:t>
              </a:r>
              <a:r>
                <a:rPr lang="en-US" altLang="ko-KR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aruco_align</a:t>
              </a:r>
              <a:endParaRPr lang="en-US" altLang="ko-KR" sz="125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 marL="0" indent="0" algn="l">
                <a:buNone/>
              </a:pPr>
              <a:r>
                <a:rPr lang="en-US" sz="1250" smtClean="0">
                  <a:solidFill>
                    <a:srgbClr val="444444"/>
                  </a:solidFill>
                  <a:latin typeface="+mj-ea"/>
                  <a:ea typeface="+mj-ea"/>
                </a:rPr>
                <a:t>2</a:t>
              </a:r>
              <a:r>
                <a:rPr lang="ko-KR" altLang="en-US" sz="1250" smtClean="0">
                  <a:solidFill>
                    <a:srgbClr val="444444"/>
                  </a:solidFill>
                  <a:latin typeface="+mj-ea"/>
                  <a:ea typeface="+mj-ea"/>
                </a:rPr>
                <a:t>차 정렬</a:t>
              </a:r>
              <a:r>
                <a:rPr lang="en-US" altLang="ko-KR" sz="1250" smtClean="0">
                  <a:solidFill>
                    <a:srgbClr val="444444"/>
                  </a:solidFill>
                  <a:latin typeface="+mj-ea"/>
                  <a:ea typeface="+mj-ea"/>
                </a:rPr>
                <a:t>: /agv_align</a:t>
              </a:r>
              <a:endParaRPr lang="en-US" sz="1250" smtClean="0">
                <a:latin typeface="+mj-ea"/>
                <a:ea typeface="+mj-ea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207649" y="4552622"/>
            <a:ext cx="2526909" cy="971518"/>
            <a:chOff x="4268367" y="-3172969"/>
            <a:chExt cx="2616185" cy="1005842"/>
          </a:xfrm>
        </p:grpSpPr>
        <p:sp>
          <p:nvSpPr>
            <p:cNvPr id="20" name="Shape 18"/>
            <p:cNvSpPr/>
            <p:nvPr/>
          </p:nvSpPr>
          <p:spPr>
            <a:xfrm>
              <a:off x="4268367" y="-3172969"/>
              <a:ext cx="2025120" cy="995279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4405526" y="-305409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04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4744314" y="-3054096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smtClean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vision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4362721" y="-2670047"/>
              <a:ext cx="2521831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r>
                <a:rPr lang="en-US" sz="12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YOLO+depth </a:t>
              </a:r>
              <a:r>
                <a:rPr lang="en-US" altLang="ko-KR" sz="12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→</a:t>
              </a:r>
              <a:r>
                <a:rPr lang="en-US" altLang="ko-KR" sz="1200" dirty="0">
                  <a:latin typeface="+mj-ea"/>
                  <a:ea typeface="+mj-ea"/>
                </a:rPr>
                <a:t> </a:t>
              </a:r>
              <a:r>
                <a:rPr lang="en-US" sz="12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</a:t>
              </a:r>
              <a:r>
                <a:rPr lang="en-US" sz="120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box_pose</a:t>
              </a:r>
              <a:endParaRPr 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1544464" y="5900999"/>
            <a:ext cx="1720536" cy="894883"/>
            <a:chOff x="-4180690" y="-1389887"/>
            <a:chExt cx="1781324" cy="926500"/>
          </a:xfrm>
        </p:grpSpPr>
        <p:sp>
          <p:nvSpPr>
            <p:cNvPr id="24" name="Shape 22"/>
            <p:cNvSpPr/>
            <p:nvPr/>
          </p:nvSpPr>
          <p:spPr>
            <a:xfrm>
              <a:off x="-4180690" y="-1389887"/>
              <a:ext cx="1781324" cy="9265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-4043530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05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-3694175" y="-1280158"/>
              <a:ext cx="98918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Pick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-4043529" y="-886967"/>
              <a:ext cx="1110104" cy="27832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</a:t>
              </a: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pick_status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5090760" y="1641357"/>
            <a:ext cx="1980000" cy="1080000"/>
            <a:chOff x="170035" y="1221509"/>
            <a:chExt cx="1980000" cy="1080000"/>
          </a:xfrm>
        </p:grpSpPr>
        <p:sp>
          <p:nvSpPr>
            <p:cNvPr id="8" name="Shape 6"/>
            <p:cNvSpPr/>
            <p:nvPr/>
          </p:nvSpPr>
          <p:spPr>
            <a:xfrm>
              <a:off x="170035" y="1221509"/>
              <a:ext cx="1980000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07195" y="1340382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01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72371" y="1312950"/>
              <a:ext cx="121064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smtClean="0">
                  <a:solidFill>
                    <a:srgbClr val="161616"/>
                  </a:solidFill>
                  <a:latin typeface="+mj-ea"/>
                  <a:ea typeface="+mj-ea"/>
                </a:rPr>
                <a:t>INPUT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307195" y="1724430"/>
              <a:ext cx="1715966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/order_request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물품·목적지·선반 정보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2443574" y="1623639"/>
            <a:ext cx="2020777" cy="1080000"/>
            <a:chOff x="180998" y="2498484"/>
            <a:chExt cx="2020777" cy="1080000"/>
          </a:xfrm>
        </p:grpSpPr>
        <p:sp>
          <p:nvSpPr>
            <p:cNvPr id="12" name="Shape 10"/>
            <p:cNvSpPr/>
            <p:nvPr/>
          </p:nvSpPr>
          <p:spPr>
            <a:xfrm>
              <a:off x="180998" y="2498484"/>
              <a:ext cx="1980000" cy="1080000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18158" y="2617356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02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87946" y="2608580"/>
              <a:ext cx="144136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AGV → Rack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18158" y="3001404"/>
              <a:ext cx="1883617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Nav2 / primitive route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/primitive_route_cmd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7981369" y="5210497"/>
            <a:ext cx="1769016" cy="1080000"/>
            <a:chOff x="1452014" y="-1389887"/>
            <a:chExt cx="1769016" cy="1080000"/>
          </a:xfrm>
        </p:grpSpPr>
        <p:sp>
          <p:nvSpPr>
            <p:cNvPr id="32" name="Shape 30"/>
            <p:cNvSpPr/>
            <p:nvPr/>
          </p:nvSpPr>
          <p:spPr>
            <a:xfrm>
              <a:off x="1452014" y="-1389887"/>
              <a:ext cx="1769016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1589174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07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883651" y="-1290095"/>
              <a:ext cx="99551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smtClean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Place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589174" y="-886967"/>
              <a:ext cx="147842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QR/ArUco verify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/place_command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10184441" y="4807369"/>
            <a:ext cx="1565599" cy="1080000"/>
            <a:chOff x="4268366" y="-1389887"/>
            <a:chExt cx="1565599" cy="1080000"/>
          </a:xfrm>
        </p:grpSpPr>
        <p:sp>
          <p:nvSpPr>
            <p:cNvPr id="36" name="Shape 34"/>
            <p:cNvSpPr/>
            <p:nvPr/>
          </p:nvSpPr>
          <p:spPr>
            <a:xfrm>
              <a:off x="4268366" y="-1389887"/>
              <a:ext cx="1565599" cy="1080000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405526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08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4716574" y="-1280159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Return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4405526" y="-886967"/>
              <a:ext cx="1164572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parking route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/wms_update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4804491" y="5864000"/>
            <a:ext cx="2377440" cy="943144"/>
            <a:chOff x="-1364338" y="-1389887"/>
            <a:chExt cx="2377440" cy="943144"/>
          </a:xfrm>
        </p:grpSpPr>
        <p:sp>
          <p:nvSpPr>
            <p:cNvPr id="28" name="Shape 26"/>
            <p:cNvSpPr/>
            <p:nvPr/>
          </p:nvSpPr>
          <p:spPr>
            <a:xfrm>
              <a:off x="-1364338" y="-1389887"/>
              <a:ext cx="2064668" cy="943144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-1272003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06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-1037030" y="-1246904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85000" lnSpcReduction="10000"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AGV </a:t>
              </a:r>
              <a:r>
                <a:rPr lang="en-US" sz="1600" b="1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→ </a:t>
              </a:r>
              <a:r>
                <a:rPr lang="en-US" sz="1600" b="1" smtClean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Destination</a:t>
              </a:r>
              <a:endParaRPr lang="en-US" sz="1600" dirty="0">
                <a:latin typeface="+mj-ea"/>
                <a:ea typeface="+mj-ea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-1227178" y="-994937"/>
              <a:ext cx="224028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route runner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/nav_status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시스템 하드웨어 아키텍처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grpSp>
        <p:nvGrpSpPr>
          <p:cNvPr id="43" name="그룹 42"/>
          <p:cNvGrpSpPr/>
          <p:nvPr/>
        </p:nvGrpSpPr>
        <p:grpSpPr>
          <a:xfrm>
            <a:off x="255640" y="1125962"/>
            <a:ext cx="11818374" cy="5714976"/>
            <a:chOff x="255640" y="1125962"/>
            <a:chExt cx="11818374" cy="5714976"/>
          </a:xfrm>
        </p:grpSpPr>
        <p:grpSp>
          <p:nvGrpSpPr>
            <p:cNvPr id="36" name="그룹 35"/>
            <p:cNvGrpSpPr/>
            <p:nvPr/>
          </p:nvGrpSpPr>
          <p:grpSpPr>
            <a:xfrm>
              <a:off x="255640" y="1125962"/>
              <a:ext cx="11818374" cy="5714976"/>
              <a:chOff x="8497115" y="914678"/>
              <a:chExt cx="11999761" cy="580268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8497115" y="914678"/>
                <a:ext cx="11999761" cy="5802689"/>
                <a:chOff x="6817094" y="1015999"/>
                <a:chExt cx="11999761" cy="5802689"/>
              </a:xfrm>
            </p:grpSpPr>
            <p:sp>
              <p:nvSpPr>
                <p:cNvPr id="25" name="Text 4"/>
                <p:cNvSpPr/>
                <p:nvPr/>
              </p:nvSpPr>
              <p:spPr>
                <a:xfrm>
                  <a:off x="11201400" y="6519672"/>
                  <a:ext cx="54864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950" b="1" smtClean="0">
                      <a:solidFill>
                        <a:srgbClr val="737373"/>
                      </a:solidFill>
                      <a:latin typeface="+mj-ea"/>
                      <a:ea typeface="+mj-ea"/>
                      <a:cs typeface="Noto Sans CJK KR" pitchFamily="34" charset="-120"/>
                    </a:rPr>
                    <a:t>05</a:t>
                  </a:r>
                  <a:endParaRPr lang="en-US" sz="950" dirty="0">
                    <a:latin typeface="+mj-ea"/>
                    <a:ea typeface="+mj-ea"/>
                  </a:endParaRPr>
                </a:p>
              </p:txBody>
            </p:sp>
            <p:pic>
              <p:nvPicPr>
                <p:cNvPr id="26" name="그림 25"/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42" t="14816" r="983" b="1412"/>
                <a:stretch/>
              </p:blipFill>
              <p:spPr>
                <a:xfrm>
                  <a:off x="6817094" y="1015999"/>
                  <a:ext cx="11999761" cy="5745138"/>
                </a:xfrm>
                <a:prstGeom prst="rect">
                  <a:avLst/>
                </a:prstGeom>
              </p:spPr>
            </p:pic>
            <p:sp>
              <p:nvSpPr>
                <p:cNvPr id="27" name="직사각형 26"/>
                <p:cNvSpPr/>
                <p:nvPr/>
              </p:nvSpPr>
              <p:spPr>
                <a:xfrm>
                  <a:off x="6842125" y="5047038"/>
                  <a:ext cx="3506561" cy="1771650"/>
                </a:xfrm>
                <a:prstGeom prst="rect">
                  <a:avLst/>
                </a:prstGeom>
                <a:solidFill>
                  <a:srgbClr val="FEFEF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8" name="직사각형 27"/>
                <p:cNvSpPr/>
                <p:nvPr/>
              </p:nvSpPr>
              <p:spPr>
                <a:xfrm>
                  <a:off x="9782512" y="4464553"/>
                  <a:ext cx="1830904" cy="738383"/>
                </a:xfrm>
                <a:prstGeom prst="rect">
                  <a:avLst/>
                </a:prstGeom>
                <a:solidFill>
                  <a:srgbClr val="FEFEF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033746" y="4365141"/>
                  <a:ext cx="1907294" cy="979019"/>
                </a:xfrm>
                <a:prstGeom prst="rect">
                  <a:avLst/>
                </a:prstGeom>
                <a:solidFill>
                  <a:srgbClr val="FEFEF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0" name="직사각형 29"/>
                <p:cNvSpPr/>
                <p:nvPr/>
              </p:nvSpPr>
              <p:spPr>
                <a:xfrm>
                  <a:off x="15941040" y="5047038"/>
                  <a:ext cx="2811417" cy="1697125"/>
                </a:xfrm>
                <a:prstGeom prst="rect">
                  <a:avLst/>
                </a:prstGeom>
                <a:solidFill>
                  <a:srgbClr val="FEFEF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32" name="직사각형 31"/>
              <p:cNvSpPr/>
              <p:nvPr/>
            </p:nvSpPr>
            <p:spPr>
              <a:xfrm>
                <a:off x="12057452" y="2119435"/>
                <a:ext cx="1536700" cy="365662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50">
                    <a:solidFill>
                      <a:sysClr val="windowText" lastClr="000000"/>
                    </a:solidFill>
                    <a:latin typeface="+mn-ea"/>
                    <a:cs typeface="Malgun Gothic" pitchFamily="34" charset="-120"/>
                  </a:rPr>
                  <a:t>• Brain Node, Vision Node</a:t>
                </a:r>
                <a:endParaRPr lang="en-US" altLang="ko-KR" sz="850">
                  <a:solidFill>
                    <a:sysClr val="windowText" lastClr="000000"/>
                  </a:solidFill>
                  <a:latin typeface="+mn-ea"/>
                </a:endParaRPr>
              </a:p>
              <a:p>
                <a:r>
                  <a:rPr lang="en-US" altLang="ko-KR" sz="850">
                    <a:solidFill>
                      <a:sysClr val="windowText" lastClr="000000"/>
                    </a:solidFill>
                    <a:latin typeface="+mn-ea"/>
                    <a:cs typeface="Malgun Gothic" pitchFamily="34" charset="-120"/>
                  </a:rPr>
                  <a:t>• YOLO 추론, D435i 처리</a:t>
                </a:r>
                <a:endParaRPr lang="en-US" altLang="ko-KR" sz="85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13828017" y="2120696"/>
                <a:ext cx="1536700" cy="342900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모터 </a:t>
                </a:r>
                <a:r>
                  <a:rPr lang="ko-KR" altLang="en-US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상위 </a:t>
                </a:r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제어</a:t>
                </a:r>
              </a:p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</a:t>
                </a:r>
                <a:r>
                  <a:rPr lang="ko-KR" altLang="en-US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모바일</a:t>
                </a:r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 상태(</a:t>
                </a:r>
                <a:r>
                  <a:rPr lang="ko-KR" altLang="en-US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위치</a:t>
                </a:r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) 발행</a:t>
                </a:r>
                <a:endParaRPr lang="en-US" altLang="ko-KR" sz="85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15637512" y="2119435"/>
                <a:ext cx="1284858" cy="342900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</a:t>
                </a:r>
                <a:r>
                  <a:rPr lang="ko-KR" altLang="en-US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로봇팔 제어</a:t>
                </a:r>
                <a:endParaRPr lang="en-US" altLang="ko-KR" sz="85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로봇팔 </a:t>
                </a:r>
                <a:r>
                  <a:rPr lang="ko-KR" altLang="en-US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상태 발행</a:t>
                </a:r>
                <a:endParaRPr lang="en-US" altLang="ko-KR" sz="85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9373039" y="2722175"/>
                <a:ext cx="1798106" cy="342900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RGB-D 카메라</a:t>
                </a:r>
                <a:endParaRPr lang="en-US" altLang="ko-KR" sz="85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블록 / QR code / </a:t>
                </a:r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Aruco </a:t>
                </a:r>
                <a:r>
                  <a:rPr lang="en-US" altLang="ko-KR" sz="850" smtClean="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인식</a:t>
                </a:r>
                <a:endParaRPr lang="en-US" altLang="ko-KR" sz="85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sp>
          <p:nvSpPr>
            <p:cNvPr id="39" name="직사각형 38"/>
            <p:cNvSpPr/>
            <p:nvPr/>
          </p:nvSpPr>
          <p:spPr>
            <a:xfrm>
              <a:off x="1098898" y="4220643"/>
              <a:ext cx="1770926" cy="583132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LiDAR (RPLIDAR S2)</a:t>
              </a:r>
            </a:p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전방 카메라 </a:t>
              </a:r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(USB Camera)</a:t>
              </a:r>
            </a:p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장애물 감지 </a:t>
              </a:r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/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환경 인식</a:t>
              </a:r>
              <a:endParaRPr lang="en-US" altLang="ko-KR" sz="8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9561119" y="3072559"/>
              <a:ext cx="1278332" cy="328304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메카넘 휠 기반</a:t>
              </a:r>
              <a:endParaRPr lang="en-US" altLang="ko-KR" sz="850" smtClean="0">
                <a:solidFill>
                  <a:schemeClr val="tx1"/>
                </a:solidFill>
                <a:latin typeface="+mn-ea"/>
                <a:cs typeface="Malgun Gothic" pitchFamily="34" charset="-120"/>
              </a:endParaRPr>
            </a:p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모바일 베이스 구동</a:t>
              </a:r>
              <a:endParaRPr lang="en-US" altLang="ko-KR" sz="8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9561119" y="4581332"/>
              <a:ext cx="1424978" cy="218378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피킹 </a:t>
              </a:r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/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플레이싱 수행</a:t>
              </a:r>
              <a:endParaRPr lang="en-US" altLang="ko-KR" sz="85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37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05</a:t>
            </a:r>
            <a:endParaRPr lang="en-US" sz="9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5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소프트</a:t>
            </a: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웨어</a:t>
            </a: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 아키텍처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06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02920" y="1197615"/>
            <a:ext cx="843153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smtClean="0">
                <a:latin typeface="+mj-ea"/>
                <a:ea typeface="+mj-ea"/>
              </a:rPr>
              <a:t>jetson orin nano</a:t>
            </a:r>
            <a:r>
              <a:rPr lang="ko-KR" altLang="en-US" sz="1800" smtClean="0">
                <a:latin typeface="+mj-ea"/>
                <a:ea typeface="+mj-ea"/>
              </a:rPr>
              <a:t>와 </a:t>
            </a:r>
            <a:r>
              <a:rPr lang="en-US" altLang="ko-KR" sz="1800" smtClean="0">
                <a:latin typeface="+mj-ea"/>
                <a:ea typeface="+mj-ea"/>
              </a:rPr>
              <a:t>jetson nano</a:t>
            </a:r>
            <a:r>
              <a:rPr lang="ko-KR" altLang="en-US" sz="1800" smtClean="0">
                <a:latin typeface="+mj-ea"/>
                <a:ea typeface="+mj-ea"/>
              </a:rPr>
              <a:t>의 역할 분리 </a:t>
            </a:r>
            <a:r>
              <a:rPr lang="en-US" altLang="ko-KR" sz="1800" smtClean="0">
                <a:latin typeface="+mj-ea"/>
                <a:ea typeface="+mj-ea"/>
                <a:sym typeface="Wingdings" panose="05000000000000000000" pitchFamily="2" charset="2"/>
              </a:rPr>
              <a:t> </a:t>
            </a:r>
            <a:r>
              <a:rPr lang="ko-KR" altLang="en-US" sz="1800" smtClean="0">
                <a:latin typeface="+mj-ea"/>
                <a:ea typeface="+mj-ea"/>
                <a:sym typeface="Wingdings" panose="05000000000000000000" pitchFamily="2" charset="2"/>
              </a:rPr>
              <a:t>로봇팔 연계와 </a:t>
            </a:r>
            <a:r>
              <a:rPr lang="en-US" altLang="ko-KR" sz="1800" smtClean="0">
                <a:latin typeface="+mj-ea"/>
                <a:ea typeface="+mj-ea"/>
                <a:sym typeface="Wingdings" panose="05000000000000000000" pitchFamily="2" charset="2"/>
              </a:rPr>
              <a:t>AGV </a:t>
            </a:r>
            <a:r>
              <a:rPr lang="ko-KR" altLang="en-US" sz="1800" smtClean="0">
                <a:latin typeface="+mj-ea"/>
                <a:ea typeface="+mj-ea"/>
                <a:sym typeface="Wingdings" panose="05000000000000000000" pitchFamily="2" charset="2"/>
              </a:rPr>
              <a:t>실행 제어를 독립적으로 구성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grpSp>
        <p:nvGrpSpPr>
          <p:cNvPr id="63" name="그룹 62"/>
          <p:cNvGrpSpPr/>
          <p:nvPr/>
        </p:nvGrpSpPr>
        <p:grpSpPr>
          <a:xfrm>
            <a:off x="3129041" y="1696850"/>
            <a:ext cx="2039985" cy="1021976"/>
            <a:chOff x="1196969" y="1710018"/>
            <a:chExt cx="2039985" cy="1021976"/>
          </a:xfrm>
        </p:grpSpPr>
        <p:sp>
          <p:nvSpPr>
            <p:cNvPr id="60" name="모서리가 둥근 직사각형 59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222328" y="1748118"/>
              <a:ext cx="18140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Orin Brain Node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196969" y="2086672"/>
              <a:ext cx="203998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50" smtClean="0">
                  <a:latin typeface="+mj-ea"/>
                  <a:ea typeface="+mj-ea"/>
                </a:rPr>
                <a:t>로봇팔</a:t>
              </a:r>
              <a:r>
                <a:rPr lang="en-US" altLang="ko-KR" sz="950" smtClean="0">
                  <a:latin typeface="+mj-ea"/>
                  <a:ea typeface="+mj-ea"/>
                </a:rPr>
                <a:t>-</a:t>
              </a:r>
              <a:r>
                <a:rPr lang="ko-KR" altLang="en-US" sz="950" smtClean="0">
                  <a:latin typeface="+mj-ea"/>
                  <a:ea typeface="+mj-ea"/>
                </a:rPr>
                <a:t>모바일 연계 작업 요청 </a:t>
              </a:r>
              <a:r>
                <a:rPr lang="en-US" altLang="ko-KR" sz="950" smtClean="0">
                  <a:latin typeface="+mj-ea"/>
                  <a:ea typeface="+mj-ea"/>
                </a:rPr>
                <a:t>&amp; </a:t>
              </a:r>
              <a:r>
                <a:rPr lang="ko-KR" altLang="en-US" sz="950" smtClean="0">
                  <a:latin typeface="+mj-ea"/>
                  <a:ea typeface="+mj-ea"/>
                </a:rPr>
                <a:t>상태 토픽 발행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6602999" y="1738916"/>
            <a:ext cx="2039985" cy="1021976"/>
            <a:chOff x="1196969" y="1710018"/>
            <a:chExt cx="2039985" cy="1021976"/>
          </a:xfrm>
        </p:grpSpPr>
        <p:sp>
          <p:nvSpPr>
            <p:cNvPr id="65" name="모서리가 둥근 직사각형 64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222328" y="1748118"/>
              <a:ext cx="18276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AGV Brain Node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96969" y="2086672"/>
              <a:ext cx="203998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Brain Node </a:t>
              </a:r>
              <a:r>
                <a:rPr lang="ko-KR" altLang="en-US" sz="950" smtClean="0">
                  <a:latin typeface="+mj-ea"/>
                  <a:ea typeface="+mj-ea"/>
                </a:rPr>
                <a:t>토픽 수신</a:t>
              </a:r>
              <a:endParaRPr lang="en-US" altLang="ko-KR" sz="950" smtClean="0">
                <a:latin typeface="+mj-ea"/>
                <a:ea typeface="+mj-ea"/>
              </a:endParaRPr>
            </a:p>
            <a:p>
              <a:r>
                <a:rPr lang="ko-KR" altLang="en-US" sz="950" smtClean="0">
                  <a:latin typeface="+mj-ea"/>
                  <a:ea typeface="+mj-ea"/>
                </a:rPr>
                <a:t>주행</a:t>
              </a:r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정렬 명령 발행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cxnSp>
        <p:nvCxnSpPr>
          <p:cNvPr id="69" name="직선 화살표 연결선 68"/>
          <p:cNvCxnSpPr/>
          <p:nvPr/>
        </p:nvCxnSpPr>
        <p:spPr>
          <a:xfrm>
            <a:off x="5250214" y="2046346"/>
            <a:ext cx="1378144" cy="0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 rot="5400000" flipV="1">
            <a:off x="7253455" y="3121274"/>
            <a:ext cx="739073" cy="13000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/>
          <p:cNvGrpSpPr/>
          <p:nvPr/>
        </p:nvGrpSpPr>
        <p:grpSpPr>
          <a:xfrm>
            <a:off x="6603000" y="3515269"/>
            <a:ext cx="2039985" cy="1021976"/>
            <a:chOff x="1196969" y="1710018"/>
            <a:chExt cx="2039985" cy="1021976"/>
          </a:xfrm>
        </p:grpSpPr>
        <p:sp>
          <p:nvSpPr>
            <p:cNvPr id="72" name="모서리가 둥근 직사각형 71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222328" y="1748118"/>
              <a:ext cx="1483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AGV Mobility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196969" y="2086672"/>
              <a:ext cx="2039985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Primitive route runner</a:t>
              </a:r>
            </a:p>
            <a:p>
              <a:r>
                <a:rPr lang="en-US" altLang="ko-KR" sz="950" smtClean="0">
                  <a:latin typeface="+mj-ea"/>
                  <a:ea typeface="+mj-ea"/>
                </a:rPr>
                <a:t>Aruco Align</a:t>
              </a:r>
            </a:p>
            <a:p>
              <a:r>
                <a:rPr lang="en-US" altLang="ko-KR" sz="950" smtClean="0">
                  <a:latin typeface="+mj-ea"/>
                  <a:ea typeface="+mj-ea"/>
                </a:rPr>
                <a:t>Localization / Odomeytry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3078486" y="3555752"/>
            <a:ext cx="2090540" cy="1021976"/>
            <a:chOff x="1196969" y="1710018"/>
            <a:chExt cx="2090540" cy="1021976"/>
          </a:xfrm>
        </p:grpSpPr>
        <p:sp>
          <p:nvSpPr>
            <p:cNvPr id="76" name="모서리가 둥근 직사각형 75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222328" y="1748118"/>
              <a:ext cx="2065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Perception/ Vision 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196969" y="2086672"/>
              <a:ext cx="2039985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D435i RGB-D, YOLO/Depth</a:t>
              </a:r>
            </a:p>
            <a:p>
              <a:r>
                <a:rPr lang="en-US" altLang="ko-KR" sz="950" smtClean="0">
                  <a:latin typeface="+mj-ea"/>
                  <a:ea typeface="+mj-ea"/>
                </a:rPr>
                <a:t>Eye-in-hand </a:t>
              </a:r>
              <a:r>
                <a:rPr lang="ko-KR" altLang="en-US" sz="950" smtClean="0">
                  <a:latin typeface="+mj-ea"/>
                  <a:ea typeface="+mj-ea"/>
                </a:rPr>
                <a:t>관측</a:t>
              </a:r>
              <a:endParaRPr lang="en-US" altLang="ko-KR" sz="950" smtClean="0">
                <a:latin typeface="+mj-ea"/>
                <a:ea typeface="+mj-ea"/>
              </a:endParaRPr>
            </a:p>
            <a:p>
              <a:r>
                <a:rPr lang="en-US" altLang="ko-KR" sz="950" smtClean="0">
                  <a:latin typeface="+mj-ea"/>
                  <a:ea typeface="+mj-ea"/>
                </a:rPr>
                <a:t>/box_pose - /distance_status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9082380" y="3497311"/>
            <a:ext cx="2654661" cy="1021976"/>
            <a:chOff x="1196969" y="1710018"/>
            <a:chExt cx="2654661" cy="1021976"/>
          </a:xfrm>
        </p:grpSpPr>
        <p:sp>
          <p:nvSpPr>
            <p:cNvPr id="80" name="모서리가 둥근 직사각형 79"/>
            <p:cNvSpPr/>
            <p:nvPr/>
          </p:nvSpPr>
          <p:spPr>
            <a:xfrm>
              <a:off x="1222328" y="1710018"/>
              <a:ext cx="2629302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222328" y="1748118"/>
              <a:ext cx="24940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Safety Command Layer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196969" y="2086672"/>
              <a:ext cx="2039985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cmd_vel_safety_filter</a:t>
              </a:r>
            </a:p>
            <a:p>
              <a:r>
                <a:rPr lang="ko-KR" altLang="en-US" sz="950" smtClean="0">
                  <a:latin typeface="+mj-ea"/>
                  <a:ea typeface="+mj-ea"/>
                </a:rPr>
                <a:t>속도 제한 </a:t>
              </a:r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보정</a:t>
              </a:r>
              <a:endParaRPr lang="en-US" altLang="ko-KR" sz="95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</a:rPr>
                <a:t>/cmd_vel_nav </a:t>
              </a:r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  <a:sym typeface="Wingdings" panose="05000000000000000000" pitchFamily="2" charset="2"/>
                </a:rPr>
                <a:t> /cmd_vel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346710" y="3550523"/>
            <a:ext cx="2039985" cy="1021976"/>
            <a:chOff x="1196969" y="1710018"/>
            <a:chExt cx="2039985" cy="1021976"/>
          </a:xfrm>
        </p:grpSpPr>
        <p:sp>
          <p:nvSpPr>
            <p:cNvPr id="88" name="모서리가 둥근 직사각형 87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222328" y="1748118"/>
              <a:ext cx="14814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Manipulation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96969" y="2086672"/>
              <a:ext cx="203998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smtClean="0">
                  <a:latin typeface="+mj-ea"/>
                  <a:ea typeface="+mj-ea"/>
                </a:rPr>
                <a:t>myCobot </a:t>
              </a:r>
              <a:r>
                <a:rPr lang="en-US" altLang="ko-KR" sz="950" smtClean="0">
                  <a:latin typeface="+mj-ea"/>
                  <a:ea typeface="+mj-ea"/>
                </a:rPr>
                <a:t>280Pi</a:t>
              </a:r>
              <a:r>
                <a:rPr lang="en-US" altLang="ko-KR" sz="1000" smtClean="0">
                  <a:latin typeface="+mj-ea"/>
                  <a:ea typeface="+mj-ea"/>
                </a:rPr>
                <a:t> + Gripper</a:t>
              </a:r>
            </a:p>
            <a:p>
              <a:r>
                <a:rPr lang="en-US" altLang="ko-KR" sz="1000" smtClean="0">
                  <a:latin typeface="+mj-ea"/>
                  <a:ea typeface="+mj-ea"/>
                </a:rPr>
                <a:t>Pick / Place </a:t>
              </a:r>
              <a:r>
                <a:rPr lang="ko-KR" altLang="en-US" sz="1000" smtClean="0">
                  <a:latin typeface="+mj-ea"/>
                  <a:ea typeface="+mj-ea"/>
                </a:rPr>
                <a:t>상태 발행</a:t>
              </a:r>
              <a:endParaRPr lang="en-US" altLang="ko-KR" sz="1000" smtClean="0">
                <a:latin typeface="+mj-ea"/>
                <a:ea typeface="+mj-ea"/>
              </a:endParaRPr>
            </a:p>
            <a:p>
              <a:r>
                <a:rPr lang="en-US" altLang="ko-KR" sz="1000" smtClean="0">
                  <a:latin typeface="+mj-ea"/>
                  <a:ea typeface="+mj-ea"/>
                </a:rPr>
                <a:t>/arm_status</a:t>
              </a:r>
              <a:endParaRPr lang="ko-KR" altLang="en-US" sz="1000">
                <a:latin typeface="+mj-ea"/>
                <a:ea typeface="+mj-ea"/>
              </a:endParaRPr>
            </a:p>
          </p:txBody>
        </p:sp>
      </p:grpSp>
      <p:cxnSp>
        <p:nvCxnSpPr>
          <p:cNvPr id="91" name="직선 화살표 연결선 90"/>
          <p:cNvCxnSpPr/>
          <p:nvPr/>
        </p:nvCxnSpPr>
        <p:spPr>
          <a:xfrm flipH="1" flipV="1">
            <a:off x="5250214" y="2272189"/>
            <a:ext cx="1327427" cy="2343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169028" y="1793892"/>
            <a:ext cx="1418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mtClean="0">
                <a:latin typeface="+mj-ea"/>
                <a:ea typeface="+mj-ea"/>
              </a:rPr>
              <a:t>/place_target </a:t>
            </a:r>
            <a:r>
              <a:rPr lang="en-US" altLang="ko-KR" sz="8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/arm_status</a:t>
            </a:r>
            <a:endParaRPr lang="ko-KR" altLang="en-US" sz="800"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181706" y="2292664"/>
            <a:ext cx="13805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mtClean="0">
                <a:latin typeface="+mj-ea"/>
                <a:ea typeface="+mj-ea"/>
              </a:rPr>
              <a:t>/nav_status </a:t>
            </a:r>
            <a:r>
              <a:rPr lang="en-US" altLang="ko-KR" sz="8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/align_status</a:t>
            </a:r>
            <a:endParaRPr lang="ko-KR" altLang="en-US" sz="800">
              <a:latin typeface="+mj-ea"/>
              <a:ea typeface="+mj-ea"/>
            </a:endParaRP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7616493" y="4529996"/>
            <a:ext cx="0" cy="549260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/>
          <p:cNvGrpSpPr/>
          <p:nvPr/>
        </p:nvGrpSpPr>
        <p:grpSpPr>
          <a:xfrm>
            <a:off x="5828287" y="5147198"/>
            <a:ext cx="6202523" cy="1334461"/>
            <a:chOff x="2512199" y="5180036"/>
            <a:chExt cx="6202523" cy="1334461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512199" y="5180036"/>
              <a:ext cx="5958933" cy="1334461"/>
            </a:xfrm>
            <a:prstGeom prst="roundRect">
              <a:avLst>
                <a:gd name="adj" fmla="val 9529"/>
              </a:avLst>
            </a:prstGeom>
            <a:solidFill>
              <a:schemeClr val="bg1">
                <a:lumMod val="85000"/>
              </a:schemeClr>
            </a:solidFill>
            <a:ln w="1905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3961505" y="5237664"/>
              <a:ext cx="4753217" cy="9725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ko-KR" sz="1300" b="1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Orin Nano</a:t>
              </a: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: Vision 처리  </a:t>
              </a:r>
              <a:endParaRPr lang="en-US" altLang="ko-KR" sz="1300" smtClean="0">
                <a:solidFill>
                  <a:srgbClr val="2A2A2A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ko-KR" sz="1300" b="1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AGV </a:t>
              </a:r>
              <a:r>
                <a:rPr lang="en-US" altLang="ko-KR" sz="1300" b="1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Jetson Nano</a:t>
              </a: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: Mission FSM·주행·정렬·Safety Filter  </a:t>
              </a:r>
              <a:endParaRPr lang="en-US" altLang="ko-KR" sz="1300" smtClean="0">
                <a:solidFill>
                  <a:srgbClr val="2A2A2A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ko-KR" sz="1300" b="1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Raspberry </a:t>
              </a:r>
              <a:r>
                <a:rPr lang="en-US" altLang="ko-KR" sz="1300" b="1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Pi</a:t>
              </a: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: 로봇팔 </a:t>
              </a:r>
              <a:r>
                <a:rPr lang="en-US" altLang="ko-KR" sz="1300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제어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300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 </a:t>
              </a:r>
              <a:endParaRPr lang="en-US" altLang="ko-KR" sz="1300" dirty="0">
                <a:latin typeface="+mj-ea"/>
                <a:ea typeface="+mj-ea"/>
              </a:endParaRPr>
            </a:p>
          </p:txBody>
        </p:sp>
        <p:sp>
          <p:nvSpPr>
            <p:cNvPr id="101" name="Shape 2"/>
            <p:cNvSpPr/>
            <p:nvPr/>
          </p:nvSpPr>
          <p:spPr>
            <a:xfrm>
              <a:off x="2603446" y="5960523"/>
              <a:ext cx="5579396" cy="0"/>
            </a:xfrm>
            <a:prstGeom prst="line">
              <a:avLst/>
            </a:prstGeom>
            <a:noFill/>
            <a:ln w="10160">
              <a:solidFill>
                <a:schemeClr val="tx1"/>
              </a:solidFill>
              <a:prstDash val="solid"/>
            </a:ln>
          </p:spPr>
        </p:sp>
        <p:sp>
          <p:nvSpPr>
            <p:cNvPr id="102" name="TextBox 101"/>
            <p:cNvSpPr txBox="1"/>
            <p:nvPr/>
          </p:nvSpPr>
          <p:spPr>
            <a:xfrm>
              <a:off x="2744505" y="5460060"/>
              <a:ext cx="12474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smtClean="0">
                  <a:latin typeface="+mj-ea"/>
                  <a:ea typeface="+mj-ea"/>
                </a:rPr>
                <a:t>Deployment</a:t>
              </a:r>
              <a:endParaRPr lang="ko-KR" altLang="en-US" sz="1400" b="1">
                <a:latin typeface="+mj-ea"/>
                <a:ea typeface="+mj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833718" y="6070859"/>
              <a:ext cx="10212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smtClean="0">
                  <a:latin typeface="+mj-ea"/>
                  <a:ea typeface="+mj-ea"/>
                </a:rPr>
                <a:t>Hardware</a:t>
              </a:r>
              <a:endParaRPr lang="ko-KR" altLang="en-US" sz="1400" b="1">
                <a:latin typeface="+mj-ea"/>
                <a:ea typeface="+mj-ea"/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3985890" y="6070044"/>
              <a:ext cx="2870016" cy="3123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myAGV / myCobot / D435i / LiDAR</a:t>
              </a:r>
              <a:endParaRPr lang="en-US" altLang="ko-KR" sz="1300" dirty="0">
                <a:latin typeface="+mj-ea"/>
                <a:ea typeface="+mj-ea"/>
              </a:endParaRPr>
            </a:p>
          </p:txBody>
        </p:sp>
      </p:grpSp>
      <p:cxnSp>
        <p:nvCxnSpPr>
          <p:cNvPr id="107" name="직선 연결선 106"/>
          <p:cNvCxnSpPr/>
          <p:nvPr/>
        </p:nvCxnSpPr>
        <p:spPr>
          <a:xfrm>
            <a:off x="8617626" y="4008299"/>
            <a:ext cx="490113" cy="0"/>
          </a:xfrm>
          <a:prstGeom prst="line">
            <a:avLst/>
          </a:prstGeom>
          <a:ln w="190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/>
          <p:nvPr/>
        </p:nvCxnSpPr>
        <p:spPr>
          <a:xfrm flipH="1">
            <a:off x="2364219" y="4071731"/>
            <a:ext cx="739626" cy="8445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/>
          <p:cNvSpPr/>
          <p:nvPr/>
        </p:nvSpPr>
        <p:spPr>
          <a:xfrm>
            <a:off x="842682" y="5261329"/>
            <a:ext cx="2572871" cy="9873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>
                <a:latin typeface="+mj-ea"/>
                <a:ea typeface="+mj-ea"/>
              </a:rPr>
              <a:t>궁님 여기 확인해서 화살표 추가할 거 추가해주세요</a:t>
            </a:r>
            <a:r>
              <a:rPr lang="en-US" altLang="ko-KR" sz="1600" smtClean="0">
                <a:latin typeface="+mj-ea"/>
                <a:ea typeface="+mj-ea"/>
              </a:rPr>
              <a:t>.</a:t>
            </a:r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113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107739" y="726948"/>
            <a:ext cx="1438039" cy="746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latin typeface="+mj-ea"/>
                <a:ea typeface="+mj-ea"/>
              </a:rPr>
              <a:t>기능 모듈</a:t>
            </a:r>
            <a:r>
              <a:rPr lang="en-US" altLang="ko-KR" smtClean="0">
                <a:latin typeface="+mj-ea"/>
                <a:ea typeface="+mj-ea"/>
              </a:rPr>
              <a:t>, </a:t>
            </a:r>
            <a:r>
              <a:rPr lang="ko-KR" altLang="en-US" smtClean="0">
                <a:latin typeface="+mj-ea"/>
                <a:ea typeface="+mj-ea"/>
              </a:rPr>
              <a:t>노드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488965" y="257175"/>
            <a:ext cx="32004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mtClean="0">
                <a:latin typeface="+mj-ea"/>
                <a:ea typeface="+mj-ea"/>
              </a:rPr>
              <a:t>궁님 </a:t>
            </a:r>
            <a:r>
              <a:rPr lang="en-US" altLang="ko-KR" smtClean="0">
                <a:latin typeface="+mj-ea"/>
                <a:ea typeface="+mj-ea"/>
              </a:rPr>
              <a:t>PLZ</a:t>
            </a:r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575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그림 17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623" y="1663062"/>
            <a:ext cx="1700369" cy="4730246"/>
          </a:xfrm>
          <a:prstGeom prst="rect">
            <a:avLst/>
          </a:prstGeom>
          <a:ln>
            <a:noFill/>
          </a:ln>
        </p:spPr>
      </p:pic>
      <p:sp>
        <p:nvSpPr>
          <p:cNvPr id="7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8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시나리오 흐름도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grpSp>
        <p:nvGrpSpPr>
          <p:cNvPr id="82" name="그룹 81"/>
          <p:cNvGrpSpPr/>
          <p:nvPr/>
        </p:nvGrpSpPr>
        <p:grpSpPr>
          <a:xfrm>
            <a:off x="4431522" y="1541976"/>
            <a:ext cx="3778298" cy="5126462"/>
            <a:chOff x="1279042" y="1177531"/>
            <a:chExt cx="3365839" cy="4566830"/>
          </a:xfrm>
        </p:grpSpPr>
        <p:grpSp>
          <p:nvGrpSpPr>
            <p:cNvPr id="49" name="그룹 48"/>
            <p:cNvGrpSpPr/>
            <p:nvPr/>
          </p:nvGrpSpPr>
          <p:grpSpPr>
            <a:xfrm>
              <a:off x="1279042" y="1177531"/>
              <a:ext cx="2523656" cy="4353608"/>
              <a:chOff x="1659410" y="1237322"/>
              <a:chExt cx="2523656" cy="4353608"/>
            </a:xfrm>
          </p:grpSpPr>
          <p:grpSp>
            <p:nvGrpSpPr>
              <p:cNvPr id="38" name="그룹 37"/>
              <p:cNvGrpSpPr/>
              <p:nvPr/>
            </p:nvGrpSpPr>
            <p:grpSpPr>
              <a:xfrm>
                <a:off x="1668466" y="1263040"/>
                <a:ext cx="2514600" cy="4327890"/>
                <a:chOff x="1655445" y="1252729"/>
                <a:chExt cx="2514600" cy="4327890"/>
              </a:xfrm>
            </p:grpSpPr>
            <p:sp>
              <p:nvSpPr>
                <p:cNvPr id="23" name="모서리가 둥근 직사각형 22"/>
                <p:cNvSpPr/>
                <p:nvPr/>
              </p:nvSpPr>
              <p:spPr>
                <a:xfrm>
                  <a:off x="1655445" y="1252729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1600" smtClean="0">
                      <a:solidFill>
                        <a:schemeClr val="tx1"/>
                      </a:solidFill>
                      <a:latin typeface="+mj-ea"/>
                      <a:ea typeface="+mj-ea"/>
                    </a:rPr>
                    <a:t>	[IDLE]</a:t>
                  </a:r>
                  <a:endParaRPr lang="ko-KR" altLang="en-US" sz="1600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5" name="모서리가 둥근 직사각형 24"/>
                <p:cNvSpPr/>
                <p:nvPr/>
              </p:nvSpPr>
              <p:spPr>
                <a:xfrm>
                  <a:off x="1655445" y="1821180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+mj-ea"/>
                      <a:ea typeface="+mj-ea"/>
                    </a:rPr>
                    <a:t>[NAV_TO_RACK]</a:t>
                  </a:r>
                  <a:endParaRPr lang="ko-KR" altLang="en-US" sz="1600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6" name="모서리가 둥근 직사각형 25"/>
                <p:cNvSpPr/>
                <p:nvPr/>
              </p:nvSpPr>
              <p:spPr>
                <a:xfrm>
                  <a:off x="1655445" y="2383536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+mj-ea"/>
                      <a:ea typeface="+mj-ea"/>
                    </a:rPr>
                    <a:t>[VISION]</a:t>
                  </a:r>
                  <a:endParaRPr lang="ko-KR" altLang="en-US" sz="1600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7" name="모서리가 둥근 직사각형 26"/>
                <p:cNvSpPr/>
                <p:nvPr/>
              </p:nvSpPr>
              <p:spPr>
                <a:xfrm>
                  <a:off x="1655445" y="2951987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+mj-ea"/>
                      <a:ea typeface="+mj-ea"/>
                    </a:rPr>
                    <a:t>[PICKING]</a:t>
                  </a:r>
                  <a:endParaRPr lang="ko-KR" altLang="en-US" sz="1600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8" name="모서리가 둥근 직사각형 27"/>
                <p:cNvSpPr/>
                <p:nvPr/>
              </p:nvSpPr>
              <p:spPr>
                <a:xfrm>
                  <a:off x="1655445" y="3508745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+mj-ea"/>
                      <a:ea typeface="+mj-ea"/>
                    </a:rPr>
                    <a:t>[NAV_TO_DEST]</a:t>
                  </a:r>
                  <a:endParaRPr lang="ko-KR" altLang="en-US" sz="1600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9" name="모서리가 둥근 직사각형 28"/>
                <p:cNvSpPr/>
                <p:nvPr/>
              </p:nvSpPr>
              <p:spPr>
                <a:xfrm>
                  <a:off x="1655445" y="4077196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+mj-ea"/>
                      <a:ea typeface="+mj-ea"/>
                    </a:rPr>
                    <a:t>[VISION_PLACE]</a:t>
                  </a:r>
                  <a:endParaRPr lang="ko-KR" altLang="en-US" sz="1600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모서리가 둥근 직사각형 29"/>
                <p:cNvSpPr/>
                <p:nvPr/>
              </p:nvSpPr>
              <p:spPr>
                <a:xfrm>
                  <a:off x="1655445" y="4645647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+mj-ea"/>
                      <a:ea typeface="+mj-ea"/>
                    </a:rPr>
                    <a:t>[PLACING]</a:t>
                  </a:r>
                  <a:endParaRPr lang="ko-KR" altLang="en-US" sz="1600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모서리가 둥근 직사각형 30"/>
                <p:cNvSpPr/>
                <p:nvPr/>
              </p:nvSpPr>
              <p:spPr>
                <a:xfrm>
                  <a:off x="1655445" y="5214098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+mj-ea"/>
                      <a:ea typeface="+mj-ea"/>
                    </a:rPr>
                    <a:t>[GO_PARKING]</a:t>
                  </a:r>
                  <a:endParaRPr lang="ko-KR" altLang="en-US" sz="1600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cxnSp>
              <p:nvCxnSpPr>
                <p:cNvPr id="36" name="직선 화살표 연결선 35"/>
                <p:cNvCxnSpPr/>
                <p:nvPr/>
              </p:nvCxnSpPr>
              <p:spPr>
                <a:xfrm>
                  <a:off x="2921000" y="1631155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화살표 연결선 38"/>
                <p:cNvCxnSpPr/>
                <p:nvPr/>
              </p:nvCxnSpPr>
              <p:spPr>
                <a:xfrm>
                  <a:off x="2920206" y="2197225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화살표 연결선 39"/>
                <p:cNvCxnSpPr/>
                <p:nvPr/>
              </p:nvCxnSpPr>
              <p:spPr>
                <a:xfrm>
                  <a:off x="2920206" y="2762757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화살표 연결선 40"/>
                <p:cNvCxnSpPr/>
                <p:nvPr/>
              </p:nvCxnSpPr>
              <p:spPr>
                <a:xfrm>
                  <a:off x="2918248" y="3334914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화살표 연결선 41"/>
                <p:cNvCxnSpPr/>
                <p:nvPr/>
              </p:nvCxnSpPr>
              <p:spPr>
                <a:xfrm>
                  <a:off x="2921000" y="3900984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화살표 연결선 42"/>
                <p:cNvCxnSpPr/>
                <p:nvPr/>
              </p:nvCxnSpPr>
              <p:spPr>
                <a:xfrm>
                  <a:off x="2921000" y="4466516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화살표 연결선 43"/>
                <p:cNvCxnSpPr/>
                <p:nvPr/>
              </p:nvCxnSpPr>
              <p:spPr>
                <a:xfrm>
                  <a:off x="2918415" y="5033124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직사각형 44"/>
              <p:cNvSpPr/>
              <p:nvPr/>
            </p:nvSpPr>
            <p:spPr>
              <a:xfrm>
                <a:off x="1668466" y="1807705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>
                    <a:latin typeface="+mj-ea"/>
                    <a:ea typeface="+mj-ea"/>
                  </a:rPr>
                  <a:t>②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1668466" y="2372961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 smtClean="0">
                    <a:latin typeface="+mj-ea"/>
                    <a:ea typeface="+mj-ea"/>
                  </a:rPr>
                  <a:t>③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1664828" y="1237322"/>
                <a:ext cx="392988" cy="356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000" b="1">
                    <a:latin typeface="+mj-ea"/>
                    <a:ea typeface="+mj-ea"/>
                  </a:rPr>
                  <a:t>①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1668466" y="2930398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>
                    <a:latin typeface="+mj-ea"/>
                    <a:ea typeface="+mj-ea"/>
                  </a:rPr>
                  <a:t>④</a:t>
                </a:r>
                <a:r>
                  <a:rPr lang="en-US" altLang="ko-KR" sz="2000" b="1" smtClean="0">
                    <a:latin typeface="+mj-ea"/>
                    <a:ea typeface="+mj-ea"/>
                  </a:rPr>
                  <a:t>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68" name="직사각형 67"/>
              <p:cNvSpPr/>
              <p:nvPr/>
            </p:nvSpPr>
            <p:spPr>
              <a:xfrm>
                <a:off x="1663048" y="4075811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 smtClean="0">
                    <a:latin typeface="+mj-ea"/>
                    <a:ea typeface="+mj-ea"/>
                  </a:rPr>
                  <a:t>⑥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69" name="직사각형 68"/>
              <p:cNvSpPr/>
              <p:nvPr/>
            </p:nvSpPr>
            <p:spPr>
              <a:xfrm>
                <a:off x="1663048" y="4641067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>
                    <a:latin typeface="+mj-ea"/>
                    <a:ea typeface="+mj-ea"/>
                  </a:rPr>
                  <a:t>⑦</a:t>
                </a:r>
                <a:r>
                  <a:rPr lang="en-US" altLang="ko-KR" sz="2000" b="1" smtClean="0">
                    <a:latin typeface="+mj-ea"/>
                    <a:ea typeface="+mj-ea"/>
                  </a:rPr>
                  <a:t>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1659410" y="3505428"/>
                <a:ext cx="392988" cy="356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000" b="1" smtClean="0">
                    <a:latin typeface="+mj-ea"/>
                    <a:ea typeface="+mj-ea"/>
                  </a:rPr>
                  <a:t>⑤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1663048" y="5198504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 smtClean="0">
                    <a:latin typeface="+mj-ea"/>
                    <a:ea typeface="+mj-ea"/>
                  </a:rPr>
                  <a:t>⑧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2647879" y="1546863"/>
              <a:ext cx="1552533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주문 수신</a:t>
              </a:r>
              <a:r>
                <a:rPr lang="en-US" altLang="ko-KR" sz="1050" smtClean="0">
                  <a:latin typeface="+mj-ea"/>
                  <a:ea typeface="+mj-ea"/>
                </a:rPr>
                <a:t>( /place_target)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648474" y="2134489"/>
              <a:ext cx="1578237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랙 도착</a:t>
              </a:r>
              <a:r>
                <a:rPr lang="en-US" altLang="ko-KR" sz="1050" smtClean="0">
                  <a:latin typeface="+mj-ea"/>
                  <a:ea typeface="+mj-ea"/>
                </a:rPr>
                <a:t>( /arrived_objects)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649069" y="3250058"/>
              <a:ext cx="1231231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피킹 완료</a:t>
              </a:r>
              <a:r>
                <a:rPr lang="en-US" altLang="ko-KR" sz="1050" smtClean="0">
                  <a:latin typeface="+mj-ea"/>
                  <a:ea typeface="+mj-ea"/>
                </a:rPr>
                <a:t>( /picked)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649069" y="3814969"/>
              <a:ext cx="1239799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구역 도착</a:t>
              </a:r>
              <a:r>
                <a:rPr lang="en-US" altLang="ko-KR" sz="1050" smtClean="0">
                  <a:latin typeface="+mj-ea"/>
                  <a:ea typeface="+mj-ea"/>
                </a:rPr>
                <a:t>( /arrived)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649664" y="4376736"/>
              <a:ext cx="1995217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smtClean="0">
                  <a:latin typeface="+mj-ea"/>
                  <a:ea typeface="+mj-ea"/>
                </a:rPr>
                <a:t>QR </a:t>
              </a:r>
              <a:r>
                <a:rPr lang="ko-KR" altLang="en-US" sz="1050" smtClean="0">
                  <a:latin typeface="+mj-ea"/>
                  <a:ea typeface="+mj-ea"/>
                </a:rPr>
                <a:t>기반 좌표 수신</a:t>
              </a:r>
              <a:r>
                <a:rPr lang="en-US" altLang="ko-KR" sz="1050" smtClean="0">
                  <a:latin typeface="+mj-ea"/>
                  <a:ea typeface="+mj-ea"/>
                </a:rPr>
                <a:t>( /place_pose)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649664" y="4956397"/>
              <a:ext cx="1234088" cy="2261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배치 완료</a:t>
              </a:r>
              <a:r>
                <a:rPr lang="en-US" altLang="ko-KR" sz="1050" smtClean="0">
                  <a:latin typeface="+mj-ea"/>
                  <a:ea typeface="+mj-ea"/>
                </a:rPr>
                <a:t>( /placed)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650259" y="5518164"/>
              <a:ext cx="1246939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주차</a:t>
              </a:r>
              <a:r>
                <a:rPr lang="en-US" altLang="ko-KR" sz="1050" smtClean="0">
                  <a:latin typeface="+mj-ea"/>
                  <a:ea typeface="+mj-ea"/>
                </a:rPr>
                <a:t> </a:t>
              </a:r>
              <a:r>
                <a:rPr lang="ko-KR" altLang="en-US" sz="1050" smtClean="0">
                  <a:latin typeface="+mj-ea"/>
                  <a:ea typeface="+mj-ea"/>
                </a:rPr>
                <a:t>완료</a:t>
              </a:r>
              <a:r>
                <a:rPr lang="en-US" altLang="ko-KR" sz="1050" smtClean="0">
                  <a:latin typeface="+mj-ea"/>
                  <a:ea typeface="+mj-ea"/>
                </a:rPr>
                <a:t>( /parked)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648474" y="2688291"/>
              <a:ext cx="1669630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블록 좌표 수신</a:t>
              </a:r>
              <a:r>
                <a:rPr lang="en-US" altLang="ko-KR" sz="1050" smtClean="0">
                  <a:latin typeface="+mj-ea"/>
                  <a:ea typeface="+mj-ea"/>
                </a:rPr>
                <a:t>( /box_pose)</a:t>
              </a:r>
              <a:endParaRPr lang="ko-KR" altLang="en-US" sz="1050">
                <a:latin typeface="+mj-ea"/>
                <a:ea typeface="+mj-ea"/>
              </a:endParaRP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223214" y="2216673"/>
            <a:ext cx="2557500" cy="1361770"/>
            <a:chOff x="380370" y="2778430"/>
            <a:chExt cx="2557500" cy="1361770"/>
          </a:xfrm>
        </p:grpSpPr>
        <p:sp>
          <p:nvSpPr>
            <p:cNvPr id="104" name="모서리가 둥근 직사각형 103"/>
            <p:cNvSpPr/>
            <p:nvPr/>
          </p:nvSpPr>
          <p:spPr>
            <a:xfrm>
              <a:off x="380370" y="2778430"/>
              <a:ext cx="2557500" cy="1361770"/>
            </a:xfrm>
            <a:prstGeom prst="roundRect">
              <a:avLst>
                <a:gd name="adj" fmla="val 7571"/>
              </a:avLst>
            </a:prstGeom>
            <a:solidFill>
              <a:srgbClr val="150910"/>
            </a:solidFill>
            <a:ln w="19050">
              <a:solidFill>
                <a:srgbClr val="EF3A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400" b="1">
                <a:latin typeface="+mj-ea"/>
                <a:ea typeface="+mj-ea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802431" y="2878608"/>
              <a:ext cx="20516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solidFill>
                    <a:srgbClr val="EF3A34"/>
                  </a:solidFill>
                  <a:latin typeface="+mj-ea"/>
                  <a:ea typeface="+mj-ea"/>
                </a:rPr>
                <a:t>EMERGENCY_STOP</a:t>
              </a:r>
              <a:endParaRPr lang="ko-KR" altLang="en-US" sz="1600" b="1">
                <a:solidFill>
                  <a:srgbClr val="EF3A34"/>
                </a:solidFill>
                <a:latin typeface="+mj-ea"/>
                <a:ea typeface="+mj-ea"/>
              </a:endParaRPr>
            </a:p>
          </p:txBody>
        </p:sp>
        <p:cxnSp>
          <p:nvCxnSpPr>
            <p:cNvPr id="108" name="직선 연결선 107"/>
            <p:cNvCxnSpPr/>
            <p:nvPr/>
          </p:nvCxnSpPr>
          <p:spPr>
            <a:xfrm>
              <a:off x="802431" y="3246843"/>
              <a:ext cx="1979667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468272" y="3327035"/>
              <a:ext cx="2350016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smtClean="0">
                  <a:solidFill>
                    <a:schemeClr val="bg1"/>
                  </a:solidFill>
                  <a:latin typeface="+mj-ea"/>
                  <a:ea typeface="+mj-ea"/>
                </a:rPr>
                <a:t>모든 콜백은 처리 전 비상정지 여부 먼저 확인</a:t>
              </a:r>
              <a:endParaRPr lang="en-US" altLang="ko-KR" sz="1200" smtClean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endParaRPr lang="en-US" altLang="ko-KR" sz="500" smtClean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smtClean="0">
                  <a:solidFill>
                    <a:schemeClr val="bg1"/>
                  </a:solidFill>
                  <a:latin typeface="+mj-ea"/>
                  <a:ea typeface="+mj-ea"/>
                </a:rPr>
                <a:t>reset </a:t>
              </a:r>
              <a:r>
                <a:rPr lang="ko-KR" altLang="en-US" sz="1200" smtClean="0">
                  <a:solidFill>
                    <a:schemeClr val="bg1"/>
                  </a:solidFill>
                  <a:latin typeface="+mj-ea"/>
                  <a:ea typeface="+mj-ea"/>
                </a:rPr>
                <a:t>수신 시 </a:t>
              </a:r>
              <a:r>
                <a:rPr lang="en-US" altLang="ko-KR" sz="1200" smtClean="0">
                  <a:solidFill>
                    <a:schemeClr val="bg1"/>
                  </a:solidFill>
                  <a:latin typeface="+mj-ea"/>
                  <a:ea typeface="+mj-ea"/>
                </a:rPr>
                <a:t>IDLE</a:t>
              </a:r>
              <a:r>
                <a:rPr lang="ko-KR" altLang="en-US" sz="1200" smtClean="0">
                  <a:solidFill>
                    <a:schemeClr val="bg1"/>
                  </a:solidFill>
                  <a:latin typeface="+mj-ea"/>
                  <a:ea typeface="+mj-ea"/>
                </a:rPr>
                <a:t>로 복귀</a:t>
              </a:r>
              <a:endParaRPr lang="ko-KR" altLang="en-US" sz="12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pic>
          <p:nvPicPr>
            <p:cNvPr id="111" name="그림 110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3" t="38254" r="91137" b="52791"/>
            <a:stretch/>
          </p:blipFill>
          <p:spPr>
            <a:xfrm>
              <a:off x="494178" y="2860478"/>
              <a:ext cx="364700" cy="352125"/>
            </a:xfrm>
            <a:prstGeom prst="rect">
              <a:avLst/>
            </a:prstGeom>
            <a:solidFill>
              <a:srgbClr val="081A30"/>
            </a:solidFill>
          </p:spPr>
        </p:pic>
      </p:grpSp>
      <p:cxnSp>
        <p:nvCxnSpPr>
          <p:cNvPr id="114" name="직선 화살표 연결선 113"/>
          <p:cNvCxnSpPr>
            <a:endCxn id="23" idx="3"/>
          </p:cNvCxnSpPr>
          <p:nvPr/>
        </p:nvCxnSpPr>
        <p:spPr>
          <a:xfrm flipH="1">
            <a:off x="7264434" y="1765702"/>
            <a:ext cx="1389857" cy="108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그룹 128"/>
          <p:cNvGrpSpPr/>
          <p:nvPr/>
        </p:nvGrpSpPr>
        <p:grpSpPr>
          <a:xfrm>
            <a:off x="8584349" y="1519833"/>
            <a:ext cx="2931802" cy="1056723"/>
            <a:chOff x="8699171" y="1296312"/>
            <a:chExt cx="2931802" cy="1056723"/>
          </a:xfrm>
        </p:grpSpPr>
        <p:grpSp>
          <p:nvGrpSpPr>
            <p:cNvPr id="117" name="그룹 116"/>
            <p:cNvGrpSpPr/>
            <p:nvPr/>
          </p:nvGrpSpPr>
          <p:grpSpPr>
            <a:xfrm>
              <a:off x="8699171" y="1296312"/>
              <a:ext cx="2931802" cy="1056723"/>
              <a:chOff x="380370" y="2778430"/>
              <a:chExt cx="2931802" cy="1056723"/>
            </a:xfrm>
          </p:grpSpPr>
          <p:sp>
            <p:nvSpPr>
              <p:cNvPr id="118" name="모서리가 둥근 직사각형 117"/>
              <p:cNvSpPr/>
              <p:nvPr/>
            </p:nvSpPr>
            <p:spPr>
              <a:xfrm>
                <a:off x="380370" y="2778430"/>
                <a:ext cx="2842622" cy="1056723"/>
              </a:xfrm>
              <a:prstGeom prst="roundRect">
                <a:avLst>
                  <a:gd name="adj" fmla="val 7571"/>
                </a:avLst>
              </a:prstGeom>
              <a:solidFill>
                <a:srgbClr val="09182C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400" b="1">
                  <a:latin typeface="+mj-ea"/>
                  <a:ea typeface="+mj-ea"/>
                </a:endParaRP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1415820" y="2850918"/>
                <a:ext cx="14580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smtClean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Order Queue</a:t>
                </a:r>
                <a:endParaRPr lang="ko-KR" altLang="en-US" sz="1600" b="1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1415820" y="3235385"/>
                <a:ext cx="18963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smtClean="0">
                    <a:solidFill>
                      <a:schemeClr val="bg1"/>
                    </a:solidFill>
                    <a:latin typeface="+mj-ea"/>
                    <a:ea typeface="+mj-ea"/>
                  </a:rPr>
                  <a:t>작업 중 들어온 주문은</a:t>
                </a:r>
                <a:endParaRPr lang="en-US" altLang="ko-KR" sz="1200" smtClean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endParaRPr lang="en-US" altLang="ko-KR" sz="400" smtClean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r>
                  <a:rPr lang="ko-KR" altLang="en-US" sz="1200" smtClean="0">
                    <a:solidFill>
                      <a:schemeClr val="bg1"/>
                    </a:solidFill>
                    <a:latin typeface="+mj-ea"/>
                    <a:ea typeface="+mj-ea"/>
                  </a:rPr>
                  <a:t>큐에 저장 후 순차 처리</a:t>
                </a:r>
                <a:endParaRPr lang="en-US" altLang="ko-KR" sz="1200" smtClean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cxnSp>
          <p:nvCxnSpPr>
            <p:cNvPr id="124" name="직선 연결선 123"/>
            <p:cNvCxnSpPr/>
            <p:nvPr/>
          </p:nvCxnSpPr>
          <p:spPr>
            <a:xfrm>
              <a:off x="9620321" y="1378360"/>
              <a:ext cx="0" cy="907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8" name="그림 12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24" t="13209" r="21278" b="74957"/>
            <a:stretch/>
          </p:blipFill>
          <p:spPr>
            <a:xfrm>
              <a:off x="8831478" y="1492306"/>
              <a:ext cx="657225" cy="704850"/>
            </a:xfrm>
            <a:prstGeom prst="rect">
              <a:avLst/>
            </a:prstGeom>
            <a:solidFill>
              <a:srgbClr val="081A30"/>
            </a:solidFill>
          </p:spPr>
        </p:pic>
      </p:grpSp>
      <p:grpSp>
        <p:nvGrpSpPr>
          <p:cNvPr id="142" name="그룹 141"/>
          <p:cNvGrpSpPr/>
          <p:nvPr/>
        </p:nvGrpSpPr>
        <p:grpSpPr>
          <a:xfrm>
            <a:off x="8725722" y="3258513"/>
            <a:ext cx="2842622" cy="1131008"/>
            <a:chOff x="8059879" y="2704493"/>
            <a:chExt cx="2842622" cy="1131008"/>
          </a:xfrm>
        </p:grpSpPr>
        <p:grpSp>
          <p:nvGrpSpPr>
            <p:cNvPr id="130" name="그룹 129"/>
            <p:cNvGrpSpPr/>
            <p:nvPr/>
          </p:nvGrpSpPr>
          <p:grpSpPr>
            <a:xfrm>
              <a:off x="8059879" y="2704493"/>
              <a:ext cx="2842622" cy="1131008"/>
              <a:chOff x="8699171" y="1296312"/>
              <a:chExt cx="2842622" cy="1131008"/>
            </a:xfrm>
          </p:grpSpPr>
          <p:grpSp>
            <p:nvGrpSpPr>
              <p:cNvPr id="131" name="그룹 130"/>
              <p:cNvGrpSpPr/>
              <p:nvPr/>
            </p:nvGrpSpPr>
            <p:grpSpPr>
              <a:xfrm>
                <a:off x="8699171" y="1296312"/>
                <a:ext cx="2842622" cy="1131008"/>
                <a:chOff x="380370" y="2778430"/>
                <a:chExt cx="2842622" cy="1131008"/>
              </a:xfrm>
            </p:grpSpPr>
            <p:sp>
              <p:nvSpPr>
                <p:cNvPr id="134" name="모서리가 둥근 직사각형 133"/>
                <p:cNvSpPr/>
                <p:nvPr/>
              </p:nvSpPr>
              <p:spPr>
                <a:xfrm>
                  <a:off x="380370" y="2778430"/>
                  <a:ext cx="2842622" cy="1131008"/>
                </a:xfrm>
                <a:prstGeom prst="roundRect">
                  <a:avLst>
                    <a:gd name="adj" fmla="val 7571"/>
                  </a:avLst>
                </a:prstGeom>
                <a:solidFill>
                  <a:srgbClr val="1D0F0F"/>
                </a:solidFill>
                <a:ln w="19050">
                  <a:solidFill>
                    <a:srgbClr val="F8934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1400" b="1">
                    <a:latin typeface="+mj-ea"/>
                    <a:ea typeface="+mj-ea"/>
                  </a:endParaRPr>
                </a:p>
              </p:txBody>
            </p:sp>
            <p:sp>
              <p:nvSpPr>
                <p:cNvPr id="135" name="TextBox 134"/>
                <p:cNvSpPr txBox="1"/>
                <p:nvPr/>
              </p:nvSpPr>
              <p:spPr>
                <a:xfrm>
                  <a:off x="1212826" y="2850918"/>
                  <a:ext cx="183646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b="1" smtClean="0">
                      <a:solidFill>
                        <a:srgbClr val="F89345"/>
                      </a:solidFill>
                      <a:latin typeface="+mj-ea"/>
                      <a:ea typeface="+mj-ea"/>
                    </a:rPr>
                    <a:t>Timeout / RETRY</a:t>
                  </a:r>
                  <a:endParaRPr lang="ko-KR" altLang="en-US" sz="1600" b="1">
                    <a:solidFill>
                      <a:srgbClr val="F89345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36" name="TextBox 135"/>
                <p:cNvSpPr txBox="1"/>
                <p:nvPr/>
              </p:nvSpPr>
              <p:spPr>
                <a:xfrm>
                  <a:off x="1225560" y="3228720"/>
                  <a:ext cx="18963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로봇팔의 </a:t>
                  </a:r>
                  <a:r>
                    <a:rPr lang="en-US" altLang="ko-KR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/pick_failed</a:t>
                  </a:r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를 받으면 </a:t>
                  </a:r>
                  <a:r>
                    <a:rPr lang="en-US" altLang="ko-KR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번 파지 재시도</a:t>
                  </a:r>
                  <a:endParaRPr lang="en-US" altLang="ko-KR" sz="1200" smtClean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  <p:cxnSp>
            <p:nvCxnSpPr>
              <p:cNvPr id="132" name="직선 연결선 131"/>
              <p:cNvCxnSpPr/>
              <p:nvPr/>
            </p:nvCxnSpPr>
            <p:spPr>
              <a:xfrm flipH="1">
                <a:off x="9604508" y="1707354"/>
                <a:ext cx="1763584" cy="0"/>
              </a:xfrm>
              <a:prstGeom prst="line">
                <a:avLst/>
              </a:prstGeom>
              <a:ln>
                <a:solidFill>
                  <a:srgbClr val="F893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38" name="그림 13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651" t="39616" r="20600" b="50683"/>
            <a:stretch/>
          </p:blipFill>
          <p:spPr>
            <a:xfrm>
              <a:off x="8143698" y="2830555"/>
              <a:ext cx="659372" cy="625029"/>
            </a:xfrm>
            <a:prstGeom prst="rect">
              <a:avLst/>
            </a:prstGeom>
            <a:solidFill>
              <a:srgbClr val="081A30"/>
            </a:solidFill>
          </p:spPr>
        </p:pic>
      </p:grpSp>
      <p:grpSp>
        <p:nvGrpSpPr>
          <p:cNvPr id="159" name="그룹 158"/>
          <p:cNvGrpSpPr/>
          <p:nvPr/>
        </p:nvGrpSpPr>
        <p:grpSpPr>
          <a:xfrm>
            <a:off x="8209820" y="4947148"/>
            <a:ext cx="3903606" cy="1176709"/>
            <a:chOff x="7727367" y="4469084"/>
            <a:chExt cx="3903606" cy="1176709"/>
          </a:xfrm>
        </p:grpSpPr>
        <p:grpSp>
          <p:nvGrpSpPr>
            <p:cNvPr id="152" name="그룹 151"/>
            <p:cNvGrpSpPr/>
            <p:nvPr/>
          </p:nvGrpSpPr>
          <p:grpSpPr>
            <a:xfrm>
              <a:off x="7727367" y="4469084"/>
              <a:ext cx="3903606" cy="1176709"/>
              <a:chOff x="8790199" y="1296312"/>
              <a:chExt cx="3903606" cy="1176709"/>
            </a:xfrm>
          </p:grpSpPr>
          <p:grpSp>
            <p:nvGrpSpPr>
              <p:cNvPr id="153" name="그룹 152"/>
              <p:cNvGrpSpPr/>
              <p:nvPr/>
            </p:nvGrpSpPr>
            <p:grpSpPr>
              <a:xfrm>
                <a:off x="8790199" y="1296312"/>
                <a:ext cx="3903606" cy="1176709"/>
                <a:chOff x="471398" y="2778430"/>
                <a:chExt cx="3903606" cy="1176709"/>
              </a:xfrm>
            </p:grpSpPr>
            <p:sp>
              <p:nvSpPr>
                <p:cNvPr id="156" name="모서리가 둥근 직사각형 155"/>
                <p:cNvSpPr/>
                <p:nvPr/>
              </p:nvSpPr>
              <p:spPr>
                <a:xfrm>
                  <a:off x="471398" y="2778430"/>
                  <a:ext cx="3814425" cy="1176709"/>
                </a:xfrm>
                <a:prstGeom prst="roundRect">
                  <a:avLst>
                    <a:gd name="adj" fmla="val 7571"/>
                  </a:avLst>
                </a:prstGeom>
                <a:solidFill>
                  <a:srgbClr val="09182C"/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1400" b="1">
                    <a:latin typeface="+mj-ea"/>
                    <a:ea typeface="+mj-ea"/>
                  </a:endParaRPr>
                </a:p>
              </p:txBody>
            </p:sp>
            <p:sp>
              <p:nvSpPr>
                <p:cNvPr id="157" name="TextBox 156"/>
                <p:cNvSpPr txBox="1"/>
                <p:nvPr/>
              </p:nvSpPr>
              <p:spPr>
                <a:xfrm>
                  <a:off x="1415820" y="2850918"/>
                  <a:ext cx="13552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b="1" smtClean="0">
                      <a:solidFill>
                        <a:schemeClr val="accent5"/>
                      </a:solidFill>
                      <a:latin typeface="+mj-ea"/>
                      <a:ea typeface="+mj-ea"/>
                    </a:rPr>
                    <a:t>State Guard</a:t>
                  </a:r>
                  <a:endParaRPr lang="ko-KR" altLang="en-US" sz="1600" b="1">
                    <a:solidFill>
                      <a:schemeClr val="accent5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58" name="TextBox 157"/>
                <p:cNvSpPr txBox="1"/>
                <p:nvPr/>
              </p:nvSpPr>
              <p:spPr>
                <a:xfrm>
                  <a:off x="1415820" y="3235385"/>
                  <a:ext cx="295918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현재 상태에서 허용된 </a:t>
                  </a:r>
                  <a:r>
                    <a:rPr lang="en-US" altLang="ko-KR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Topic</a:t>
                  </a:r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만 수신</a:t>
                  </a:r>
                  <a:endParaRPr lang="en-US" altLang="ko-KR" sz="1200" smtClean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  <a:p>
                  <a:endParaRPr lang="en-US" altLang="ko-KR" sz="400" smtClean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그 외 신호는 경고 로그 후 폐기</a:t>
                  </a:r>
                  <a:endParaRPr lang="en-US" altLang="ko-KR" sz="1200" smtClean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  <p:cxnSp>
            <p:nvCxnSpPr>
              <p:cNvPr id="154" name="직선 연결선 153"/>
              <p:cNvCxnSpPr/>
              <p:nvPr/>
            </p:nvCxnSpPr>
            <p:spPr>
              <a:xfrm>
                <a:off x="9620321" y="1378360"/>
                <a:ext cx="0" cy="9076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3" name="그림 14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047" t="63677" r="25204" b="22678"/>
            <a:stretch/>
          </p:blipFill>
          <p:spPr>
            <a:xfrm>
              <a:off x="7791329" y="4591045"/>
              <a:ext cx="609600" cy="812800"/>
            </a:xfrm>
            <a:prstGeom prst="rect">
              <a:avLst/>
            </a:prstGeom>
            <a:solidFill>
              <a:srgbClr val="081A30"/>
            </a:solidFill>
          </p:spPr>
        </p:pic>
      </p:grpSp>
      <p:cxnSp>
        <p:nvCxnSpPr>
          <p:cNvPr id="160" name="직선 화살표 연결선 159"/>
          <p:cNvCxnSpPr>
            <a:stCxn id="27" idx="3"/>
          </p:cNvCxnSpPr>
          <p:nvPr/>
        </p:nvCxnSpPr>
        <p:spPr>
          <a:xfrm flipV="1">
            <a:off x="7264434" y="3682577"/>
            <a:ext cx="1312265" cy="1477"/>
          </a:xfrm>
          <a:prstGeom prst="straightConnector1">
            <a:avLst/>
          </a:prstGeom>
          <a:ln w="28575">
            <a:solidFill>
              <a:srgbClr val="F893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/>
          <p:cNvSpPr/>
          <p:nvPr/>
        </p:nvSpPr>
        <p:spPr>
          <a:xfrm>
            <a:off x="6921071" y="3628351"/>
            <a:ext cx="1466485" cy="40660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mtClean="0">
                <a:solidFill>
                  <a:schemeClr val="tx1"/>
                </a:solidFill>
                <a:latin typeface="+mj-ea"/>
                <a:ea typeface="+mj-ea"/>
              </a:rPr>
              <a:t>         /</a:t>
            </a:r>
            <a:r>
              <a:rPr lang="en-US" altLang="ko-KR" sz="1200" smtClean="0">
                <a:solidFill>
                  <a:schemeClr val="tx1"/>
                </a:solidFill>
                <a:latin typeface="+mj-ea"/>
                <a:ea typeface="+mj-ea"/>
              </a:rPr>
              <a:t>pick_</a:t>
            </a:r>
            <a:r>
              <a:rPr lang="en-US" altLang="ko-KR" sz="1200" smtClean="0">
                <a:solidFill>
                  <a:schemeClr val="tx1"/>
                </a:solidFill>
                <a:latin typeface="+mj-ea"/>
                <a:ea typeface="+mj-ea"/>
              </a:rPr>
              <a:t>failed</a:t>
            </a:r>
            <a:endParaRPr lang="ko-KR" altLang="en-US" sz="120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206707" y="3770571"/>
            <a:ext cx="2597982" cy="1361770"/>
            <a:chOff x="195071" y="3960306"/>
            <a:chExt cx="2597982" cy="1361770"/>
          </a:xfrm>
        </p:grpSpPr>
        <p:grpSp>
          <p:nvGrpSpPr>
            <p:cNvPr id="75" name="그룹 74"/>
            <p:cNvGrpSpPr/>
            <p:nvPr/>
          </p:nvGrpSpPr>
          <p:grpSpPr>
            <a:xfrm>
              <a:off x="195071" y="3960306"/>
              <a:ext cx="2597982" cy="1361770"/>
              <a:chOff x="380370" y="2778430"/>
              <a:chExt cx="2597982" cy="1361770"/>
            </a:xfrm>
          </p:grpSpPr>
          <p:sp>
            <p:nvSpPr>
              <p:cNvPr id="83" name="모서리가 둥근 직사각형 82"/>
              <p:cNvSpPr/>
              <p:nvPr/>
            </p:nvSpPr>
            <p:spPr>
              <a:xfrm>
                <a:off x="380370" y="2778430"/>
                <a:ext cx="2557500" cy="1361770"/>
              </a:xfrm>
              <a:prstGeom prst="roundRect">
                <a:avLst>
                  <a:gd name="adj" fmla="val 7571"/>
                </a:avLst>
              </a:prstGeom>
              <a:solidFill>
                <a:srgbClr val="EDF3E6"/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400" b="1">
                  <a:latin typeface="+mj-ea"/>
                  <a:ea typeface="+mj-ea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802431" y="2878608"/>
                <a:ext cx="12089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smtClean="0">
                    <a:latin typeface="+mj-ea"/>
                    <a:ea typeface="+mj-ea"/>
                  </a:rPr>
                  <a:t>GO_HOME</a:t>
                </a:r>
                <a:endParaRPr lang="ko-KR" altLang="en-US" sz="1600" b="1">
                  <a:latin typeface="+mj-ea"/>
                  <a:ea typeface="+mj-ea"/>
                </a:endParaRPr>
              </a:p>
            </p:txBody>
          </p:sp>
          <p:cxnSp>
            <p:nvCxnSpPr>
              <p:cNvPr id="85" name="직선 연결선 84"/>
              <p:cNvCxnSpPr/>
              <p:nvPr/>
            </p:nvCxnSpPr>
            <p:spPr>
              <a:xfrm>
                <a:off x="802431" y="3246843"/>
                <a:ext cx="1979667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/>
              <p:cNvSpPr txBox="1"/>
              <p:nvPr/>
            </p:nvSpPr>
            <p:spPr>
              <a:xfrm>
                <a:off x="424967" y="3356063"/>
                <a:ext cx="2553385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500" smtClean="0">
                  <a:latin typeface="+mj-ea"/>
                  <a:ea typeface="+mj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smtClean="0">
                    <a:latin typeface="+mj-ea"/>
                    <a:ea typeface="+mj-ea"/>
                  </a:rPr>
                  <a:t>수신 시 정지 후 주차 구역 이동</a:t>
                </a:r>
                <a:endParaRPr lang="en-US" altLang="ko-KR" sz="1200" smtClean="0">
                  <a:latin typeface="+mj-ea"/>
                  <a:ea typeface="+mj-ea"/>
                </a:endParaRPr>
              </a:p>
              <a:p>
                <a:endParaRPr lang="en-US" altLang="ko-KR" sz="500" smtClean="0">
                  <a:latin typeface="+mj-ea"/>
                  <a:ea typeface="+mj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smtClean="0">
                    <a:latin typeface="+mj-ea"/>
                    <a:ea typeface="+mj-ea"/>
                  </a:rPr>
                  <a:t>주차 구역 도착 시 </a:t>
                </a:r>
                <a:r>
                  <a:rPr lang="en-US" altLang="ko-KR" sz="1200" smtClean="0">
                    <a:latin typeface="+mj-ea"/>
                    <a:ea typeface="+mj-ea"/>
                  </a:rPr>
                  <a:t>IDLE</a:t>
                </a:r>
                <a:r>
                  <a:rPr lang="ko-KR" altLang="en-US" sz="1200" smtClean="0">
                    <a:latin typeface="+mj-ea"/>
                    <a:ea typeface="+mj-ea"/>
                  </a:rPr>
                  <a:t>로 복귀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53846" y1="55660" x2="53846" y2="55660"/>
                          <a14:foregroundMark x1="50962" y1="43396" x2="50962" y2="43396"/>
                          <a14:foregroundMark x1="50000" y1="33962" x2="36538" y2="41509"/>
                          <a14:foregroundMark x1="43269" y1="41509" x2="43269" y2="41509"/>
                          <a14:foregroundMark x1="50000" y1="43396" x2="50000" y2="43396"/>
                          <a14:foregroundMark x1="50962" y1="53774" x2="50962" y2="537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39668" y="4052427"/>
              <a:ext cx="379155" cy="386446"/>
            </a:xfrm>
            <a:prstGeom prst="rect">
              <a:avLst/>
            </a:prstGeom>
          </p:spPr>
        </p:pic>
      </p:grpSp>
      <p:sp>
        <p:nvSpPr>
          <p:cNvPr id="6" name="직사각형 5"/>
          <p:cNvSpPr/>
          <p:nvPr/>
        </p:nvSpPr>
        <p:spPr>
          <a:xfrm>
            <a:off x="2933996" y="3123415"/>
            <a:ext cx="1347691" cy="522320"/>
          </a:xfrm>
          <a:prstGeom prst="rect">
            <a:avLst/>
          </a:prstGeom>
          <a:solidFill>
            <a:srgbClr val="F4F4F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792426" y="3059634"/>
            <a:ext cx="16724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C00000"/>
                </a:solidFill>
                <a:latin typeface="+mj-ea"/>
                <a:ea typeface="+mj-ea"/>
              </a:rPr>
              <a:t>/</a:t>
            </a:r>
            <a:r>
              <a:rPr lang="en-US" altLang="ko-KR" sz="1100" b="1" smtClean="0">
                <a:solidFill>
                  <a:srgbClr val="C00000"/>
                </a:solidFill>
                <a:latin typeface="+mj-ea"/>
                <a:ea typeface="+mj-ea"/>
              </a:rPr>
              <a:t>emergency_stop, /go_home</a:t>
            </a:r>
            <a:endParaRPr lang="en-US" altLang="ko-KR" sz="1100" b="1" smtClean="0">
              <a:solidFill>
                <a:srgbClr val="C00000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100" b="1" smtClean="0">
                <a:solidFill>
                  <a:srgbClr val="C00000"/>
                </a:solidFill>
                <a:latin typeface="+mj-ea"/>
                <a:ea typeface="+mj-ea"/>
              </a:rPr>
              <a:t>수신 </a:t>
            </a:r>
            <a:r>
              <a:rPr lang="ko-KR" altLang="en-US" sz="1100" b="1" smtClean="0">
                <a:solidFill>
                  <a:srgbClr val="C00000"/>
                </a:solidFill>
                <a:latin typeface="+mj-ea"/>
                <a:ea typeface="+mj-ea"/>
              </a:rPr>
              <a:t>시</a:t>
            </a:r>
            <a:r>
              <a:rPr lang="en-US" altLang="ko-KR" sz="1100" b="1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lang="ko-KR" altLang="en-US" sz="1100" b="1" smtClean="0">
                <a:solidFill>
                  <a:srgbClr val="C00000"/>
                </a:solidFill>
                <a:latin typeface="+mj-ea"/>
                <a:ea typeface="+mj-ea"/>
              </a:rPr>
              <a:t>즉시 </a:t>
            </a:r>
            <a:r>
              <a:rPr lang="ko-KR" altLang="en-US" sz="1100" b="1" smtClean="0">
                <a:solidFill>
                  <a:srgbClr val="C00000"/>
                </a:solidFill>
                <a:latin typeface="+mj-ea"/>
                <a:ea typeface="+mj-ea"/>
              </a:rPr>
              <a:t>전환</a:t>
            </a:r>
            <a:endParaRPr lang="ko-KR" altLang="en-US" sz="1100" b="1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07</a:t>
            </a:r>
            <a:endParaRPr lang="en-US" sz="9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2992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CORE ENGINEERING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AGV 주행 전략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08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전략</a:t>
            </a:r>
            <a:endParaRPr lang="en-US" sz="112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196596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37617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장점</a:t>
            </a:r>
            <a:endParaRPr lang="en-US" sz="112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1655064"/>
            <a:ext cx="32918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1376172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리스크</a:t>
            </a:r>
            <a:endParaRPr lang="en-US" sz="112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52160" y="1655064"/>
            <a:ext cx="29718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37617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적용 위치</a:t>
            </a:r>
            <a:endParaRPr lang="en-US" sz="112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823960" y="1655064"/>
            <a:ext cx="28346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0992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" y="2139696"/>
            <a:ext cx="19659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7099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AMCL, local costmap, obstacle avoidance, replanning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0320" y="2139696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7099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미세 cmd가 myAGV deadzone과 불일치 가능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52160" y="2139696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17099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장애물 회피가 필요한 일반 구간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823960" y="2139696"/>
            <a:ext cx="28346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945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Primitive Route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2624328"/>
            <a:ext cx="19659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1945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회전-직진-회전을 분리하여 명령이 명확함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560320" y="2624328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19456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복잡한 장애물 회피 능력 제한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52160" y="2624328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21945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시연 경로, 랙 접근, 반복 route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823960" y="2624328"/>
            <a:ext cx="28346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6791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 + Safety Filter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06040" y="26791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 기능 유지 + 하드웨어 보호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97880" y="267919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filter parameter tuning 필요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69680" y="26791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최종 통합 후보 구조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560320" y="1325880"/>
            <a:ext cx="0" cy="1783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52160" y="1325880"/>
            <a:ext cx="0" cy="1783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3960" y="1325880"/>
            <a:ext cx="0" cy="1783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310896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324733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Primitive Route 4단계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94360" y="3653917"/>
            <a:ext cx="469844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636645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1380" dirty="0">
              <a:latin typeface="+mj-ea"/>
              <a:ea typeface="+mj-ea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22290" y="3319271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설계 의미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622290" y="3648455"/>
            <a:ext cx="53949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2290" y="3818855"/>
            <a:ext cx="600529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7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하드웨어 </a:t>
            </a: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안정성을 확보하기 위한 motion primitive abstraction</a:t>
            </a:r>
            <a:endParaRPr lang="en-US" sz="1370" dirty="0">
              <a:latin typeface="+mj-ea"/>
              <a:ea typeface="+mj-ea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7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Nav2: </a:t>
            </a: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general </a:t>
            </a:r>
            <a:r>
              <a:rPr lang="en-US" sz="137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navigation </a:t>
            </a:r>
            <a:r>
              <a:rPr 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역할  |   </a:t>
            </a:r>
            <a:r>
              <a:rPr lang="en-US" sz="137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primitive </a:t>
            </a:r>
            <a:r>
              <a:rPr 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route: </a:t>
            </a: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안정 </a:t>
            </a:r>
            <a:r>
              <a:rPr lang="en-US" sz="137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주행 </a:t>
            </a:r>
            <a:r>
              <a:rPr 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기준선 </a:t>
            </a:r>
            <a:r>
              <a:rPr lang="ko-KR" alt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역할</a:t>
            </a:r>
            <a:endParaRPr lang="en-US" sz="1370" dirty="0">
              <a:latin typeface="+mj-ea"/>
              <a:ea typeface="+mj-ea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368594" y="3742908"/>
            <a:ext cx="4383451" cy="3014472"/>
            <a:chOff x="158069" y="3733800"/>
            <a:chExt cx="4383451" cy="3014472"/>
          </a:xfrm>
        </p:grpSpPr>
        <p:grpSp>
          <p:nvGrpSpPr>
            <p:cNvPr id="72" name="그룹 71"/>
            <p:cNvGrpSpPr/>
            <p:nvPr/>
          </p:nvGrpSpPr>
          <p:grpSpPr>
            <a:xfrm>
              <a:off x="158069" y="3733800"/>
              <a:ext cx="4383451" cy="3014472"/>
              <a:chOff x="11939462" y="388925"/>
              <a:chExt cx="4383451" cy="3014472"/>
            </a:xfrm>
          </p:grpSpPr>
          <p:sp>
            <p:nvSpPr>
              <p:cNvPr id="71" name="직사각형 70"/>
              <p:cNvSpPr/>
              <p:nvPr/>
            </p:nvSpPr>
            <p:spPr>
              <a:xfrm>
                <a:off x="11990071" y="388925"/>
                <a:ext cx="4332842" cy="3014472"/>
              </a:xfrm>
              <a:prstGeom prst="rect">
                <a:avLst/>
              </a:prstGeom>
              <a:solidFill>
                <a:schemeClr val="accent1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  <p:grpSp>
            <p:nvGrpSpPr>
              <p:cNvPr id="70" name="그룹 69"/>
              <p:cNvGrpSpPr/>
              <p:nvPr/>
            </p:nvGrpSpPr>
            <p:grpSpPr>
              <a:xfrm>
                <a:off x="11939462" y="549196"/>
                <a:ext cx="3936296" cy="2678256"/>
                <a:chOff x="2152080" y="3851614"/>
                <a:chExt cx="3936296" cy="2678256"/>
              </a:xfrm>
            </p:grpSpPr>
            <p:sp>
              <p:nvSpPr>
                <p:cNvPr id="50" name="모서리가 둥근 직사각형 49"/>
                <p:cNvSpPr/>
                <p:nvPr/>
              </p:nvSpPr>
              <p:spPr>
                <a:xfrm>
                  <a:off x="3183845" y="5793778"/>
                  <a:ext cx="506994" cy="736092"/>
                </a:xfrm>
                <a:prstGeom prst="round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54" name="모서리가 둥근 직사각형 53"/>
                <p:cNvSpPr/>
                <p:nvPr/>
              </p:nvSpPr>
              <p:spPr>
                <a:xfrm rot="2262662">
                  <a:off x="3203696" y="5793778"/>
                  <a:ext cx="506994" cy="736092"/>
                </a:xfrm>
                <a:prstGeom prst="round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57" name="모서리가 둥근 직사각형 56"/>
                <p:cNvSpPr/>
                <p:nvPr/>
              </p:nvSpPr>
              <p:spPr>
                <a:xfrm>
                  <a:off x="4244493" y="4271077"/>
                  <a:ext cx="506994" cy="736092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49" name="직선 화살표 연결선 48"/>
                <p:cNvCxnSpPr/>
                <p:nvPr/>
              </p:nvCxnSpPr>
              <p:spPr>
                <a:xfrm flipV="1">
                  <a:off x="3457194" y="5061913"/>
                  <a:ext cx="787299" cy="1099914"/>
                </a:xfrm>
                <a:prstGeom prst="straightConnector1">
                  <a:avLst/>
                </a:prstGeom>
                <a:ln w="127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모서리가 둥근 직사각형 50"/>
                <p:cNvSpPr/>
                <p:nvPr/>
              </p:nvSpPr>
              <p:spPr>
                <a:xfrm rot="2074124">
                  <a:off x="4275861" y="4276527"/>
                  <a:ext cx="506994" cy="736092"/>
                </a:xfrm>
                <a:prstGeom prst="round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60" name="직사각형 59"/>
                <p:cNvSpPr/>
                <p:nvPr/>
              </p:nvSpPr>
              <p:spPr>
                <a:xfrm>
                  <a:off x="4106274" y="5229471"/>
                  <a:ext cx="1662635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200" b="1">
                      <a:solidFill>
                        <a:srgbClr val="444444"/>
                      </a:solidFill>
                      <a:latin typeface="+mj-ea"/>
                      <a:ea typeface="+mj-ea"/>
                      <a:cs typeface="Noto Sans CJK KR" pitchFamily="34" charset="-120"/>
                    </a:rPr>
                    <a:t>② DRIVE_STRAIGHT</a:t>
                  </a:r>
                  <a:endParaRPr lang="en-US" altLang="ko-KR" sz="1200" b="1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1" name="직사각형 60"/>
                <p:cNvSpPr/>
                <p:nvPr/>
              </p:nvSpPr>
              <p:spPr>
                <a:xfrm>
                  <a:off x="2152080" y="5321213"/>
                  <a:ext cx="2000291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200" b="1">
                      <a:solidFill>
                        <a:srgbClr val="444444"/>
                      </a:solidFill>
                      <a:latin typeface="+mj-ea"/>
                      <a:ea typeface="+mj-ea"/>
                      <a:cs typeface="Noto Sans CJK KR" pitchFamily="34" charset="-120"/>
                    </a:rPr>
                    <a:t>① ROTATE_TO_HEADING</a:t>
                  </a:r>
                  <a:endParaRPr lang="en-US" altLang="ko-KR" sz="1200" b="1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2" name="직사각형 61"/>
                <p:cNvSpPr/>
                <p:nvPr/>
              </p:nvSpPr>
              <p:spPr>
                <a:xfrm>
                  <a:off x="3977734" y="3851614"/>
                  <a:ext cx="2110642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200" b="1">
                      <a:solidFill>
                        <a:srgbClr val="444444"/>
                      </a:solidFill>
                      <a:latin typeface="+mj-ea"/>
                      <a:ea typeface="+mj-ea"/>
                      <a:cs typeface="Noto Sans CJK KR" pitchFamily="34" charset="-120"/>
                    </a:rPr>
                    <a:t>③ ROTATE_TO_GOAL_YAW</a:t>
                  </a:r>
                  <a:endParaRPr lang="en-US" altLang="ko-KR" sz="1200" b="1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5" name="U자형 화살표 64"/>
                <p:cNvSpPr/>
                <p:nvPr/>
              </p:nvSpPr>
              <p:spPr>
                <a:xfrm rot="21329867">
                  <a:off x="3435154" y="5641907"/>
                  <a:ext cx="418378" cy="359977"/>
                </a:xfrm>
                <a:custGeom>
                  <a:avLst/>
                  <a:gdLst>
                    <a:gd name="connsiteX0" fmla="*/ 0 w 1800000"/>
                    <a:gd name="connsiteY0" fmla="*/ 1800000 h 1800000"/>
                    <a:gd name="connsiteX1" fmla="*/ 0 w 1800000"/>
                    <a:gd name="connsiteY1" fmla="*/ 787500 h 1800000"/>
                    <a:gd name="connsiteX2" fmla="*/ 787500 w 1800000"/>
                    <a:gd name="connsiteY2" fmla="*/ 0 h 1800000"/>
                    <a:gd name="connsiteX3" fmla="*/ 926262 w 1800000"/>
                    <a:gd name="connsiteY3" fmla="*/ 0 h 1800000"/>
                    <a:gd name="connsiteX4" fmla="*/ 1713762 w 1800000"/>
                    <a:gd name="connsiteY4" fmla="*/ 787500 h 1800000"/>
                    <a:gd name="connsiteX5" fmla="*/ 1713762 w 1800000"/>
                    <a:gd name="connsiteY5" fmla="*/ 1214334 h 1800000"/>
                    <a:gd name="connsiteX6" fmla="*/ 1800000 w 1800000"/>
                    <a:gd name="connsiteY6" fmla="*/ 1214334 h 1800000"/>
                    <a:gd name="connsiteX7" fmla="*/ 1685754 w 1800000"/>
                    <a:gd name="connsiteY7" fmla="*/ 1350000 h 1800000"/>
                    <a:gd name="connsiteX8" fmla="*/ 1571508 w 1800000"/>
                    <a:gd name="connsiteY8" fmla="*/ 1214334 h 1800000"/>
                    <a:gd name="connsiteX9" fmla="*/ 1657746 w 1800000"/>
                    <a:gd name="connsiteY9" fmla="*/ 1214334 h 1800000"/>
                    <a:gd name="connsiteX10" fmla="*/ 1657746 w 1800000"/>
                    <a:gd name="connsiteY10" fmla="*/ 787500 h 1800000"/>
                    <a:gd name="connsiteX11" fmla="*/ 926262 w 1800000"/>
                    <a:gd name="connsiteY11" fmla="*/ 56016 h 1800000"/>
                    <a:gd name="connsiteX12" fmla="*/ 787500 w 1800000"/>
                    <a:gd name="connsiteY12" fmla="*/ 56016 h 1800000"/>
                    <a:gd name="connsiteX13" fmla="*/ 56016 w 1800000"/>
                    <a:gd name="connsiteY13" fmla="*/ 787500 h 1800000"/>
                    <a:gd name="connsiteX14" fmla="*/ 56016 w 1800000"/>
                    <a:gd name="connsiteY14" fmla="*/ 1800000 h 1800000"/>
                    <a:gd name="connsiteX15" fmla="*/ 0 w 1800000"/>
                    <a:gd name="connsiteY15" fmla="*/ 1800000 h 1800000"/>
                    <a:gd name="connsiteX0" fmla="*/ 0 w 1800000"/>
                    <a:gd name="connsiteY0" fmla="*/ 1800000 h 1800000"/>
                    <a:gd name="connsiteX1" fmla="*/ 0 w 1800000"/>
                    <a:gd name="connsiteY1" fmla="*/ 787500 h 1800000"/>
                    <a:gd name="connsiteX2" fmla="*/ 787500 w 1800000"/>
                    <a:gd name="connsiteY2" fmla="*/ 0 h 1800000"/>
                    <a:gd name="connsiteX3" fmla="*/ 926262 w 1800000"/>
                    <a:gd name="connsiteY3" fmla="*/ 0 h 1800000"/>
                    <a:gd name="connsiteX4" fmla="*/ 1713762 w 1800000"/>
                    <a:gd name="connsiteY4" fmla="*/ 787500 h 1800000"/>
                    <a:gd name="connsiteX5" fmla="*/ 1713762 w 1800000"/>
                    <a:gd name="connsiteY5" fmla="*/ 1214334 h 1800000"/>
                    <a:gd name="connsiteX6" fmla="*/ 1800000 w 1800000"/>
                    <a:gd name="connsiteY6" fmla="*/ 1214334 h 1800000"/>
                    <a:gd name="connsiteX7" fmla="*/ 1685754 w 1800000"/>
                    <a:gd name="connsiteY7" fmla="*/ 1350000 h 1800000"/>
                    <a:gd name="connsiteX8" fmla="*/ 1571508 w 1800000"/>
                    <a:gd name="connsiteY8" fmla="*/ 1214334 h 1800000"/>
                    <a:gd name="connsiteX9" fmla="*/ 1657746 w 1800000"/>
                    <a:gd name="connsiteY9" fmla="*/ 1214334 h 1800000"/>
                    <a:gd name="connsiteX10" fmla="*/ 1657746 w 1800000"/>
                    <a:gd name="connsiteY10" fmla="*/ 787500 h 1800000"/>
                    <a:gd name="connsiteX11" fmla="*/ 926262 w 1800000"/>
                    <a:gd name="connsiteY11" fmla="*/ 56016 h 1800000"/>
                    <a:gd name="connsiteX12" fmla="*/ 787500 w 1800000"/>
                    <a:gd name="connsiteY12" fmla="*/ 56016 h 1800000"/>
                    <a:gd name="connsiteX13" fmla="*/ 56016 w 1800000"/>
                    <a:gd name="connsiteY13" fmla="*/ 787500 h 1800000"/>
                    <a:gd name="connsiteX14" fmla="*/ 272710 w 1800000"/>
                    <a:gd name="connsiteY14" fmla="*/ 264094 h 1800000"/>
                    <a:gd name="connsiteX15" fmla="*/ 0 w 1800000"/>
                    <a:gd name="connsiteY15" fmla="*/ 1800000 h 1800000"/>
                    <a:gd name="connsiteX0" fmla="*/ 230982 w 1800000"/>
                    <a:gd name="connsiteY0" fmla="*/ 209325 h 1350000"/>
                    <a:gd name="connsiteX1" fmla="*/ 0 w 1800000"/>
                    <a:gd name="connsiteY1" fmla="*/ 787500 h 1350000"/>
                    <a:gd name="connsiteX2" fmla="*/ 787500 w 1800000"/>
                    <a:gd name="connsiteY2" fmla="*/ 0 h 1350000"/>
                    <a:gd name="connsiteX3" fmla="*/ 926262 w 1800000"/>
                    <a:gd name="connsiteY3" fmla="*/ 0 h 1350000"/>
                    <a:gd name="connsiteX4" fmla="*/ 1713762 w 1800000"/>
                    <a:gd name="connsiteY4" fmla="*/ 787500 h 1350000"/>
                    <a:gd name="connsiteX5" fmla="*/ 1713762 w 1800000"/>
                    <a:gd name="connsiteY5" fmla="*/ 1214334 h 1350000"/>
                    <a:gd name="connsiteX6" fmla="*/ 1800000 w 1800000"/>
                    <a:gd name="connsiteY6" fmla="*/ 1214334 h 1350000"/>
                    <a:gd name="connsiteX7" fmla="*/ 1685754 w 1800000"/>
                    <a:gd name="connsiteY7" fmla="*/ 1350000 h 1350000"/>
                    <a:gd name="connsiteX8" fmla="*/ 1571508 w 1800000"/>
                    <a:gd name="connsiteY8" fmla="*/ 1214334 h 1350000"/>
                    <a:gd name="connsiteX9" fmla="*/ 1657746 w 1800000"/>
                    <a:gd name="connsiteY9" fmla="*/ 1214334 h 1350000"/>
                    <a:gd name="connsiteX10" fmla="*/ 1657746 w 1800000"/>
                    <a:gd name="connsiteY10" fmla="*/ 787500 h 1350000"/>
                    <a:gd name="connsiteX11" fmla="*/ 926262 w 1800000"/>
                    <a:gd name="connsiteY11" fmla="*/ 56016 h 1350000"/>
                    <a:gd name="connsiteX12" fmla="*/ 787500 w 1800000"/>
                    <a:gd name="connsiteY12" fmla="*/ 56016 h 1350000"/>
                    <a:gd name="connsiteX13" fmla="*/ 56016 w 1800000"/>
                    <a:gd name="connsiteY13" fmla="*/ 787500 h 1350000"/>
                    <a:gd name="connsiteX14" fmla="*/ 272710 w 1800000"/>
                    <a:gd name="connsiteY14" fmla="*/ 264094 h 1350000"/>
                    <a:gd name="connsiteX15" fmla="*/ 230982 w 1800000"/>
                    <a:gd name="connsiteY15" fmla="*/ 209325 h 1350000"/>
                    <a:gd name="connsiteX0" fmla="*/ 230982 w 1800000"/>
                    <a:gd name="connsiteY0" fmla="*/ 209325 h 1350000"/>
                    <a:gd name="connsiteX1" fmla="*/ 0 w 1800000"/>
                    <a:gd name="connsiteY1" fmla="*/ 787500 h 1350000"/>
                    <a:gd name="connsiteX2" fmla="*/ 787500 w 1800000"/>
                    <a:gd name="connsiteY2" fmla="*/ 0 h 1350000"/>
                    <a:gd name="connsiteX3" fmla="*/ 926262 w 1800000"/>
                    <a:gd name="connsiteY3" fmla="*/ 0 h 1350000"/>
                    <a:gd name="connsiteX4" fmla="*/ 1713762 w 1800000"/>
                    <a:gd name="connsiteY4" fmla="*/ 787500 h 1350000"/>
                    <a:gd name="connsiteX5" fmla="*/ 1713762 w 1800000"/>
                    <a:gd name="connsiteY5" fmla="*/ 1214334 h 1350000"/>
                    <a:gd name="connsiteX6" fmla="*/ 1800000 w 1800000"/>
                    <a:gd name="connsiteY6" fmla="*/ 1214334 h 1350000"/>
                    <a:gd name="connsiteX7" fmla="*/ 1685754 w 1800000"/>
                    <a:gd name="connsiteY7" fmla="*/ 1350000 h 1350000"/>
                    <a:gd name="connsiteX8" fmla="*/ 1571508 w 1800000"/>
                    <a:gd name="connsiteY8" fmla="*/ 1214334 h 1350000"/>
                    <a:gd name="connsiteX9" fmla="*/ 1657746 w 1800000"/>
                    <a:gd name="connsiteY9" fmla="*/ 1214334 h 1350000"/>
                    <a:gd name="connsiteX10" fmla="*/ 1657746 w 1800000"/>
                    <a:gd name="connsiteY10" fmla="*/ 787500 h 1350000"/>
                    <a:gd name="connsiteX11" fmla="*/ 926262 w 1800000"/>
                    <a:gd name="connsiteY11" fmla="*/ 56016 h 1350000"/>
                    <a:gd name="connsiteX12" fmla="*/ 787500 w 1800000"/>
                    <a:gd name="connsiteY12" fmla="*/ 56016 h 1350000"/>
                    <a:gd name="connsiteX13" fmla="*/ 272710 w 1800000"/>
                    <a:gd name="connsiteY13" fmla="*/ 264094 h 1350000"/>
                    <a:gd name="connsiteX14" fmla="*/ 230982 w 1800000"/>
                    <a:gd name="connsiteY14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569018" h="1350000">
                      <a:moveTo>
                        <a:pt x="0" y="209325"/>
                      </a:moveTo>
                      <a:cubicBezTo>
                        <a:pt x="185506" y="139550"/>
                        <a:pt x="244806" y="60250"/>
                        <a:pt x="556518" y="0"/>
                      </a:cubicBezTo>
                      <a:lnTo>
                        <a:pt x="695280" y="0"/>
                      </a:lnTo>
                      <a:cubicBezTo>
                        <a:pt x="1130204" y="0"/>
                        <a:pt x="1482780" y="352576"/>
                        <a:pt x="1482780" y="787500"/>
                      </a:cubicBezTo>
                      <a:lnTo>
                        <a:pt x="1482780" y="1214334"/>
                      </a:lnTo>
                      <a:lnTo>
                        <a:pt x="1569018" y="1214334"/>
                      </a:lnTo>
                      <a:lnTo>
                        <a:pt x="1454772" y="1350000"/>
                      </a:lnTo>
                      <a:lnTo>
                        <a:pt x="1340526" y="1214334"/>
                      </a:lnTo>
                      <a:lnTo>
                        <a:pt x="1426764" y="1214334"/>
                      </a:lnTo>
                      <a:lnTo>
                        <a:pt x="1426764" y="787500"/>
                      </a:lnTo>
                      <a:cubicBezTo>
                        <a:pt x="1426764" y="383513"/>
                        <a:pt x="1099267" y="56016"/>
                        <a:pt x="695280" y="56016"/>
                      </a:cubicBezTo>
                      <a:lnTo>
                        <a:pt x="556518" y="56016"/>
                      </a:lnTo>
                      <a:cubicBezTo>
                        <a:pt x="280906" y="121652"/>
                        <a:pt x="134481" y="238542"/>
                        <a:pt x="41728" y="264094"/>
                      </a:cubicBezTo>
                      <a:lnTo>
                        <a:pt x="0" y="20932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  <p:sp>
              <p:nvSpPr>
                <p:cNvPr id="68" name="U자형 화살표 64"/>
                <p:cNvSpPr/>
                <p:nvPr/>
              </p:nvSpPr>
              <p:spPr>
                <a:xfrm rot="5142278" flipH="1">
                  <a:off x="4526514" y="4173558"/>
                  <a:ext cx="418378" cy="359977"/>
                </a:xfrm>
                <a:custGeom>
                  <a:avLst/>
                  <a:gdLst>
                    <a:gd name="connsiteX0" fmla="*/ 0 w 1800000"/>
                    <a:gd name="connsiteY0" fmla="*/ 1800000 h 1800000"/>
                    <a:gd name="connsiteX1" fmla="*/ 0 w 1800000"/>
                    <a:gd name="connsiteY1" fmla="*/ 787500 h 1800000"/>
                    <a:gd name="connsiteX2" fmla="*/ 787500 w 1800000"/>
                    <a:gd name="connsiteY2" fmla="*/ 0 h 1800000"/>
                    <a:gd name="connsiteX3" fmla="*/ 926262 w 1800000"/>
                    <a:gd name="connsiteY3" fmla="*/ 0 h 1800000"/>
                    <a:gd name="connsiteX4" fmla="*/ 1713762 w 1800000"/>
                    <a:gd name="connsiteY4" fmla="*/ 787500 h 1800000"/>
                    <a:gd name="connsiteX5" fmla="*/ 1713762 w 1800000"/>
                    <a:gd name="connsiteY5" fmla="*/ 1214334 h 1800000"/>
                    <a:gd name="connsiteX6" fmla="*/ 1800000 w 1800000"/>
                    <a:gd name="connsiteY6" fmla="*/ 1214334 h 1800000"/>
                    <a:gd name="connsiteX7" fmla="*/ 1685754 w 1800000"/>
                    <a:gd name="connsiteY7" fmla="*/ 1350000 h 1800000"/>
                    <a:gd name="connsiteX8" fmla="*/ 1571508 w 1800000"/>
                    <a:gd name="connsiteY8" fmla="*/ 1214334 h 1800000"/>
                    <a:gd name="connsiteX9" fmla="*/ 1657746 w 1800000"/>
                    <a:gd name="connsiteY9" fmla="*/ 1214334 h 1800000"/>
                    <a:gd name="connsiteX10" fmla="*/ 1657746 w 1800000"/>
                    <a:gd name="connsiteY10" fmla="*/ 787500 h 1800000"/>
                    <a:gd name="connsiteX11" fmla="*/ 926262 w 1800000"/>
                    <a:gd name="connsiteY11" fmla="*/ 56016 h 1800000"/>
                    <a:gd name="connsiteX12" fmla="*/ 787500 w 1800000"/>
                    <a:gd name="connsiteY12" fmla="*/ 56016 h 1800000"/>
                    <a:gd name="connsiteX13" fmla="*/ 56016 w 1800000"/>
                    <a:gd name="connsiteY13" fmla="*/ 787500 h 1800000"/>
                    <a:gd name="connsiteX14" fmla="*/ 56016 w 1800000"/>
                    <a:gd name="connsiteY14" fmla="*/ 1800000 h 1800000"/>
                    <a:gd name="connsiteX15" fmla="*/ 0 w 1800000"/>
                    <a:gd name="connsiteY15" fmla="*/ 1800000 h 1800000"/>
                    <a:gd name="connsiteX0" fmla="*/ 0 w 1800000"/>
                    <a:gd name="connsiteY0" fmla="*/ 1800000 h 1800000"/>
                    <a:gd name="connsiteX1" fmla="*/ 0 w 1800000"/>
                    <a:gd name="connsiteY1" fmla="*/ 787500 h 1800000"/>
                    <a:gd name="connsiteX2" fmla="*/ 787500 w 1800000"/>
                    <a:gd name="connsiteY2" fmla="*/ 0 h 1800000"/>
                    <a:gd name="connsiteX3" fmla="*/ 926262 w 1800000"/>
                    <a:gd name="connsiteY3" fmla="*/ 0 h 1800000"/>
                    <a:gd name="connsiteX4" fmla="*/ 1713762 w 1800000"/>
                    <a:gd name="connsiteY4" fmla="*/ 787500 h 1800000"/>
                    <a:gd name="connsiteX5" fmla="*/ 1713762 w 1800000"/>
                    <a:gd name="connsiteY5" fmla="*/ 1214334 h 1800000"/>
                    <a:gd name="connsiteX6" fmla="*/ 1800000 w 1800000"/>
                    <a:gd name="connsiteY6" fmla="*/ 1214334 h 1800000"/>
                    <a:gd name="connsiteX7" fmla="*/ 1685754 w 1800000"/>
                    <a:gd name="connsiteY7" fmla="*/ 1350000 h 1800000"/>
                    <a:gd name="connsiteX8" fmla="*/ 1571508 w 1800000"/>
                    <a:gd name="connsiteY8" fmla="*/ 1214334 h 1800000"/>
                    <a:gd name="connsiteX9" fmla="*/ 1657746 w 1800000"/>
                    <a:gd name="connsiteY9" fmla="*/ 1214334 h 1800000"/>
                    <a:gd name="connsiteX10" fmla="*/ 1657746 w 1800000"/>
                    <a:gd name="connsiteY10" fmla="*/ 787500 h 1800000"/>
                    <a:gd name="connsiteX11" fmla="*/ 926262 w 1800000"/>
                    <a:gd name="connsiteY11" fmla="*/ 56016 h 1800000"/>
                    <a:gd name="connsiteX12" fmla="*/ 787500 w 1800000"/>
                    <a:gd name="connsiteY12" fmla="*/ 56016 h 1800000"/>
                    <a:gd name="connsiteX13" fmla="*/ 56016 w 1800000"/>
                    <a:gd name="connsiteY13" fmla="*/ 787500 h 1800000"/>
                    <a:gd name="connsiteX14" fmla="*/ 272710 w 1800000"/>
                    <a:gd name="connsiteY14" fmla="*/ 264094 h 1800000"/>
                    <a:gd name="connsiteX15" fmla="*/ 0 w 1800000"/>
                    <a:gd name="connsiteY15" fmla="*/ 1800000 h 1800000"/>
                    <a:gd name="connsiteX0" fmla="*/ 230982 w 1800000"/>
                    <a:gd name="connsiteY0" fmla="*/ 209325 h 1350000"/>
                    <a:gd name="connsiteX1" fmla="*/ 0 w 1800000"/>
                    <a:gd name="connsiteY1" fmla="*/ 787500 h 1350000"/>
                    <a:gd name="connsiteX2" fmla="*/ 787500 w 1800000"/>
                    <a:gd name="connsiteY2" fmla="*/ 0 h 1350000"/>
                    <a:gd name="connsiteX3" fmla="*/ 926262 w 1800000"/>
                    <a:gd name="connsiteY3" fmla="*/ 0 h 1350000"/>
                    <a:gd name="connsiteX4" fmla="*/ 1713762 w 1800000"/>
                    <a:gd name="connsiteY4" fmla="*/ 787500 h 1350000"/>
                    <a:gd name="connsiteX5" fmla="*/ 1713762 w 1800000"/>
                    <a:gd name="connsiteY5" fmla="*/ 1214334 h 1350000"/>
                    <a:gd name="connsiteX6" fmla="*/ 1800000 w 1800000"/>
                    <a:gd name="connsiteY6" fmla="*/ 1214334 h 1350000"/>
                    <a:gd name="connsiteX7" fmla="*/ 1685754 w 1800000"/>
                    <a:gd name="connsiteY7" fmla="*/ 1350000 h 1350000"/>
                    <a:gd name="connsiteX8" fmla="*/ 1571508 w 1800000"/>
                    <a:gd name="connsiteY8" fmla="*/ 1214334 h 1350000"/>
                    <a:gd name="connsiteX9" fmla="*/ 1657746 w 1800000"/>
                    <a:gd name="connsiteY9" fmla="*/ 1214334 h 1350000"/>
                    <a:gd name="connsiteX10" fmla="*/ 1657746 w 1800000"/>
                    <a:gd name="connsiteY10" fmla="*/ 787500 h 1350000"/>
                    <a:gd name="connsiteX11" fmla="*/ 926262 w 1800000"/>
                    <a:gd name="connsiteY11" fmla="*/ 56016 h 1350000"/>
                    <a:gd name="connsiteX12" fmla="*/ 787500 w 1800000"/>
                    <a:gd name="connsiteY12" fmla="*/ 56016 h 1350000"/>
                    <a:gd name="connsiteX13" fmla="*/ 56016 w 1800000"/>
                    <a:gd name="connsiteY13" fmla="*/ 787500 h 1350000"/>
                    <a:gd name="connsiteX14" fmla="*/ 272710 w 1800000"/>
                    <a:gd name="connsiteY14" fmla="*/ 264094 h 1350000"/>
                    <a:gd name="connsiteX15" fmla="*/ 230982 w 1800000"/>
                    <a:gd name="connsiteY15" fmla="*/ 209325 h 1350000"/>
                    <a:gd name="connsiteX0" fmla="*/ 230982 w 1800000"/>
                    <a:gd name="connsiteY0" fmla="*/ 209325 h 1350000"/>
                    <a:gd name="connsiteX1" fmla="*/ 0 w 1800000"/>
                    <a:gd name="connsiteY1" fmla="*/ 787500 h 1350000"/>
                    <a:gd name="connsiteX2" fmla="*/ 787500 w 1800000"/>
                    <a:gd name="connsiteY2" fmla="*/ 0 h 1350000"/>
                    <a:gd name="connsiteX3" fmla="*/ 926262 w 1800000"/>
                    <a:gd name="connsiteY3" fmla="*/ 0 h 1350000"/>
                    <a:gd name="connsiteX4" fmla="*/ 1713762 w 1800000"/>
                    <a:gd name="connsiteY4" fmla="*/ 787500 h 1350000"/>
                    <a:gd name="connsiteX5" fmla="*/ 1713762 w 1800000"/>
                    <a:gd name="connsiteY5" fmla="*/ 1214334 h 1350000"/>
                    <a:gd name="connsiteX6" fmla="*/ 1800000 w 1800000"/>
                    <a:gd name="connsiteY6" fmla="*/ 1214334 h 1350000"/>
                    <a:gd name="connsiteX7" fmla="*/ 1685754 w 1800000"/>
                    <a:gd name="connsiteY7" fmla="*/ 1350000 h 1350000"/>
                    <a:gd name="connsiteX8" fmla="*/ 1571508 w 1800000"/>
                    <a:gd name="connsiteY8" fmla="*/ 1214334 h 1350000"/>
                    <a:gd name="connsiteX9" fmla="*/ 1657746 w 1800000"/>
                    <a:gd name="connsiteY9" fmla="*/ 1214334 h 1350000"/>
                    <a:gd name="connsiteX10" fmla="*/ 1657746 w 1800000"/>
                    <a:gd name="connsiteY10" fmla="*/ 787500 h 1350000"/>
                    <a:gd name="connsiteX11" fmla="*/ 926262 w 1800000"/>
                    <a:gd name="connsiteY11" fmla="*/ 56016 h 1350000"/>
                    <a:gd name="connsiteX12" fmla="*/ 787500 w 1800000"/>
                    <a:gd name="connsiteY12" fmla="*/ 56016 h 1350000"/>
                    <a:gd name="connsiteX13" fmla="*/ 272710 w 1800000"/>
                    <a:gd name="connsiteY13" fmla="*/ 264094 h 1350000"/>
                    <a:gd name="connsiteX14" fmla="*/ 230982 w 1800000"/>
                    <a:gd name="connsiteY14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569018" h="1350000">
                      <a:moveTo>
                        <a:pt x="0" y="209325"/>
                      </a:moveTo>
                      <a:cubicBezTo>
                        <a:pt x="185506" y="139550"/>
                        <a:pt x="244806" y="60250"/>
                        <a:pt x="556518" y="0"/>
                      </a:cubicBezTo>
                      <a:lnTo>
                        <a:pt x="695280" y="0"/>
                      </a:lnTo>
                      <a:cubicBezTo>
                        <a:pt x="1130204" y="0"/>
                        <a:pt x="1482780" y="352576"/>
                        <a:pt x="1482780" y="787500"/>
                      </a:cubicBezTo>
                      <a:lnTo>
                        <a:pt x="1482780" y="1214334"/>
                      </a:lnTo>
                      <a:lnTo>
                        <a:pt x="1569018" y="1214334"/>
                      </a:lnTo>
                      <a:lnTo>
                        <a:pt x="1454772" y="1350000"/>
                      </a:lnTo>
                      <a:lnTo>
                        <a:pt x="1340526" y="1214334"/>
                      </a:lnTo>
                      <a:lnTo>
                        <a:pt x="1426764" y="1214334"/>
                      </a:lnTo>
                      <a:lnTo>
                        <a:pt x="1426764" y="787500"/>
                      </a:lnTo>
                      <a:cubicBezTo>
                        <a:pt x="1426764" y="383513"/>
                        <a:pt x="1099267" y="56016"/>
                        <a:pt x="695280" y="56016"/>
                      </a:cubicBezTo>
                      <a:lnTo>
                        <a:pt x="556518" y="56016"/>
                      </a:lnTo>
                      <a:cubicBezTo>
                        <a:pt x="280906" y="121652"/>
                        <a:pt x="134481" y="238542"/>
                        <a:pt x="41728" y="264094"/>
                      </a:cubicBezTo>
                      <a:lnTo>
                        <a:pt x="0" y="20932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직사각형 68"/>
                <p:cNvSpPr/>
                <p:nvPr/>
              </p:nvSpPr>
              <p:spPr>
                <a:xfrm>
                  <a:off x="3055153" y="4285440"/>
                  <a:ext cx="1276440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200" b="1">
                      <a:solidFill>
                        <a:srgbClr val="444444"/>
                      </a:solidFill>
                      <a:latin typeface="+mj-ea"/>
                      <a:ea typeface="+mj-ea"/>
                      <a:cs typeface="Noto Sans CJK KR" pitchFamily="34" charset="-120"/>
                    </a:rPr>
                    <a:t>④ STOP_HOLD</a:t>
                  </a:r>
                  <a:endParaRPr lang="en-US" altLang="ko-KR" sz="1200" b="1" dirty="0">
                    <a:latin typeface="+mj-ea"/>
                    <a:ea typeface="+mj-ea"/>
                  </a:endParaRPr>
                </a:p>
              </p:txBody>
            </p:sp>
          </p:grpSp>
        </p:grpSp>
        <p:cxnSp>
          <p:nvCxnSpPr>
            <p:cNvPr id="46" name="직선 화살표 연결선 45"/>
            <p:cNvCxnSpPr/>
            <p:nvPr/>
          </p:nvCxnSpPr>
          <p:spPr>
            <a:xfrm>
              <a:off x="2812694" y="4910052"/>
              <a:ext cx="419622" cy="0"/>
            </a:xfrm>
            <a:prstGeom prst="straightConnector1">
              <a:avLst/>
            </a:prstGeom>
            <a:ln w="12700">
              <a:solidFill>
                <a:srgbClr val="1D0F0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3184531" y="4802330"/>
              <a:ext cx="87235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smtClean="0">
                  <a:solidFill>
                    <a:srgbClr val="444444"/>
                  </a:solidFill>
                  <a:latin typeface="+mj-ea"/>
                  <a:ea typeface="+mj-ea"/>
                </a:rPr>
                <a:t>DESTINATION</a:t>
              </a:r>
              <a:endParaRPr lang="ko-KR" altLang="en-US" sz="800" b="1">
                <a:solidFill>
                  <a:srgbClr val="444444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CORE ENGINEERING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Safety Filter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09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navigation 의도와 하드웨어 실행 명령을 분리하여 myAGV의 deadzone, overshoot, stale command 문제를 흡수했습니다.</a:t>
            </a:r>
            <a:endParaRPr lang="en-US" sz="17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문제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33375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57984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작은 angular.z 명령이 실제 회전으로 이어지지 않는 deadzone</a:t>
            </a:r>
            <a:endParaRPr lang="en-US" sz="134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회전과 직진 성분이 섞일 때 차체 불안정</a:t>
            </a:r>
            <a:endParaRPr lang="en-US" sz="134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회전 종료 직후 다음 명령이 들어오며 순간 튐 발생</a:t>
            </a:r>
            <a:endParaRPr lang="en-US" sz="134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목표 근처에서 Nav2가 작은 yaw 명령을 지속 발행</a:t>
            </a:r>
            <a:endParaRPr lang="en-US" sz="134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87952" y="1719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구조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87952" y="2048256"/>
            <a:ext cx="3246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2157984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Nav2 / primitive / align node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/cmd_vel_nav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cmd_vel_safety_filter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/cmd_vel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myAGV driver / MCU</a:t>
            </a:r>
            <a:endParaRPr lang="en-US" sz="155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0960" y="17190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효과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048256"/>
            <a:ext cx="3977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157984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상위 노드는 “이동 의도”를 출력</a:t>
            </a:r>
            <a:endParaRPr lang="en-US" sz="13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filter는 실제 하드웨어가 수행 가능한 명령으로 변환</a:t>
            </a:r>
            <a:endParaRPr lang="en-US" sz="13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펌웨어 수정 없이 ROS2 상위 계층에서 비선형 응답을 완화</a:t>
            </a:r>
            <a:endParaRPr lang="en-US" sz="13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급발진, yaw deadzone, stale cmd 리스크를 통합 처리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" y="402793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Mode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" y="4306824"/>
            <a:ext cx="22402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62072" y="402793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목적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34640" y="4306824"/>
            <a:ext cx="38404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402793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해결 문제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75120" y="4306824"/>
            <a:ext cx="49834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61688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STOP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4575048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4361688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입력 없음/timeout 시 정지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834640" y="4575048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361688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stale command 방지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675120" y="4575048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29912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STRAIGHT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4843272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4629912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직진 중 회전 성분 제거/제한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834640" y="4843272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4629912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직진 안정성 확보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675120" y="4843272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98136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TURN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94360" y="5111496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0360" y="4898136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회전 중 linear.x 제거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834640" y="5111496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4898136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회전-직진 혼합 튐 방지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675120" y="5111496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166360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LATERAL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94360" y="5379720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0360" y="5166360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메카넘 lateral 이동 허용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834640" y="5379720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5166360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ArUco/AGV align 지원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675120" y="5379720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434584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INPLACE_SMALL_TURN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94360" y="5647944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0360" y="5434584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작은 wz 지속 시 boost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834640" y="5647944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5434584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 yaw deadzone 대응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675120" y="5647944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702808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TURN_EXIT_HOLD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880360" y="5702808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회전 종료 후 정지 유지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720840" y="5702808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관성/전환 충돌 완화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834640" y="3977640"/>
            <a:ext cx="0" cy="193852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75120" y="3977640"/>
            <a:ext cx="0" cy="193852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4360" y="397764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4360" y="5916168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CORE ENGINEERING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AGV KPI 검증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10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Velocity Safety Filter </a:t>
            </a:r>
            <a:r>
              <a:rPr lang="en-US" sz="1700" b="1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적용 </a:t>
            </a:r>
            <a:r>
              <a:rPr lang="en-US" sz="1700" b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전-후 </a:t>
            </a:r>
            <a:r>
              <a:rPr lang="en-US" sz="17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/cmd_vel과 /odometry/filtered 정합성 및 peak overshoot</a:t>
            </a:r>
            <a:r>
              <a:rPr lang="en-US" sz="1700" b="1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를 </a:t>
            </a:r>
            <a:r>
              <a:rPr lang="en-US" sz="1700" b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비교</a:t>
            </a:r>
            <a:endParaRPr lang="en-US" sz="17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+mj-ea"/>
                <a:ea typeface="+mj-ea"/>
                <a:cs typeface="Noto Sans CJK KR" pitchFamily="34" charset="-120"/>
              </a:rPr>
              <a:t>46.8% → 17.6%</a:t>
            </a:r>
            <a:endParaRPr lang="en-US" sz="23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2313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Linear.x NRMSE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6151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cmd_vel–odom tracking error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" y="2880360"/>
            <a:ext cx="274320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856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+mj-ea"/>
                <a:ea typeface="+mj-ea"/>
                <a:cs typeface="Noto Sans CJK KR" pitchFamily="34" charset="-120"/>
              </a:rPr>
              <a:t>76.3% → 28.0%</a:t>
            </a:r>
            <a:endParaRPr lang="en-US" sz="2300"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11880" y="2313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Angular.z NRMSE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11880" y="26151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cmd_vel–odom tracking error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11880" y="2880360"/>
            <a:ext cx="274320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8562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+mj-ea"/>
                <a:ea typeface="+mj-ea"/>
                <a:cs typeface="Noto Sans CJK KR" pitchFamily="34" charset="-120"/>
              </a:rPr>
              <a:t>0.31 → 0.01 m/s</a:t>
            </a:r>
            <a:endParaRPr lang="en-US" sz="230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29400" y="23134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Linear Peak Overshoot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29400" y="26151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−96.8% 개선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629400" y="2880360"/>
            <a:ext cx="242316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1856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+mj-ea"/>
                <a:ea typeface="+mj-ea"/>
                <a:cs typeface="Noto Sans CJK KR" pitchFamily="34" charset="-120"/>
              </a:rPr>
              <a:t>0.87 → 0.22 rad/s</a:t>
            </a:r>
            <a:endParaRPr lang="en-US" sz="2300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326880" y="23134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Angular Peak Overshoot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326880" y="2615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−74.7% 개선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326880" y="2880360"/>
            <a:ext cx="233172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360420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KPI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360" y="3639312"/>
            <a:ext cx="20574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192" y="3360420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측정 방법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651760" y="3639312"/>
            <a:ext cx="30175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96712" y="3360420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필요 Topic / Log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669280" y="3639312"/>
            <a:ext cx="34290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25712" y="336042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해석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098280" y="3639312"/>
            <a:ext cx="25603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94176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cmd tracking NRMSE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4360" y="4003243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3694176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/cmd_vel과 /odometry/filtered 속도 비교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651760" y="4003243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3694176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/cmd_vel_nav, /cmd_vel, /odometry/filtered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669280" y="4003243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3694176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filter 적용 후 RMS error 감소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098280" y="4003243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058107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peak overshoot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94360" y="4367174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4058107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odom peak - command peak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651760" y="4367174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4058107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동일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669280" y="4367174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0" y="4058107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급발진/순간 튐 억제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098280" y="4367174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422038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stop settling time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94360" y="4731106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97480" y="4422038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stop 명령 후 속도 임계값 이하까지 시간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651760" y="4731106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4422038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/cmd_vel, /odometry/filtered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669280" y="4731106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0" y="4422038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정지 안정성 검증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098280" y="4731106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785970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goal position/yaw error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94360" y="5095037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97480" y="4785970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goal pose와 도착 pose 차이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2651760" y="5095037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15000" y="4785970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goals.yaml, /amcl_pose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669280" y="5095037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0" y="4785970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navigation 정확도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9098280" y="5095037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5149901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route success rate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2697480" y="5149901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N회 중 goal 도착 성공 횟수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715000" y="5149901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mission log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9144000" y="5149901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시연 안정성</a:t>
            </a:r>
            <a:endParaRPr lang="en-US" sz="1040" dirty="0">
              <a:latin typeface="+mj-ea"/>
              <a:ea typeface="+mj-ea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651760" y="3310128"/>
            <a:ext cx="0" cy="21488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69280" y="3310128"/>
            <a:ext cx="0" cy="21488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98280" y="3310128"/>
            <a:ext cx="0" cy="21488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4360" y="3310128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4360" y="5458968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" y="5650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결과 해석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594360" y="5980176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4360" y="6089904"/>
            <a:ext cx="11064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safety filter는 순간 cmd_vel을 그대로 추종시키는 것이 아니라, myAGV 하위 구동계의 angular deadzone과 응답 지연을 고려해 effective command로 변환하여 odom peak와 RMS error를 낮췄습니다.</a:t>
            </a:r>
            <a:endParaRPr lang="en-US" sz="124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CORE ENGINEERING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Eye-in-Hand Vision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11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카메라가 그리퍼에 부착되어 있어, 비전 좌표 계산은 로봇팔 관측 자세와 반드시 동기화되어야 합니다.</a:t>
            </a:r>
            <a:endParaRPr lang="en-US" sz="17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관측 동기화 Flow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37490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57984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brain_node</a:t>
            </a:r>
            <a:endParaRPr lang="en-US" sz="137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 /observe_move</a:t>
            </a:r>
            <a:endParaRPr lang="en-US" sz="137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pick_eyeinhand_node</a:t>
            </a:r>
            <a:endParaRPr lang="en-US" sz="137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 send_angles(SHELF_ANGLES[level])</a:t>
            </a:r>
            <a:endParaRPr lang="en-US" sz="137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 settle wait</a:t>
            </a:r>
            <a:endParaRPr lang="en-US" sz="137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 /observe_ready + /observe_pose</a:t>
            </a:r>
            <a:endParaRPr lang="en-US" sz="137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vision_eyeinhand_node</a:t>
            </a:r>
            <a:endParaRPr lang="en-US" sz="137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 T_cam2base 갱신</a:t>
            </a:r>
            <a:endParaRPr lang="en-US" sz="137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 YOLO + depth</a:t>
            </a:r>
            <a:endParaRPr lang="en-US" sz="137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 /box_pose 또는 /distance_status</a:t>
            </a:r>
            <a:endParaRPr lang="en-US" sz="137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17720" y="1719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설계 근거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2048256"/>
            <a:ext cx="33375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157984"/>
            <a:ext cx="3337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eye-in-hand 구조에서는 카메라 좌표계가 arm 자세에 따라 계속 바뀜</a:t>
            </a:r>
            <a:endParaRPr lang="en-US" sz="133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arm이 관측 자세에 도달하기 전 좌표 계산 시 오차 발생</a:t>
            </a:r>
            <a:endParaRPr lang="en-US" sz="133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/observe_ready는 흔들림/미도달 상태에서 vision 실행되는 문제를 줄임</a:t>
            </a:r>
            <a:endParaRPr lang="en-US" sz="133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send_coords 대신 send_angles 사용으로 IK 복수해 문제를 회피</a:t>
            </a:r>
            <a:endParaRPr lang="en-US" sz="133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11312" y="1719072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Vision KPI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11312" y="2048256"/>
            <a:ext cx="3447288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2157984"/>
            <a:ext cx="34472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detection success rate: N회 중 YOLO/depth 좌표 생성 성공</a:t>
            </a:r>
            <a:endParaRPr lang="en-US" sz="133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depth valid ratio: ROI 내 valid depth pixel 비율</a:t>
            </a:r>
            <a:endParaRPr lang="en-US" sz="133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pose latency: observe_ready → box_pose 시간</a:t>
            </a:r>
            <a:endParaRPr lang="en-US" sz="133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coordinate repeatability: 동일 물체 x/y/z 분산</a:t>
            </a:r>
            <a:endParaRPr lang="en-US" sz="133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failure cause: depth invalid / frame cut / bbox reject</a:t>
            </a:r>
            <a:endParaRPr lang="en-US" sz="133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5715000"/>
            <a:ext cx="110642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[RGB-D 검출 이미지 / depth valid pixel / 좌표 분산 그래프 삽입 위치]</a:t>
            </a:r>
            <a:endParaRPr lang="en-US" sz="15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CORE ENGINEERING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Manipulation &amp; AGV Align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12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Pick Sequence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31546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64792"/>
            <a:ext cx="3154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1. 관측 자세 이동</a:t>
            </a:r>
            <a:endParaRPr lang="en-US" sz="146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2. 물체 좌표 수신</a:t>
            </a:r>
            <a:endParaRPr lang="en-US" sz="146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3. 물체 위 waypoint 접근</a:t>
            </a:r>
            <a:endParaRPr lang="en-US" sz="146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4. 하강</a:t>
            </a:r>
            <a:endParaRPr lang="en-US" sz="146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5. gripper close</a:t>
            </a:r>
            <a:endParaRPr lang="en-US" sz="146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6. gripper value로 성공 확인</a:t>
            </a:r>
            <a:endParaRPr lang="en-US" sz="146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7. 실패 시 재관측 루프</a:t>
            </a:r>
            <a:endParaRPr lang="en-US" sz="146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1325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AGV-Arm Align Loop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023360" y="1655064"/>
            <a:ext cx="37033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764792"/>
            <a:ext cx="3703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vision_eyeinhand_node</a:t>
            </a:r>
            <a:endParaRPr lang="en-US" sz="139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 /distance_status 또는 /marker_agv_pose</a:t>
            </a:r>
            <a:endParaRPr lang="en-US" sz="139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agv_align_node</a:t>
            </a:r>
            <a:endParaRPr lang="en-US" sz="139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 /agv_align</a:t>
            </a:r>
            <a:endParaRPr lang="en-US" sz="139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agv_align_bridge_node</a:t>
            </a:r>
            <a:endParaRPr lang="en-US" sz="139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 /cmd_vel_nav</a:t>
            </a:r>
            <a:endParaRPr lang="en-US" sz="139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cmd_vel_safety_filter</a:t>
            </a:r>
            <a:endParaRPr lang="en-US" sz="139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 /cmd_vel</a:t>
            </a:r>
            <a:endParaRPr lang="en-US" sz="139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정지 → 재측정 → 짧게 이동 → 반복</a:t>
            </a:r>
            <a:endParaRPr lang="en-US" sz="1390"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28432" y="132588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시스템 오차 관점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28432" y="1655064"/>
            <a:ext cx="3630168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1764792"/>
            <a:ext cx="363016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파지 실패는 로봇팔 단독 문제가 아니라 다음 오차의 합입니다.</a:t>
            </a:r>
            <a:endParaRPr lang="en-US" sz="1280" dirty="0">
              <a:latin typeface="+mj-ea"/>
              <a:ea typeface="+mj-ea"/>
            </a:endParaRPr>
          </a:p>
          <a:p>
            <a:pPr marL="0" indent="0" algn="l">
              <a:buNone/>
            </a:pPr>
            <a:endParaRPr lang="en-US" sz="128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좌표 계산 오차</a:t>
            </a:r>
            <a:endParaRPr lang="en-US" sz="128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실제 관절 도달 오차</a:t>
            </a:r>
            <a:endParaRPr lang="en-US" sz="128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gripper offset</a:t>
            </a:r>
            <a:endParaRPr lang="en-US" sz="128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AGV 정차 x/y/yaw 오차</a:t>
            </a:r>
            <a:endParaRPr lang="en-US" sz="128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랙 높이와 선반 간격 제약</a:t>
            </a:r>
            <a:endParaRPr lang="en-US" sz="1280" dirty="0">
              <a:latin typeface="+mj-ea"/>
              <a:ea typeface="+mj-ea"/>
            </a:endParaRPr>
          </a:p>
          <a:p>
            <a:pPr marL="0" indent="0" algn="l">
              <a:buNone/>
            </a:pPr>
            <a:endParaRPr lang="en-US" sz="128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정지 상태 측정 → 짧은 보정 → 재관측 구조로 누적 오차를 줄였습니다.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" y="5673852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KPI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30175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5673852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측정값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11880" y="5952744"/>
            <a:ext cx="80467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007608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pick success rate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" y="6025896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6007608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N회 중 pick_done 비율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11880" y="6025896"/>
            <a:ext cx="8046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080760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retry success rate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360" y="6099048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6080760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1차 실패 후 재관측 성공률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11880" y="6099048"/>
            <a:ext cx="8046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153912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AGV align 후 성공률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4360" y="6172200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6153912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too_far/too_close 보정 후 성공 여부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611880" y="6172200"/>
            <a:ext cx="8046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227064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gripper check result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657600" y="6227064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close 후 gripper value</a:t>
            </a:r>
            <a:endParaRPr lang="en-US" sz="980" dirty="0">
              <a:latin typeface="+mj-ea"/>
              <a:ea typeface="+mj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11880" y="5623560"/>
            <a:ext cx="0" cy="621792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562356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6245352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6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VERIFICATION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smtClean="0">
                <a:solidFill>
                  <a:srgbClr val="161616"/>
                </a:solidFill>
                <a:latin typeface="+mj-ea"/>
                <a:ea typeface="+mj-ea"/>
              </a:rPr>
              <a:t>통합 </a:t>
            </a: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주행</a:t>
            </a:r>
            <a:r>
              <a:rPr lang="en-US" sz="2800" b="1" smtClean="0">
                <a:solidFill>
                  <a:srgbClr val="161616"/>
                </a:solidFill>
                <a:latin typeface="+mj-ea"/>
                <a:ea typeface="+mj-ea"/>
              </a:rPr>
              <a:t> KPI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13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6" name="Text 5"/>
          <p:cNvSpPr/>
          <p:nvPr/>
        </p:nvSpPr>
        <p:spPr>
          <a:xfrm>
            <a:off x="621792" y="13761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구분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7" name="Shape 6"/>
          <p:cNvSpPr/>
          <p:nvPr/>
        </p:nvSpPr>
        <p:spPr>
          <a:xfrm>
            <a:off x="594360" y="1655064"/>
            <a:ext cx="11887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1810512" y="1376172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KPI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9" name="Shape 8"/>
          <p:cNvSpPr/>
          <p:nvPr/>
        </p:nvSpPr>
        <p:spPr>
          <a:xfrm>
            <a:off x="1783080" y="1655064"/>
            <a:ext cx="26060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0" name="Text 9"/>
          <p:cNvSpPr/>
          <p:nvPr/>
        </p:nvSpPr>
        <p:spPr>
          <a:xfrm>
            <a:off x="4416552" y="137617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계산 / 측정 방법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4389120" y="1655064"/>
            <a:ext cx="37033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2" name="Text 11"/>
          <p:cNvSpPr/>
          <p:nvPr/>
        </p:nvSpPr>
        <p:spPr>
          <a:xfrm>
            <a:off x="8119872" y="137617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의미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8092440" y="1655064"/>
            <a:ext cx="356616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4" name="Text 13"/>
          <p:cNvSpPr/>
          <p:nvPr/>
        </p:nvSpPr>
        <p:spPr>
          <a:xfrm>
            <a:off x="640080" y="1709928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AGV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594360" y="2128266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6" name="Text 15"/>
          <p:cNvSpPr/>
          <p:nvPr/>
        </p:nvSpPr>
        <p:spPr>
          <a:xfrm>
            <a:off x="1828800" y="1709928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cmd tracking NRMSE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1783080" y="2128266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8" name="Text 17"/>
          <p:cNvSpPr/>
          <p:nvPr/>
        </p:nvSpPr>
        <p:spPr>
          <a:xfrm>
            <a:off x="4434840" y="1709928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/cmd_vel vs /odometry/filtered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19" name="Shape 18"/>
          <p:cNvSpPr/>
          <p:nvPr/>
        </p:nvSpPr>
        <p:spPr>
          <a:xfrm>
            <a:off x="4389120" y="2128266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0" name="Text 19"/>
          <p:cNvSpPr/>
          <p:nvPr/>
        </p:nvSpPr>
        <p:spPr>
          <a:xfrm>
            <a:off x="8138160" y="1709928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filter 효과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8092440" y="2128266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2" name="Text 21"/>
          <p:cNvSpPr/>
          <p:nvPr/>
        </p:nvSpPr>
        <p:spPr>
          <a:xfrm>
            <a:off x="640080" y="2183130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AGV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594360" y="2601468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4" name="Text 23"/>
          <p:cNvSpPr/>
          <p:nvPr/>
        </p:nvSpPr>
        <p:spPr>
          <a:xfrm>
            <a:off x="1828800" y="2183130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peak overshoot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25" name="Shape 24"/>
          <p:cNvSpPr/>
          <p:nvPr/>
        </p:nvSpPr>
        <p:spPr>
          <a:xfrm>
            <a:off x="1783080" y="2601468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6" name="Text 25"/>
          <p:cNvSpPr/>
          <p:nvPr/>
        </p:nvSpPr>
        <p:spPr>
          <a:xfrm>
            <a:off x="4434840" y="2183130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odom peak - command peak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27" name="Shape 26"/>
          <p:cNvSpPr/>
          <p:nvPr/>
        </p:nvSpPr>
        <p:spPr>
          <a:xfrm>
            <a:off x="4389120" y="2601468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8" name="Text 27"/>
          <p:cNvSpPr/>
          <p:nvPr/>
        </p:nvSpPr>
        <p:spPr>
          <a:xfrm>
            <a:off x="8138160" y="2183130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급발진 억제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8092440" y="2601468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0" name="Text 29"/>
          <p:cNvSpPr/>
          <p:nvPr/>
        </p:nvSpPr>
        <p:spPr>
          <a:xfrm>
            <a:off x="640080" y="2656332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AGV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1" name="Shape 30"/>
          <p:cNvSpPr/>
          <p:nvPr/>
        </p:nvSpPr>
        <p:spPr>
          <a:xfrm>
            <a:off x="594360" y="3074670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2" name="Text 31"/>
          <p:cNvSpPr/>
          <p:nvPr/>
        </p:nvSpPr>
        <p:spPr>
          <a:xfrm>
            <a:off x="1828800" y="2656332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goal position/yaw error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1783080" y="3074670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4" name="Text 33"/>
          <p:cNvSpPr/>
          <p:nvPr/>
        </p:nvSpPr>
        <p:spPr>
          <a:xfrm>
            <a:off x="4434840" y="2656332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goal pose와 도착 pose 차이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5" name="Shape 34"/>
          <p:cNvSpPr/>
          <p:nvPr/>
        </p:nvSpPr>
        <p:spPr>
          <a:xfrm>
            <a:off x="4389120" y="3074670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6" name="Text 35"/>
          <p:cNvSpPr/>
          <p:nvPr/>
        </p:nvSpPr>
        <p:spPr>
          <a:xfrm>
            <a:off x="8138160" y="2656332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도착 정확도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7" name="Shape 36"/>
          <p:cNvSpPr/>
          <p:nvPr/>
        </p:nvSpPr>
        <p:spPr>
          <a:xfrm>
            <a:off x="8092440" y="3074670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8" name="Text 37"/>
          <p:cNvSpPr/>
          <p:nvPr/>
        </p:nvSpPr>
        <p:spPr>
          <a:xfrm>
            <a:off x="640080" y="3129534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ArUco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9" name="Shape 38"/>
          <p:cNvSpPr/>
          <p:nvPr/>
        </p:nvSpPr>
        <p:spPr>
          <a:xfrm>
            <a:off x="594360" y="3547872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0" name="Text 39"/>
          <p:cNvSpPr/>
          <p:nvPr/>
        </p:nvSpPr>
        <p:spPr>
          <a:xfrm>
            <a:off x="1828800" y="3129534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align success/time/error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1" name="Shape 40"/>
          <p:cNvSpPr/>
          <p:nvPr/>
        </p:nvSpPr>
        <p:spPr>
          <a:xfrm>
            <a:off x="1783080" y="3547872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2" name="Text 41"/>
          <p:cNvSpPr/>
          <p:nvPr/>
        </p:nvSpPr>
        <p:spPr>
          <a:xfrm>
            <a:off x="4434840" y="3129534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done 비율, start~done, center error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3" name="Shape 42"/>
          <p:cNvSpPr/>
          <p:nvPr/>
        </p:nvSpPr>
        <p:spPr>
          <a:xfrm>
            <a:off x="4389120" y="3547872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4" name="Text 43"/>
          <p:cNvSpPr/>
          <p:nvPr/>
        </p:nvSpPr>
        <p:spPr>
          <a:xfrm>
            <a:off x="8138160" y="3129534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정렬 성능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5" name="Shape 44"/>
          <p:cNvSpPr/>
          <p:nvPr/>
        </p:nvSpPr>
        <p:spPr>
          <a:xfrm>
            <a:off x="8092440" y="3547872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6" name="Text 45"/>
          <p:cNvSpPr/>
          <p:nvPr/>
        </p:nvSpPr>
        <p:spPr>
          <a:xfrm>
            <a:off x="640080" y="3602736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Vision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7" name="Shape 46"/>
          <p:cNvSpPr/>
          <p:nvPr/>
        </p:nvSpPr>
        <p:spPr>
          <a:xfrm>
            <a:off x="594360" y="4021074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8" name="Text 47"/>
          <p:cNvSpPr/>
          <p:nvPr/>
        </p:nvSpPr>
        <p:spPr>
          <a:xfrm>
            <a:off x="1828800" y="3602736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detection/depth/latency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9" name="Shape 48"/>
          <p:cNvSpPr/>
          <p:nvPr/>
        </p:nvSpPr>
        <p:spPr>
          <a:xfrm>
            <a:off x="1783080" y="4021074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0" name="Text 49"/>
          <p:cNvSpPr/>
          <p:nvPr/>
        </p:nvSpPr>
        <p:spPr>
          <a:xfrm>
            <a:off x="4434840" y="3602736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box_pose, valid depth, 처리 시간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1" name="Shape 50"/>
          <p:cNvSpPr/>
          <p:nvPr/>
        </p:nvSpPr>
        <p:spPr>
          <a:xfrm>
            <a:off x="4389120" y="4021074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2" name="Text 51"/>
          <p:cNvSpPr/>
          <p:nvPr/>
        </p:nvSpPr>
        <p:spPr>
          <a:xfrm>
            <a:off x="8138160" y="3602736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인지 신뢰도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3" name="Shape 52"/>
          <p:cNvSpPr/>
          <p:nvPr/>
        </p:nvSpPr>
        <p:spPr>
          <a:xfrm>
            <a:off x="8092440" y="4021074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4" name="Text 53"/>
          <p:cNvSpPr/>
          <p:nvPr/>
        </p:nvSpPr>
        <p:spPr>
          <a:xfrm>
            <a:off x="640080" y="4075938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Arm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5" name="Shape 54"/>
          <p:cNvSpPr/>
          <p:nvPr/>
        </p:nvSpPr>
        <p:spPr>
          <a:xfrm>
            <a:off x="594360" y="4494276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6" name="Text 55"/>
          <p:cNvSpPr/>
          <p:nvPr/>
        </p:nvSpPr>
        <p:spPr>
          <a:xfrm>
            <a:off x="1828800" y="4075938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pick success/retry success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7" name="Shape 56"/>
          <p:cNvSpPr/>
          <p:nvPr/>
        </p:nvSpPr>
        <p:spPr>
          <a:xfrm>
            <a:off x="1783080" y="4494276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8" name="Text 57"/>
          <p:cNvSpPr/>
          <p:nvPr/>
        </p:nvSpPr>
        <p:spPr>
          <a:xfrm>
            <a:off x="4434840" y="4075938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/pick_status, brain log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9" name="Shape 58"/>
          <p:cNvSpPr/>
          <p:nvPr/>
        </p:nvSpPr>
        <p:spPr>
          <a:xfrm>
            <a:off x="4389120" y="4494276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0" name="Text 59"/>
          <p:cNvSpPr/>
          <p:nvPr/>
        </p:nvSpPr>
        <p:spPr>
          <a:xfrm>
            <a:off x="8138160" y="4075938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조작 성공률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61" name="Shape 60"/>
          <p:cNvSpPr/>
          <p:nvPr/>
        </p:nvSpPr>
        <p:spPr>
          <a:xfrm>
            <a:off x="8092440" y="4494276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2" name="Text 61"/>
          <p:cNvSpPr/>
          <p:nvPr/>
        </p:nvSpPr>
        <p:spPr>
          <a:xfrm>
            <a:off x="640080" y="4549140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System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63" name="Shape 62"/>
          <p:cNvSpPr/>
          <p:nvPr/>
        </p:nvSpPr>
        <p:spPr>
          <a:xfrm>
            <a:off x="594360" y="4967478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4" name="Text 63"/>
          <p:cNvSpPr/>
          <p:nvPr/>
        </p:nvSpPr>
        <p:spPr>
          <a:xfrm>
            <a:off x="1828800" y="4549140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E2E success/cycle time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65" name="Shape 64"/>
          <p:cNvSpPr/>
          <p:nvPr/>
        </p:nvSpPr>
        <p:spPr>
          <a:xfrm>
            <a:off x="1783080" y="4967478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6" name="Text 65"/>
          <p:cNvSpPr/>
          <p:nvPr/>
        </p:nvSpPr>
        <p:spPr>
          <a:xfrm>
            <a:off x="4434840" y="4549140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주문 수신~완료 반환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67" name="Shape 66"/>
          <p:cNvSpPr/>
          <p:nvPr/>
        </p:nvSpPr>
        <p:spPr>
          <a:xfrm>
            <a:off x="4389120" y="4967478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8" name="Text 67"/>
          <p:cNvSpPr/>
          <p:nvPr/>
        </p:nvSpPr>
        <p:spPr>
          <a:xfrm>
            <a:off x="8138160" y="4549140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통합 완성도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69" name="Shape 68"/>
          <p:cNvSpPr/>
          <p:nvPr/>
        </p:nvSpPr>
        <p:spPr>
          <a:xfrm>
            <a:off x="8092440" y="4967478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0" name="Text 69"/>
          <p:cNvSpPr/>
          <p:nvPr/>
        </p:nvSpPr>
        <p:spPr>
          <a:xfrm>
            <a:off x="640080" y="5022342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System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71" name="Text 70"/>
          <p:cNvSpPr/>
          <p:nvPr/>
        </p:nvSpPr>
        <p:spPr>
          <a:xfrm>
            <a:off x="1828800" y="5022342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manual intervention/CPU/FPS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72" name="Text 71"/>
          <p:cNvSpPr/>
          <p:nvPr/>
        </p:nvSpPr>
        <p:spPr>
          <a:xfrm>
            <a:off x="4434840" y="5022342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수동 개입, resource log, topic hz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73" name="Text 72"/>
          <p:cNvSpPr/>
          <p:nvPr/>
        </p:nvSpPr>
        <p:spPr>
          <a:xfrm>
            <a:off x="8138160" y="5022342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자동화 수준과 병목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74" name="Shape 73"/>
          <p:cNvSpPr/>
          <p:nvPr/>
        </p:nvSpPr>
        <p:spPr>
          <a:xfrm>
            <a:off x="1783080" y="1325880"/>
            <a:ext cx="0" cy="41148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5" name="Shape 74"/>
          <p:cNvSpPr/>
          <p:nvPr/>
        </p:nvSpPr>
        <p:spPr>
          <a:xfrm>
            <a:off x="4389120" y="1325880"/>
            <a:ext cx="0" cy="41148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6" name="Shape 75"/>
          <p:cNvSpPr/>
          <p:nvPr/>
        </p:nvSpPr>
        <p:spPr>
          <a:xfrm>
            <a:off x="8092440" y="1325880"/>
            <a:ext cx="0" cy="41148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7" name="Shape 76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258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PROBLEM SOLVING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Troubleshooting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LogiFlow Team · ROS2 AGV-Arm Integrated Picking System</a:t>
            </a:r>
            <a:endParaRPr lang="en-US" sz="85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14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Case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20574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376172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원인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51760" y="1655064"/>
            <a:ext cx="36576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37617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해결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09360" y="1655064"/>
            <a:ext cx="32918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8632" y="137617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검증 지표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01200" y="1655064"/>
            <a:ext cx="20574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09928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주행 급발진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" y="2512771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709928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 cmd가 바로 하드웨어에 전달되어 myAGV deadzone/응답 지연으로 odom peak 발생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651760" y="2512771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709928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/cmd_vel_nav와 /cmd_vel 분리 + mode 기반 safety filter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09360" y="2512771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709928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NRMSE, peak overshoot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601200" y="2512771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567635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정차 정밀도 부족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3370478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2567635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map navigation 도착만으로 랙 앞 x/y/yaw 오차 잔존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651760" y="3370478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567635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Navigation 근접 이동 + ArUco final alignment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09360" y="3370478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46920" y="2567635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center error, align success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601200" y="3370478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425342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Eye-in-hand 좌표 불일치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94360" y="4228186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3425342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카메라 좌표계가 arm 자세에 따라 변화, 관측 자세 미도달 중 좌표 계산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651760" y="4228186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425342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observe_ready/observe_pose 후 T_cam2base 갱신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09360" y="4228186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46920" y="3425342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coordinate std, pose latency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601200" y="4228186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83050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파지 실패 원인 다중화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94360" y="5085893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7480" y="4283050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좌표 계산, 관절 도달, gripper offset, AGV 정차 오차가 누적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651760" y="5085893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4283050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재관측 루프 + AGV-Arm cooperative align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309360" y="5085893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46920" y="4283050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pick success, retry success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601200" y="5085893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140757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CPU/FPS 병목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697480" y="5140757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Nano/Orin 처리 분산 부족 시 camera topic hz 저하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355080" y="5140757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D435 처리 Orin 분리, TensorRT 후보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646920" y="5140757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FPS, CPU, latency</a:t>
            </a:r>
            <a:endParaRPr lang="en-US" sz="1020" dirty="0">
              <a:latin typeface="+mj-ea"/>
              <a:ea typeface="+mj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651760" y="1325880"/>
            <a:ext cx="0" cy="46177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1325880"/>
            <a:ext cx="0" cy="46177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01200" y="1325880"/>
            <a:ext cx="0" cy="46177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" y="594360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6108192"/>
            <a:ext cx="11064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[각 Case별 로그 캡처 / before-after 그래프 / 실패 영상 캡처 삽입 위치]</a:t>
            </a:r>
            <a:endParaRPr lang="en-US" sz="1450" dirty="0">
              <a:latin typeface="+mj-ea"/>
              <a:ea typeface="+mj-ea"/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3506143" y="-229514"/>
            <a:ext cx="11018520" cy="1371600"/>
            <a:chOff x="4306243" y="-625601"/>
            <a:chExt cx="11018520" cy="1371600"/>
          </a:xfrm>
        </p:grpSpPr>
        <p:sp>
          <p:nvSpPr>
            <p:cNvPr id="88" name="Text 16"/>
            <p:cNvSpPr/>
            <p:nvPr/>
          </p:nvSpPr>
          <p:spPr>
            <a:xfrm>
              <a:off x="4333675" y="-575309"/>
              <a:ext cx="117957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07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구분</a:t>
              </a:r>
              <a:endParaRPr lang="en-US" sz="1070" dirty="0">
                <a:latin typeface="+mj-ea"/>
                <a:ea typeface="+mj-ea"/>
              </a:endParaRPr>
            </a:p>
          </p:txBody>
        </p:sp>
        <p:sp>
          <p:nvSpPr>
            <p:cNvPr id="89" name="Shape 17"/>
            <p:cNvSpPr/>
            <p:nvPr/>
          </p:nvSpPr>
          <p:spPr>
            <a:xfrm>
              <a:off x="4306243" y="-296417"/>
              <a:ext cx="1234440" cy="0"/>
            </a:xfrm>
            <a:prstGeom prst="line">
              <a:avLst/>
            </a:prstGeom>
            <a:noFill/>
            <a:ln w="6985">
              <a:solidFill>
                <a:srgbClr val="BFBFBF"/>
              </a:solidFill>
              <a:prstDash val="solid"/>
            </a:ln>
          </p:spPr>
        </p:sp>
        <p:sp>
          <p:nvSpPr>
            <p:cNvPr id="90" name="Text 18"/>
            <p:cNvSpPr/>
            <p:nvPr/>
          </p:nvSpPr>
          <p:spPr>
            <a:xfrm>
              <a:off x="5568115" y="-575309"/>
              <a:ext cx="442569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07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기존 문제</a:t>
              </a:r>
              <a:endParaRPr lang="en-US" sz="1070" dirty="0">
                <a:latin typeface="+mj-ea"/>
                <a:ea typeface="+mj-ea"/>
              </a:endParaRPr>
            </a:p>
          </p:txBody>
        </p:sp>
        <p:sp>
          <p:nvSpPr>
            <p:cNvPr id="91" name="Shape 19"/>
            <p:cNvSpPr/>
            <p:nvPr/>
          </p:nvSpPr>
          <p:spPr>
            <a:xfrm>
              <a:off x="5540683" y="-296417"/>
              <a:ext cx="4480560" cy="0"/>
            </a:xfrm>
            <a:prstGeom prst="line">
              <a:avLst/>
            </a:prstGeom>
            <a:noFill/>
            <a:ln w="6985">
              <a:solidFill>
                <a:srgbClr val="BFBFBF"/>
              </a:solidFill>
              <a:prstDash val="solid"/>
            </a:ln>
          </p:spPr>
        </p:sp>
        <p:sp>
          <p:nvSpPr>
            <p:cNvPr id="92" name="Text 20"/>
            <p:cNvSpPr/>
            <p:nvPr/>
          </p:nvSpPr>
          <p:spPr>
            <a:xfrm>
              <a:off x="10048675" y="-575309"/>
              <a:ext cx="52486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07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본 프로젝트 해결 방향</a:t>
              </a:r>
              <a:endParaRPr lang="en-US" sz="1070" dirty="0">
                <a:latin typeface="+mj-ea"/>
                <a:ea typeface="+mj-ea"/>
              </a:endParaRPr>
            </a:p>
          </p:txBody>
        </p:sp>
        <p:sp>
          <p:nvSpPr>
            <p:cNvPr id="93" name="Shape 21"/>
            <p:cNvSpPr/>
            <p:nvPr/>
          </p:nvSpPr>
          <p:spPr>
            <a:xfrm>
              <a:off x="10021243" y="-296417"/>
              <a:ext cx="5303520" cy="0"/>
            </a:xfrm>
            <a:prstGeom prst="line">
              <a:avLst/>
            </a:prstGeom>
            <a:noFill/>
            <a:ln w="6985">
              <a:solidFill>
                <a:srgbClr val="BFBFBF"/>
              </a:solidFill>
              <a:prstDash val="solid"/>
            </a:ln>
          </p:spPr>
        </p:sp>
        <p:sp>
          <p:nvSpPr>
            <p:cNvPr id="94" name="Text 22"/>
            <p:cNvSpPr/>
            <p:nvPr/>
          </p:nvSpPr>
          <p:spPr>
            <a:xfrm>
              <a:off x="4351963" y="-241553"/>
              <a:ext cx="114300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주행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95" name="Shape 23"/>
            <p:cNvSpPr/>
            <p:nvPr/>
          </p:nvSpPr>
          <p:spPr>
            <a:xfrm>
              <a:off x="4306243" y="-35813"/>
              <a:ext cx="1234440" cy="0"/>
            </a:xfrm>
            <a:prstGeom prst="line">
              <a:avLst/>
            </a:prstGeom>
            <a:noFill/>
            <a:ln w="4445">
              <a:solidFill>
                <a:srgbClr val="BFBFBF"/>
              </a:solidFill>
              <a:prstDash val="solid"/>
            </a:ln>
          </p:spPr>
        </p:sp>
        <p:sp>
          <p:nvSpPr>
            <p:cNvPr id="96" name="Text 24"/>
            <p:cNvSpPr/>
            <p:nvPr/>
          </p:nvSpPr>
          <p:spPr>
            <a:xfrm>
              <a:off x="5586403" y="-241553"/>
              <a:ext cx="438912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Nav2 cmd와 myAGV 실제 응답 불일치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97" name="Shape 25"/>
            <p:cNvSpPr/>
            <p:nvPr/>
          </p:nvSpPr>
          <p:spPr>
            <a:xfrm>
              <a:off x="5540683" y="-35813"/>
              <a:ext cx="4480560" cy="0"/>
            </a:xfrm>
            <a:prstGeom prst="line">
              <a:avLst/>
            </a:prstGeom>
            <a:noFill/>
            <a:ln w="4445">
              <a:solidFill>
                <a:srgbClr val="BFBFBF"/>
              </a:solidFill>
              <a:prstDash val="solid"/>
            </a:ln>
          </p:spPr>
        </p:sp>
        <p:sp>
          <p:nvSpPr>
            <p:cNvPr id="98" name="Text 26"/>
            <p:cNvSpPr/>
            <p:nvPr/>
          </p:nvSpPr>
          <p:spPr>
            <a:xfrm>
              <a:off x="10066963" y="-241553"/>
              <a:ext cx="52120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/cmd_vel_nav와 /cmd_vel 분리 + safety filter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99" name="Shape 27"/>
            <p:cNvSpPr/>
            <p:nvPr/>
          </p:nvSpPr>
          <p:spPr>
            <a:xfrm>
              <a:off x="10021243" y="-35813"/>
              <a:ext cx="5303520" cy="0"/>
            </a:xfrm>
            <a:prstGeom prst="line">
              <a:avLst/>
            </a:prstGeom>
            <a:noFill/>
            <a:ln w="4445">
              <a:solidFill>
                <a:srgbClr val="BFBFBF"/>
              </a:solidFill>
              <a:prstDash val="solid"/>
            </a:ln>
          </p:spPr>
        </p:sp>
        <p:sp>
          <p:nvSpPr>
            <p:cNvPr id="100" name="Text 28"/>
            <p:cNvSpPr/>
            <p:nvPr/>
          </p:nvSpPr>
          <p:spPr>
            <a:xfrm>
              <a:off x="4351963" y="19051"/>
              <a:ext cx="114300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정렬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101" name="Shape 29"/>
            <p:cNvSpPr/>
            <p:nvPr/>
          </p:nvSpPr>
          <p:spPr>
            <a:xfrm>
              <a:off x="4306243" y="224791"/>
              <a:ext cx="1234440" cy="0"/>
            </a:xfrm>
            <a:prstGeom prst="line">
              <a:avLst/>
            </a:prstGeom>
            <a:noFill/>
            <a:ln w="4445">
              <a:solidFill>
                <a:srgbClr val="BFBFBF"/>
              </a:solidFill>
              <a:prstDash val="solid"/>
            </a:ln>
          </p:spPr>
        </p:sp>
        <p:sp>
          <p:nvSpPr>
            <p:cNvPr id="102" name="Text 30"/>
            <p:cNvSpPr/>
            <p:nvPr/>
          </p:nvSpPr>
          <p:spPr>
            <a:xfrm>
              <a:off x="5586403" y="19051"/>
              <a:ext cx="438912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map goal 도착만으로 파지 정밀도 부족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103" name="Shape 31"/>
            <p:cNvSpPr/>
            <p:nvPr/>
          </p:nvSpPr>
          <p:spPr>
            <a:xfrm>
              <a:off x="5540683" y="224791"/>
              <a:ext cx="4480560" cy="0"/>
            </a:xfrm>
            <a:prstGeom prst="line">
              <a:avLst/>
            </a:prstGeom>
            <a:noFill/>
            <a:ln w="4445">
              <a:solidFill>
                <a:srgbClr val="BFBFBF"/>
              </a:solidFill>
              <a:prstDash val="solid"/>
            </a:ln>
          </p:spPr>
        </p:sp>
        <p:sp>
          <p:nvSpPr>
            <p:cNvPr id="104" name="Text 32"/>
            <p:cNvSpPr/>
            <p:nvPr/>
          </p:nvSpPr>
          <p:spPr>
            <a:xfrm>
              <a:off x="10066963" y="19051"/>
              <a:ext cx="52120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ArUco final alignment + AGV-Arm align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105" name="Shape 33"/>
            <p:cNvSpPr/>
            <p:nvPr/>
          </p:nvSpPr>
          <p:spPr>
            <a:xfrm>
              <a:off x="10021243" y="224791"/>
              <a:ext cx="5303520" cy="0"/>
            </a:xfrm>
            <a:prstGeom prst="line">
              <a:avLst/>
            </a:prstGeom>
            <a:noFill/>
            <a:ln w="4445">
              <a:solidFill>
                <a:srgbClr val="BFBFBF"/>
              </a:solidFill>
              <a:prstDash val="solid"/>
            </a:ln>
          </p:spPr>
        </p:sp>
        <p:sp>
          <p:nvSpPr>
            <p:cNvPr id="106" name="Text 34"/>
            <p:cNvSpPr/>
            <p:nvPr/>
          </p:nvSpPr>
          <p:spPr>
            <a:xfrm>
              <a:off x="4351963" y="279655"/>
              <a:ext cx="114300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비전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107" name="Shape 35"/>
            <p:cNvSpPr/>
            <p:nvPr/>
          </p:nvSpPr>
          <p:spPr>
            <a:xfrm>
              <a:off x="4306243" y="485395"/>
              <a:ext cx="1234440" cy="0"/>
            </a:xfrm>
            <a:prstGeom prst="line">
              <a:avLst/>
            </a:prstGeom>
            <a:noFill/>
            <a:ln w="4445">
              <a:solidFill>
                <a:srgbClr val="BFBFBF"/>
              </a:solidFill>
              <a:prstDash val="solid"/>
            </a:ln>
          </p:spPr>
        </p:sp>
        <p:sp>
          <p:nvSpPr>
            <p:cNvPr id="108" name="Text 36"/>
            <p:cNvSpPr/>
            <p:nvPr/>
          </p:nvSpPr>
          <p:spPr>
            <a:xfrm>
              <a:off x="5586403" y="279655"/>
              <a:ext cx="438912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eye-in-hand 카메라 좌표계가 arm 자세에 따라 변화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109" name="Shape 37"/>
            <p:cNvSpPr/>
            <p:nvPr/>
          </p:nvSpPr>
          <p:spPr>
            <a:xfrm>
              <a:off x="5540683" y="485395"/>
              <a:ext cx="4480560" cy="0"/>
            </a:xfrm>
            <a:prstGeom prst="line">
              <a:avLst/>
            </a:prstGeom>
            <a:noFill/>
            <a:ln w="4445">
              <a:solidFill>
                <a:srgbClr val="BFBFBF"/>
              </a:solidFill>
              <a:prstDash val="solid"/>
            </a:ln>
          </p:spPr>
        </p:sp>
        <p:sp>
          <p:nvSpPr>
            <p:cNvPr id="110" name="Text 38"/>
            <p:cNvSpPr/>
            <p:nvPr/>
          </p:nvSpPr>
          <p:spPr>
            <a:xfrm>
              <a:off x="10066963" y="279655"/>
              <a:ext cx="52120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observe_ready/observe_pose 기반 T_cam2base 갱신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111" name="Shape 39"/>
            <p:cNvSpPr/>
            <p:nvPr/>
          </p:nvSpPr>
          <p:spPr>
            <a:xfrm>
              <a:off x="10021243" y="485395"/>
              <a:ext cx="5303520" cy="0"/>
            </a:xfrm>
            <a:prstGeom prst="line">
              <a:avLst/>
            </a:prstGeom>
            <a:noFill/>
            <a:ln w="4445">
              <a:solidFill>
                <a:srgbClr val="BFBFBF"/>
              </a:solidFill>
              <a:prstDash val="solid"/>
            </a:ln>
          </p:spPr>
        </p:sp>
        <p:sp>
          <p:nvSpPr>
            <p:cNvPr id="112" name="Text 40"/>
            <p:cNvSpPr/>
            <p:nvPr/>
          </p:nvSpPr>
          <p:spPr>
            <a:xfrm>
              <a:off x="4351963" y="540259"/>
              <a:ext cx="114300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통합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113" name="Text 41"/>
            <p:cNvSpPr/>
            <p:nvPr/>
          </p:nvSpPr>
          <p:spPr>
            <a:xfrm>
              <a:off x="5586403" y="540259"/>
              <a:ext cx="438912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각 노드 단독 동작은 가능하지만 시나리오 중 오류 누적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114" name="Text 42"/>
            <p:cNvSpPr/>
            <p:nvPr/>
          </p:nvSpPr>
          <p:spPr>
            <a:xfrm>
              <a:off x="10066963" y="540259"/>
              <a:ext cx="521208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40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Mission FSM + timeout/retry/exception handling</a:t>
              </a:r>
              <a:endParaRPr lang="en-US" sz="1040" dirty="0">
                <a:latin typeface="+mj-ea"/>
                <a:ea typeface="+mj-ea"/>
              </a:endParaRPr>
            </a:p>
          </p:txBody>
        </p:sp>
        <p:sp>
          <p:nvSpPr>
            <p:cNvPr id="115" name="Shape 43"/>
            <p:cNvSpPr/>
            <p:nvPr/>
          </p:nvSpPr>
          <p:spPr>
            <a:xfrm>
              <a:off x="5540683" y="-625601"/>
              <a:ext cx="0" cy="1371600"/>
            </a:xfrm>
            <a:prstGeom prst="line">
              <a:avLst/>
            </a:prstGeom>
            <a:noFill/>
            <a:ln w="4445">
              <a:solidFill>
                <a:srgbClr val="BFBFBF"/>
              </a:solidFill>
              <a:prstDash val="solid"/>
            </a:ln>
          </p:spPr>
        </p:sp>
        <p:sp>
          <p:nvSpPr>
            <p:cNvPr id="116" name="Shape 44"/>
            <p:cNvSpPr/>
            <p:nvPr/>
          </p:nvSpPr>
          <p:spPr>
            <a:xfrm flipH="1">
              <a:off x="10021243" y="-587501"/>
              <a:ext cx="8128" cy="1333500"/>
            </a:xfrm>
            <a:prstGeom prst="line">
              <a:avLst/>
            </a:prstGeom>
            <a:noFill/>
            <a:ln w="4445">
              <a:solidFill>
                <a:srgbClr val="BFBFBF"/>
              </a:solidFill>
              <a:prstDash val="solid"/>
            </a:ln>
          </p:spPr>
        </p:sp>
        <p:sp>
          <p:nvSpPr>
            <p:cNvPr id="117" name="Shape 45"/>
            <p:cNvSpPr/>
            <p:nvPr/>
          </p:nvSpPr>
          <p:spPr>
            <a:xfrm>
              <a:off x="4306243" y="-625601"/>
              <a:ext cx="11018520" cy="0"/>
            </a:xfrm>
            <a:prstGeom prst="line">
              <a:avLst/>
            </a:prstGeom>
            <a:noFill/>
            <a:ln w="7620">
              <a:solidFill>
                <a:srgbClr val="BFBFBF"/>
              </a:solidFill>
              <a:prstDash val="solid"/>
            </a:ln>
          </p:spPr>
        </p:sp>
        <p:sp>
          <p:nvSpPr>
            <p:cNvPr id="118" name="Shape 46"/>
            <p:cNvSpPr/>
            <p:nvPr/>
          </p:nvSpPr>
          <p:spPr>
            <a:xfrm>
              <a:off x="4306243" y="745999"/>
              <a:ext cx="11018520" cy="0"/>
            </a:xfrm>
            <a:prstGeom prst="line">
              <a:avLst/>
            </a:prstGeom>
            <a:noFill/>
            <a:ln w="7620">
              <a:solidFill>
                <a:srgbClr val="BFBFBF"/>
              </a:solidFill>
              <a:prstDash val="solid"/>
            </a:ln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CONCLUSION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한계 및 로드맵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LogiFlow Team · ROS2 AGV-Arm Integrated Picking System</a:t>
            </a:r>
            <a:endParaRPr lang="en-US" sz="85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15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현재 한계</a:t>
            </a:r>
            <a:endParaRPr lang="en-US" sz="113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29260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376172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측정 근거</a:t>
            </a:r>
            <a:endParaRPr lang="en-US" sz="113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0440" y="1655064"/>
            <a:ext cx="39319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1376172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개선 방향</a:t>
            </a:r>
            <a:endParaRPr lang="en-US" sz="113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52360" y="1655064"/>
            <a:ext cx="42062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09928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CPU/FPS 자원 병목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2201875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709928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camera topic hz, tegrastats, 처리 latency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520440" y="2201875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709928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TensorRT FP16, pipeline 분리, Orin 활용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52360" y="2201875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256739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카메라/마커 calibration 오차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2748686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256739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좌표 반복도, marker center error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520440" y="2748686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2256739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calibration 자동화, TF 고정값 재검증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52360" y="2748686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803550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주행 반복도 편차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4360" y="3295498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803550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goal position/yaw error, odom slip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520440" y="3295498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803550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EKF/robot_localization tuning, PID/velocity control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452360" y="3295498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350362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파지 반복도 편차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94360" y="3842309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350362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pick success/retry count, gripper value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520440" y="3842309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350362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gripper offset 보정, 관측 자세 표준화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452360" y="3842309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897173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복잡 장애물 회피 제한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566160" y="3897173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primitive route success/failure case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98080" y="3897173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 + safety filter 고도화, DWB parameter tuning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520440" y="1325880"/>
            <a:ext cx="0" cy="30632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52360" y="1325880"/>
            <a:ext cx="0" cy="30632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" y="438912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800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로드맵 구조</a:t>
            </a:r>
            <a:endParaRPr lang="en-US" sz="1320" dirty="0">
              <a:latin typeface="+mj-ea"/>
              <a:ea typeface="+mj-ea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94360" y="5129784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52395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Measured Bottleneck → Engineering Cause → Software/Control Improvement → KPI Re-test</a:t>
            </a:r>
            <a:endParaRPr lang="en-US" sz="1530" dirty="0">
              <a:latin typeface="+mj-ea"/>
              <a:ea typeface="+mj-ea"/>
            </a:endParaRPr>
          </a:p>
          <a:p>
            <a:pPr marL="0" indent="0" algn="l">
              <a:buNone/>
            </a:pPr>
            <a:endParaRPr lang="en-US" sz="153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3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한계는 변명이 아니라, 다음 고도화 방향을 정하는 측정 기반 입력으로 정리합니다.</a:t>
            </a:r>
            <a:endParaRPr lang="en-US" sz="153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CONCLUSION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최종 결론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16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통합성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74650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56232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모바일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, </a:t>
            </a:r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로봇팔, 비전</a:t>
            </a: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,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대시보드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상태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  <a:sym typeface="Wingdings" panose="05000000000000000000" pitchFamily="2" charset="2"/>
              </a:rPr>
              <a:t>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ROS2 topic과 Mission FSM</a:t>
            </a: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으로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연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결</a:t>
            </a:r>
            <a:endParaRPr lang="en-US" sz="1400" dirty="0">
              <a:latin typeface="+mj-ea"/>
              <a:ea typeface="+mj-ea"/>
            </a:endParaRPr>
          </a:p>
          <a:p>
            <a:pPr marL="0" indent="0" algn="l">
              <a:buNone/>
            </a:pPr>
            <a:endParaRPr lang="en-US" sz="140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각 모듈의 </a:t>
            </a: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단독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동작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이 아닌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주문</a:t>
            </a:r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-주행-인식-파지-배치-복귀를 하나의 workflow</a:t>
            </a: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로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완성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4340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현실성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43400" y="174650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856232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myAGV deadzone, 정차 오차</a:t>
            </a: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,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Depth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카메라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좌표 오차, camera/FPS 병목 등 실제 하드웨어 문제를 </a:t>
            </a: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설계에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반영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9244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검증 가능성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92440" y="174650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856232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ko-KR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rosbag/log </a:t>
            </a:r>
            <a:r>
              <a:rPr lang="en-US" altLang="ko-KR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기반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정량적 지표 분석 및 검증</a:t>
            </a:r>
            <a:endParaRPr lang="en-US" sz="1400" smtClean="0">
              <a:solidFill>
                <a:srgbClr val="444444"/>
              </a:solidFill>
              <a:latin typeface="+mj-ea"/>
              <a:ea typeface="+mj-ea"/>
              <a:cs typeface="Noto Sans CJK KR" pitchFamily="34" charset="-120"/>
            </a:endParaRPr>
          </a:p>
          <a:p>
            <a:pPr marL="0" indent="0" algn="l">
              <a:buNone/>
            </a:pPr>
            <a:endParaRPr lang="en-US" sz="1400" smtClean="0">
              <a:solidFill>
                <a:srgbClr val="444444"/>
              </a:solidFill>
              <a:latin typeface="+mj-ea"/>
              <a:ea typeface="+mj-ea"/>
              <a:cs typeface="Noto Sans CJK KR" pitchFamily="34" charset="-120"/>
            </a:endParaRPr>
          </a:p>
          <a:p>
            <a:pPr marL="0" indent="0" algn="l">
              <a:buNone/>
            </a:pP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safety </a:t>
            </a:r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filter KPI</a:t>
            </a: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,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pick </a:t>
            </a:r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success rate</a:t>
            </a: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,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E2E 등 </a:t>
            </a:r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정량 지표로 </a:t>
            </a: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시스템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성능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검증</a:t>
            </a:r>
            <a:endParaRPr lang="en-US" altLang="ko-KR" sz="1400" smtClean="0">
              <a:solidFill>
                <a:srgbClr val="444444"/>
              </a:solidFill>
              <a:latin typeface="+mj-ea"/>
              <a:ea typeface="+mj-ea"/>
              <a:cs typeface="Noto Sans CJK KR" pitchFamily="34" charset="-120"/>
            </a:endParaRPr>
          </a:p>
          <a:p>
            <a:pPr marL="0" indent="0" algn="l">
              <a:buNone/>
            </a:pP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3216969"/>
            <a:ext cx="1554480" cy="329184"/>
          </a:xfrm>
          <a:prstGeom prst="rect">
            <a:avLst/>
          </a:prstGeom>
          <a:solidFill>
            <a:srgbClr val="161616"/>
          </a:solidFill>
          <a:ln>
            <a:solidFill>
              <a:srgbClr val="161616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smtClean="0">
                <a:latin typeface="+mj-ea"/>
                <a:ea typeface="+mj-ea"/>
              </a:rPr>
              <a:t>Final statement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94360" y="3793040"/>
            <a:ext cx="4282290" cy="1358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latin typeface="+mj-ea"/>
                <a:ea typeface="+mj-ea"/>
              </a:rPr>
              <a:t>궁 느낀점</a:t>
            </a:r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080760" y="3593018"/>
            <a:ext cx="5215890" cy="1988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  <a:latin typeface="+mj-ea"/>
                <a:ea typeface="+mj-ea"/>
              </a:rPr>
              <a:t>김윤정</a:t>
            </a:r>
            <a:r>
              <a:rPr lang="en-US" altLang="ko-KR" sz="1400" smtClean="0">
                <a:solidFill>
                  <a:schemeClr val="tx1"/>
                </a:solidFill>
                <a:latin typeface="+mj-ea"/>
                <a:ea typeface="+mj-ea"/>
              </a:rPr>
              <a:t>:</a:t>
            </a:r>
          </a:p>
          <a:p>
            <a:pPr algn="ctr"/>
            <a:r>
              <a:rPr lang="ko-KR" altLang="en-US" sz="1400" smtClean="0">
                <a:solidFill>
                  <a:schemeClr val="tx1"/>
                </a:solidFill>
                <a:latin typeface="+mj-ea"/>
                <a:ea typeface="+mj-ea"/>
              </a:rPr>
              <a:t>시스템의 흐름을 전체적으로 파악하는 방법을 익히고</a:t>
            </a:r>
            <a:r>
              <a:rPr lang="en-US" altLang="ko-KR" sz="1400" smtClean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ko-KR" sz="1400">
                <a:solidFill>
                  <a:schemeClr val="tx1"/>
                </a:solidFill>
                <a:latin typeface="+mj-ea"/>
                <a:ea typeface="+mj-ea"/>
                <a:cs typeface="Noto Sans CJK KR" pitchFamily="34" charset="-120"/>
              </a:rPr>
              <a:t>본 프로젝트는 AGV, 로봇팔, 비전 시스템을 실제 하드웨어 조건에서 통합하고, 발생한 물리적 오차와 제어 한계를 ROS2 기반 구조와 KPI 검증으로 해결한 실하드웨어 통합 로봇 시스템입니다.</a:t>
            </a:r>
            <a:endParaRPr lang="en-US" altLang="ko-KR" sz="140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endParaRPr lang="ko-KR" altLang="en-US" sz="140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VERIFICATION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smtClean="0">
                <a:solidFill>
                  <a:srgbClr val="161616"/>
                </a:solidFill>
                <a:latin typeface="+mj-ea"/>
                <a:ea typeface="+mj-ea"/>
              </a:rPr>
              <a:t>통합 </a:t>
            </a: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주행</a:t>
            </a:r>
            <a:r>
              <a:rPr lang="en-US" sz="2800" b="1" smtClean="0">
                <a:solidFill>
                  <a:srgbClr val="161616"/>
                </a:solidFill>
                <a:latin typeface="+mj-ea"/>
                <a:ea typeface="+mj-ea"/>
              </a:rPr>
              <a:t> KPI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13</a:t>
            </a:r>
            <a:endParaRPr lang="en-US" sz="950" dirty="0">
              <a:latin typeface="+mj-ea"/>
              <a:ea typeface="+mj-ea"/>
            </a:endParaRPr>
          </a:p>
        </p:txBody>
      </p:sp>
      <p:graphicFrame>
        <p:nvGraphicFramePr>
          <p:cNvPr id="92" name="표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678840"/>
              </p:ext>
            </p:extLst>
          </p:nvPr>
        </p:nvGraphicFramePr>
        <p:xfrm>
          <a:off x="502920" y="1367492"/>
          <a:ext cx="11155680" cy="5082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875">
                  <a:extLst>
                    <a:ext uri="{9D8B030D-6E8A-4147-A177-3AD203B41FA5}">
                      <a16:colId xmlns:a16="http://schemas.microsoft.com/office/drawing/2014/main" val="1585814928"/>
                    </a:ext>
                  </a:extLst>
                </a:gridCol>
                <a:gridCol w="1712397">
                  <a:extLst>
                    <a:ext uri="{9D8B030D-6E8A-4147-A177-3AD203B41FA5}">
                      <a16:colId xmlns:a16="http://schemas.microsoft.com/office/drawing/2014/main" val="1233945835"/>
                    </a:ext>
                  </a:extLst>
                </a:gridCol>
                <a:gridCol w="758444">
                  <a:extLst>
                    <a:ext uri="{9D8B030D-6E8A-4147-A177-3AD203B41FA5}">
                      <a16:colId xmlns:a16="http://schemas.microsoft.com/office/drawing/2014/main" val="1151725255"/>
                    </a:ext>
                  </a:extLst>
                </a:gridCol>
                <a:gridCol w="1731264">
                  <a:extLst>
                    <a:ext uri="{9D8B030D-6E8A-4147-A177-3AD203B41FA5}">
                      <a16:colId xmlns:a16="http://schemas.microsoft.com/office/drawing/2014/main" val="768956917"/>
                    </a:ext>
                  </a:extLst>
                </a:gridCol>
                <a:gridCol w="2390140">
                  <a:extLst>
                    <a:ext uri="{9D8B030D-6E8A-4147-A177-3AD203B41FA5}">
                      <a16:colId xmlns:a16="http://schemas.microsoft.com/office/drawing/2014/main" val="3350555886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4019337276"/>
                    </a:ext>
                  </a:extLst>
                </a:gridCol>
              </a:tblGrid>
              <a:tr h="6212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/>
                        <a:t>KPI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목표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달성률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달성 여부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측정 방법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미달성 원인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827829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Waypoint </a:t>
                      </a:r>
                      <a:r>
                        <a:rPr lang="ko-KR" altLang="en-US" smtClean="0"/>
                        <a:t>기반 경로 완주율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90%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80%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X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E2E</a:t>
                      </a:r>
                      <a:r>
                        <a:rPr lang="en-US" altLang="ko-KR" baseline="0" smtClean="0"/>
                        <a:t> </a:t>
                      </a:r>
                      <a:r>
                        <a:rPr lang="ko-KR" altLang="en-US" baseline="0" smtClean="0"/>
                        <a:t>시나리오 중 실패건 </a:t>
                      </a:r>
                      <a:r>
                        <a:rPr lang="en-US" altLang="ko-KR" baseline="0" smtClean="0"/>
                        <a:t>count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odometry</a:t>
                      </a:r>
                      <a:r>
                        <a:rPr lang="en-US" altLang="ko-KR" baseline="0" smtClean="0"/>
                        <a:t> error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012954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목표 구역 진입 성공률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90%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90%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mtClean="0"/>
                        <a:t>―</a:t>
                      </a:r>
                      <a:endParaRPr lang="ko-KR" altLang="en-US" smtClean="0"/>
                    </a:p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361358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급발진 </a:t>
                      </a:r>
                      <a:r>
                        <a:rPr lang="en-US" altLang="ko-KR" smtClean="0"/>
                        <a:t>peak overshoot </a:t>
                      </a:r>
                      <a:r>
                        <a:rPr lang="ko-KR" altLang="en-US" smtClean="0"/>
                        <a:t>감소율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90%</a:t>
                      </a:r>
                      <a:r>
                        <a:rPr lang="en-US" altLang="ko-KR" baseline="0" smtClean="0"/>
                        <a:t> </a:t>
                      </a:r>
                      <a:r>
                        <a:rPr lang="ko-KR" altLang="en-US" baseline="0" smtClean="0"/>
                        <a:t>이상 감소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761174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안전 정지</a:t>
                      </a:r>
                      <a:r>
                        <a:rPr lang="en-US" altLang="ko-KR" smtClean="0"/>
                        <a:t>,</a:t>
                      </a:r>
                      <a:r>
                        <a:rPr lang="en-US" altLang="ko-KR" baseline="0" smtClean="0"/>
                        <a:t> </a:t>
                      </a:r>
                      <a:r>
                        <a:rPr lang="ko-KR" altLang="en-US" baseline="0" smtClean="0"/>
                        <a:t>긴급 정지  성공률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100%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100%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/>
                        <a:t>―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074052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목표 구역 정렬 성공률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90%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95%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mtClean="0"/>
                        <a:t>―</a:t>
                      </a:r>
                      <a:endParaRPr lang="ko-KR" altLang="en-US" smtClean="0"/>
                    </a:p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895454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파지 및 배치 성공률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90%</a:t>
                      </a:r>
                      <a:r>
                        <a:rPr lang="en-US" altLang="ko-KR" baseline="0" smtClean="0"/>
                        <a:t> / 90%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43439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E2E</a:t>
                      </a:r>
                      <a:r>
                        <a:rPr lang="en-US" altLang="ko-KR" baseline="0" smtClean="0"/>
                        <a:t> </a:t>
                      </a:r>
                      <a:r>
                        <a:rPr lang="ko-KR" altLang="en-US" baseline="0" smtClean="0"/>
                        <a:t>시나리오 성공률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80%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364747"/>
                  </a:ext>
                </a:extLst>
              </a:tr>
            </a:tbl>
          </a:graphicData>
        </a:graphic>
      </p:graphicFrame>
      <p:grpSp>
        <p:nvGrpSpPr>
          <p:cNvPr id="89" name="그룹 88"/>
          <p:cNvGrpSpPr/>
          <p:nvPr/>
        </p:nvGrpSpPr>
        <p:grpSpPr>
          <a:xfrm>
            <a:off x="12349479" y="1231260"/>
            <a:ext cx="9916919" cy="4511779"/>
            <a:chOff x="359838" y="1307047"/>
            <a:chExt cx="11338467" cy="5158524"/>
          </a:xfrm>
        </p:grpSpPr>
        <p:pic>
          <p:nvPicPr>
            <p:cNvPr id="85" name="그림 8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73" t="18983" r="49879" b="43345"/>
            <a:stretch/>
          </p:blipFill>
          <p:spPr>
            <a:xfrm>
              <a:off x="359838" y="1307047"/>
              <a:ext cx="5733144" cy="2583543"/>
            </a:xfrm>
            <a:prstGeom prst="rect">
              <a:avLst/>
            </a:prstGeom>
          </p:spPr>
        </p:pic>
        <p:pic>
          <p:nvPicPr>
            <p:cNvPr id="86" name="그림 85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50" t="56740" r="3735" b="7282"/>
            <a:stretch/>
          </p:blipFill>
          <p:spPr>
            <a:xfrm>
              <a:off x="6066761" y="3905306"/>
              <a:ext cx="5631544" cy="2467428"/>
            </a:xfrm>
            <a:prstGeom prst="rect">
              <a:avLst/>
            </a:prstGeom>
          </p:spPr>
        </p:pic>
        <p:pic>
          <p:nvPicPr>
            <p:cNvPr id="87" name="그림 86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66" t="56798" r="50238" b="6589"/>
            <a:stretch/>
          </p:blipFill>
          <p:spPr>
            <a:xfrm>
              <a:off x="432286" y="3954599"/>
              <a:ext cx="5617029" cy="2510972"/>
            </a:xfrm>
            <a:prstGeom prst="rect">
              <a:avLst/>
            </a:prstGeom>
          </p:spPr>
        </p:pic>
        <p:pic>
          <p:nvPicPr>
            <p:cNvPr id="88" name="그림 87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50" t="19360" r="4035" b="43391"/>
            <a:stretch/>
          </p:blipFill>
          <p:spPr>
            <a:xfrm>
              <a:off x="6027056" y="1335669"/>
              <a:ext cx="5631544" cy="255451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2200</TotalTime>
  <Words>2389</Words>
  <Application>Microsoft Office PowerPoint</Application>
  <PresentationFormat>와이드스크린</PresentationFormat>
  <Paragraphs>581</Paragraphs>
  <Slides>18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Noto Sans CJK KR</vt:lpstr>
      <vt:lpstr>Malgun Gothic</vt:lpstr>
      <vt:lpstr>Malgun Gothic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LogiFlow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ROS2_AGV로봇팔_최종발표_내용정리본</dc:title>
  <dc:subject>ROS2 AGV Arm Final Presentation Content Pack</dc:subject>
  <dc:creator>OpenAI</dc:creator>
  <cp:lastModifiedBy>김윤정</cp:lastModifiedBy>
  <cp:revision>341</cp:revision>
  <dcterms:created xsi:type="dcterms:W3CDTF">2026-07-10T02:06:54Z</dcterms:created>
  <dcterms:modified xsi:type="dcterms:W3CDTF">2026-07-11T16:33:57Z</dcterms:modified>
</cp:coreProperties>
</file>