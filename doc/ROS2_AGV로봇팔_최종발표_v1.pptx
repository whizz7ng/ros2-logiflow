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4" r:id="rId4"/>
    <p:sldId id="259" r:id="rId5"/>
    <p:sldId id="260" r:id="rId6"/>
    <p:sldId id="262" r:id="rId7"/>
    <p:sldId id="282" r:id="rId8"/>
    <p:sldId id="277" r:id="rId9"/>
    <p:sldId id="263" r:id="rId10"/>
    <p:sldId id="264" r:id="rId11"/>
    <p:sldId id="265" r:id="rId12"/>
    <p:sldId id="266" r:id="rId13"/>
    <p:sldId id="278" r:id="rId14"/>
    <p:sldId id="267" r:id="rId15"/>
    <p:sldId id="268" r:id="rId16"/>
    <p:sldId id="275" r:id="rId17"/>
    <p:sldId id="269" r:id="rId18"/>
    <p:sldId id="270" r:id="rId19"/>
    <p:sldId id="271" r:id="rId20"/>
    <p:sldId id="272" r:id="rId21"/>
    <p:sldId id="273" r:id="rId22"/>
    <p:sldId id="25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2F528F"/>
    <a:srgbClr val="F7F8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82767" autoAdjust="0"/>
  </p:normalViewPr>
  <p:slideViewPr>
    <p:cSldViewPr snapToGrid="0" snapToObjects="1">
      <p:cViewPr>
        <p:scale>
          <a:sx n="66" d="100"/>
          <a:sy n="66" d="100"/>
        </p:scale>
        <p:origin x="2496" y="70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8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baseline="0" smtClean="0">
              <a:sym typeface="Wingdings" panose="05000000000000000000" pitchFamily="2" charset="2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200" b="1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“아이디어 소개”보다 실제 하드웨어에서 발생한 주행 불안정, 정차 오차, 좌표 오차, 상태 동기화 문제를 어떻게 시스템 구조로 해결했는가가 핵심입니다.</a:t>
            </a:r>
            <a:endParaRPr lang="en-US" altLang="ko-KR" sz="120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4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상태 전이마다 확인 topic을 두어 하위 시스템 완료 상태를 검증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주행/비전/파지 실패는 timeout, retry, align으로 분기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시연과 rosbag/log KPI를 동일 시나리오에 연결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근접 이동은 AGV, 마지막 정밀 정렬과 파지는 Vision·Robot Arm이 담당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smtClean="0"/>
              <a:t>하드웨어 친화 명령으로 변환 </a:t>
            </a:r>
            <a:r>
              <a:rPr lang="ko-KR" altLang="en-US" smtClean="0">
                <a:sym typeface="Wingdings" panose="05000000000000000000" pitchFamily="2" charset="2"/>
              </a:rPr>
              <a:t>보다는 하드웨어 안정성을 위한 명령으로 변환</a:t>
            </a:r>
            <a:r>
              <a:rPr lang="ko-KR" altLang="en-US" baseline="0" smtClean="0">
                <a:sym typeface="Wingdings" panose="05000000000000000000" pitchFamily="2" charset="2"/>
              </a:rPr>
              <a:t> 한다는 맥락으로 수정할건데 좋은 맨트 추천</a:t>
            </a:r>
            <a:r>
              <a:rPr lang="en-US" altLang="ko-KR" baseline="0" smtClean="0">
                <a:sym typeface="Wingdings" panose="05000000000000000000" pitchFamily="2" charset="2"/>
              </a:rPr>
              <a:t>(</a:t>
            </a:r>
            <a:r>
              <a:rPr lang="ko-KR" altLang="en-US" baseline="0" smtClean="0">
                <a:sym typeface="Wingdings" panose="05000000000000000000" pitchFamily="2" charset="2"/>
              </a:rPr>
              <a:t>길지 않고 간략하게 말하고 싶어</a:t>
            </a:r>
            <a:r>
              <a:rPr lang="en-US" altLang="ko-KR" baseline="0" smtClean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AutoNum type="arabicPeriod"/>
            </a:pPr>
            <a:r>
              <a:rPr lang="en-US" smtClean="0"/>
              <a:t>DDS</a:t>
            </a:r>
            <a:r>
              <a:rPr lang="en-US" baseline="0" smtClean="0"/>
              <a:t> / QoS</a:t>
            </a:r>
            <a:r>
              <a:rPr lang="ko-KR" altLang="en-US" baseline="0" smtClean="0"/>
              <a:t>에 대한 내용을 굳이 넣어야 하는지</a:t>
            </a:r>
            <a:r>
              <a:rPr lang="en-US" altLang="ko-KR" baseline="0" smtClean="0"/>
              <a:t>? </a:t>
            </a:r>
            <a:r>
              <a:rPr lang="ko-KR" altLang="en-US" baseline="0" smtClean="0"/>
              <a:t>물론 통상적으로 사용하듯이 </a:t>
            </a:r>
            <a:r>
              <a:rPr lang="en-US" altLang="ko-KR" baseline="0" smtClean="0"/>
              <a:t>sensor</a:t>
            </a:r>
            <a:r>
              <a:rPr lang="ko-KR" altLang="en-US" baseline="0" smtClean="0"/>
              <a:t>의 경우는 </a:t>
            </a:r>
            <a:r>
              <a:rPr lang="en-US" altLang="ko-KR" baseline="0" smtClean="0"/>
              <a:t>best effort</a:t>
            </a:r>
            <a:r>
              <a:rPr lang="ko-KR" altLang="en-US" baseline="0" smtClean="0"/>
              <a:t>로</a:t>
            </a:r>
            <a:r>
              <a:rPr lang="en-US" altLang="ko-KR" baseline="0" smtClean="0"/>
              <a:t>, (</a:t>
            </a:r>
            <a:r>
              <a:rPr lang="ko-KR" altLang="en-US" baseline="0" smtClean="0"/>
              <a:t>하지만 </a:t>
            </a:r>
            <a:r>
              <a:rPr lang="en-US" altLang="ko-KR" baseline="0" smtClean="0"/>
              <a:t>realsense</a:t>
            </a:r>
            <a:r>
              <a:rPr lang="ko-KR" altLang="en-US" baseline="0" smtClean="0"/>
              <a:t>의 경우는 예외적으로 </a:t>
            </a:r>
            <a:r>
              <a:rPr lang="en-US" altLang="ko-KR" baseline="0" smtClean="0"/>
              <a:t>realiable </a:t>
            </a:r>
            <a:r>
              <a:rPr lang="en-US" altLang="ko-KR" baseline="0" smtClean="0">
                <a:sym typeface="Wingdings" panose="05000000000000000000" pitchFamily="2" charset="2"/>
              </a:rPr>
              <a:t> </a:t>
            </a:r>
            <a:r>
              <a:rPr lang="ko-KR" altLang="en-US" baseline="0" smtClean="0">
                <a:sym typeface="Wingdings" panose="05000000000000000000" pitchFamily="2" charset="2"/>
              </a:rPr>
              <a:t>뭐 하드코딩되어 있어서 그걸 수정하기가 까다롭다고 들음</a:t>
            </a:r>
            <a:r>
              <a:rPr lang="en-US" altLang="ko-KR" baseline="0" smtClean="0">
                <a:sym typeface="Wingdings" panose="05000000000000000000" pitchFamily="2" charset="2"/>
              </a:rPr>
              <a:t>) </a:t>
            </a:r>
            <a:r>
              <a:rPr lang="en-US" altLang="ko-KR" baseline="0" smtClean="0"/>
              <a:t> &lt;realiable</a:t>
            </a:r>
            <a:r>
              <a:rPr lang="ko-KR" altLang="en-US" baseline="0" smtClean="0"/>
              <a:t>은 뭘로 했는지 봐야하는데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굳이 넣어야 하나 싶어서</a:t>
            </a:r>
            <a:r>
              <a:rPr lang="en-US" altLang="ko-KR" baseline="0" smtClean="0"/>
              <a:t>. </a:t>
            </a:r>
            <a:r>
              <a:rPr lang="ko-KR" altLang="en-US" baseline="0" smtClean="0"/>
              <a:t>근데 넣었을 때의 효용성이 있다면 </a:t>
            </a:r>
            <a:r>
              <a:rPr lang="en-US" altLang="ko-KR" baseline="0" smtClean="0"/>
              <a:t>realiable</a:t>
            </a:r>
            <a:r>
              <a:rPr lang="ko-KR" altLang="en-US" baseline="0" smtClean="0"/>
              <a:t>로 한 것들 찾아봄</a:t>
            </a:r>
            <a:r>
              <a:rPr lang="en-US" altLang="ko-KR" baseline="0" smtClean="0"/>
              <a:t>) </a:t>
            </a:r>
            <a:r>
              <a:rPr lang="ko-KR" altLang="en-US" baseline="0" smtClean="0"/>
              <a:t>근데 </a:t>
            </a:r>
            <a:r>
              <a:rPr lang="en-US" altLang="ko-KR" baseline="0" smtClean="0"/>
              <a:t>DDS</a:t>
            </a:r>
            <a:r>
              <a:rPr lang="ko-KR" altLang="en-US" baseline="0" smtClean="0"/>
              <a:t>는 그냥 전부다 </a:t>
            </a:r>
            <a:r>
              <a:rPr lang="en-US" altLang="ko-KR" baseline="0" smtClean="0"/>
              <a:t>cycloneDDS</a:t>
            </a:r>
            <a:r>
              <a:rPr lang="ko-KR" altLang="en-US" baseline="0" smtClean="0"/>
              <a:t>로 통일했는데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이건 뭘 위해 넣은 항목인지 잘</a:t>
            </a:r>
            <a:r>
              <a:rPr lang="en-US" altLang="ko-KR" baseline="0" smtClean="0"/>
              <a:t>? </a:t>
            </a:r>
            <a:r>
              <a:rPr lang="ko-KR" altLang="en-US" baseline="0" smtClean="0"/>
              <a:t>이해 안됨</a:t>
            </a:r>
            <a:endParaRPr lang="en-US" altLang="ko-KR" baseline="0" smtClean="0"/>
          </a:p>
          <a:p>
            <a:pPr marL="228600" indent="-228600">
              <a:buAutoNum type="arabicPeriod"/>
            </a:pPr>
            <a:endParaRPr lang="en-US" altLang="ko-KR" baseline="0" smtClean="0"/>
          </a:p>
          <a:p>
            <a:pPr marL="0" indent="0">
              <a:buNone/>
            </a:pPr>
            <a:r>
              <a:rPr lang="ko-KR" altLang="en-US" baseline="0" smtClean="0"/>
              <a:t>아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시스템 아키텍처에 대해 내가 이해를 잘 못했나보네</a:t>
            </a:r>
            <a:r>
              <a:rPr lang="en-US" altLang="ko-KR" baseline="0" smtClean="0"/>
              <a:t>. </a:t>
            </a:r>
            <a:r>
              <a:rPr lang="ko-KR" altLang="en-US" baseline="0" smtClean="0"/>
              <a:t>우선 시스템 아키텍처가 무엇인지 자세히 알려주고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위의 두 질문에 대해서 답변해줘</a:t>
            </a:r>
            <a:r>
              <a:rPr lang="en-US" altLang="ko-KR" baseline="0" smtClean="0"/>
              <a:t>.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근데 단순 순차 실행과 하위 시스템의 완료 상태를 </a:t>
            </a:r>
            <a:r>
              <a:rPr lang="en-US" altLang="ko-KR" smtClean="0"/>
              <a:t>topic</a:t>
            </a:r>
            <a:r>
              <a:rPr lang="ko-KR" altLang="en-US" smtClean="0"/>
              <a:t>으로 확인하고 다음 상태로 전이하는게 뭐가 달라</a:t>
            </a:r>
            <a:r>
              <a:rPr lang="en-US" altLang="ko-KR" smtClean="0"/>
              <a:t>? </a:t>
            </a:r>
            <a:r>
              <a:rPr lang="ko-KR" altLang="en-US" smtClean="0"/>
              <a:t>아직 </a:t>
            </a:r>
            <a:r>
              <a:rPr lang="en-US" altLang="ko-KR" smtClean="0"/>
              <a:t>exception</a:t>
            </a:r>
            <a:r>
              <a:rPr lang="en-US" altLang="ko-KR" baseline="0" smtClean="0"/>
              <a:t> handling</a:t>
            </a:r>
            <a:r>
              <a:rPr lang="ko-KR" altLang="en-US" baseline="0" smtClean="0"/>
              <a:t>에 대해서 </a:t>
            </a:r>
            <a:r>
              <a:rPr lang="en-US" altLang="ko-KR" baseline="0" smtClean="0"/>
              <a:t>stale cmdtimeout</a:t>
            </a:r>
            <a:r>
              <a:rPr lang="ko-KR" altLang="en-US" baseline="0" smtClean="0"/>
              <a:t>이랑 </a:t>
            </a:r>
            <a:r>
              <a:rPr lang="en-US" altLang="ko-KR" baseline="0" smtClean="0"/>
              <a:t>internal/external status </a:t>
            </a:r>
            <a:r>
              <a:rPr lang="ko-KR" altLang="en-US" baseline="0" smtClean="0"/>
              <a:t>분리가 뭘 말하는거야</a:t>
            </a:r>
            <a:r>
              <a:rPr lang="en-US" altLang="ko-KR" baseline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4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4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76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저 통합 안정성에 대한 내용을 넣을 수 있을 것인가</a:t>
            </a:r>
            <a:r>
              <a:rPr lang="en-US" altLang="ko-KR" smtClean="0"/>
              <a:t>? </a:t>
            </a:r>
            <a:r>
              <a:rPr lang="ko-KR" altLang="en-US" smtClean="0"/>
              <a:t>무한 대기 방지라</a:t>
            </a:r>
            <a:r>
              <a:rPr lang="en-US" altLang="ko-KR" smtClean="0"/>
              <a:t>……</a:t>
            </a:r>
            <a:r>
              <a:rPr lang="ko-KR" altLang="en-US" smtClean="0"/>
              <a:t>아직 해결하지 못한 문제ㅠㅠ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 flipH="1">
            <a:off x="7096125" y="0"/>
            <a:ext cx="5095875" cy="6858000"/>
          </a:xfrm>
          <a:prstGeom prst="rect">
            <a:avLst/>
          </a:prstGeom>
          <a:gradFill flip="none" rotWithShape="1">
            <a:gsLst>
              <a:gs pos="5000">
                <a:srgbClr val="F4F4F4"/>
              </a:gs>
              <a:gs pos="94000">
                <a:schemeClr val="tx1">
                  <a:lumMod val="75000"/>
                </a:schemeClr>
              </a:gs>
              <a:gs pos="63000">
                <a:srgbClr val="D3D3D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59436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6060"/>
                </a:solidFill>
              </a:rPr>
              <a:t>FINAL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</a:rPr>
              <a:t>ROS2 기반 AGV-로봇팔 통합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</a:rPr>
              <a:t>물류 분류 로봇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59" y="2284094"/>
            <a:ext cx="7149465" cy="429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750" smtClean="0">
                <a:solidFill>
                  <a:srgbClr val="444444"/>
                </a:solidFill>
              </a:rPr>
              <a:t>하드웨어 </a:t>
            </a:r>
            <a:r>
              <a:rPr lang="en-US" sz="1750" dirty="0">
                <a:solidFill>
                  <a:srgbClr val="444444"/>
                </a:solidFill>
              </a:rPr>
              <a:t>제약 기반 통합 제어 </a:t>
            </a:r>
            <a:r>
              <a:rPr lang="en-US" sz="1750">
                <a:solidFill>
                  <a:srgbClr val="444444"/>
                </a:solidFill>
              </a:rPr>
              <a:t>· </a:t>
            </a:r>
            <a:r>
              <a:rPr lang="en-US" sz="1750" smtClean="0">
                <a:solidFill>
                  <a:srgbClr val="444444"/>
                </a:solidFill>
              </a:rPr>
              <a:t>Mobile</a:t>
            </a:r>
            <a:r>
              <a:rPr lang="en-US" altLang="ko-KR" sz="1750" smtClean="0">
                <a:solidFill>
                  <a:srgbClr val="444444"/>
                </a:solidFill>
              </a:rPr>
              <a:t>· </a:t>
            </a:r>
            <a:r>
              <a:rPr lang="en-US" sz="1750" smtClean="0">
                <a:solidFill>
                  <a:srgbClr val="444444"/>
                </a:solidFill>
              </a:rPr>
              <a:t>Vision </a:t>
            </a:r>
            <a:r>
              <a:rPr lang="en-US" sz="1750" dirty="0">
                <a:solidFill>
                  <a:srgbClr val="444444"/>
                </a:solidFill>
              </a:rPr>
              <a:t>· Manipulation · Mission FSM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320497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Module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3483864"/>
            <a:ext cx="2148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20497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 Keyword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58008" y="3483864"/>
            <a:ext cx="4663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2477" y="362261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Navigation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58368" y="3927348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728" y="3605840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· primitive route · AMCL/odom · safety filter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2858008" y="3927348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477" y="406610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58368" y="4370832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3728" y="4049324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YOLO · depth · ArUco · eye-in-hand transform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2858008" y="4370832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477" y="450958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Manipulation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58368" y="4814316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3728" y="4492808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myCobot 280 Pi · observe sync · pick/place sequence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2858008" y="4814316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477" y="495307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Integration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2903728" y="4936292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ROS2 topics · Mission FSM · timeout/retry/align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2807208" y="3154680"/>
            <a:ext cx="0" cy="21031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15468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25780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708141"/>
            <a:ext cx="2996128" cy="73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Goong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95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2" t="22844"/>
          <a:stretch/>
        </p:blipFill>
        <p:spPr>
          <a:xfrm>
            <a:off x="8023164" y="214464"/>
            <a:ext cx="4009576" cy="6643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61616"/>
                </a:solidFill>
              </a:rPr>
              <a:t>프로젝트 </a:t>
            </a:r>
            <a:r>
              <a:rPr lang="en-US" sz="2800" b="1" smtClean="0">
                <a:solidFill>
                  <a:srgbClr val="161616"/>
                </a:solidFill>
              </a:rPr>
              <a:t>정의 </a:t>
            </a:r>
            <a:r>
              <a:rPr lang="ko-KR" altLang="en-US" sz="2800" b="1" smtClean="0">
                <a:solidFill>
                  <a:srgbClr val="161616"/>
                </a:solidFill>
              </a:rPr>
              <a:t>및 고도화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Pain Point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746504"/>
            <a:ext cx="3429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1" y="1842517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다품종 소형 </a:t>
            </a:r>
            <a:r>
              <a:rPr lang="en-US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물류 </a:t>
            </a:r>
            <a:r>
              <a:rPr 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증가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 따른 이동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피킹 증가</a:t>
            </a:r>
            <a:endParaRPr lang="en-US" sz="1400" dirty="0"/>
          </a:p>
          <a:p>
            <a:pPr marL="0" indent="0" algn="l">
              <a:buNone/>
            </a:pPr>
            <a:r>
              <a:rPr lang="en-US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 </a:t>
            </a: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효율 저하, 반복 작업 부담 발생</a:t>
            </a:r>
            <a:endParaRPr lang="en-US" sz="1400" dirty="0"/>
          </a:p>
          <a:p>
            <a:r>
              <a:rPr lang="en-US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이동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오차가 로봇팔 파지 실패로 연결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목표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56232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주문부터 배치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복귀까지 물류 작업 전 과정 자동화</a:t>
            </a:r>
            <a:endParaRPr lang="en-US" altLang="ko-KR" sz="1400" smtClean="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베이스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로봇팔의 통합 제어</a:t>
            </a:r>
            <a:endParaRPr lang="en-US" altLang="ko-KR" sz="1400" smtClean="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하드웨어 제약을 고려한 안정적 작업 수행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산출물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83880" y="1746504"/>
            <a:ext cx="3429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5623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ROS2 </a:t>
            </a:r>
            <a:r>
              <a:rPr lang="en-US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모바일 매니퓰레이터 물류 분류 시스템</a:t>
            </a:r>
            <a:endParaRPr lang="en-US" altLang="ko-KR" sz="1400" smtClean="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관리 통합 제어 소프트웨어</a:t>
            </a:r>
            <a:endParaRPr lang="en-US" altLang="ko-KR" sz="1400" smtClean="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rosbag ·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기반 성능 검증 및 </a:t>
            </a:r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</a:t>
            </a:r>
            <a:r>
              <a:rPr lang="ko-KR" altLang="en-US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</a:t>
            </a:r>
            <a:r>
              <a:rPr lang="en-US" altLang="ko-KR" sz="14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332609"/>
            <a:ext cx="3124200" cy="464055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smtClean="0"/>
              <a:t>1</a:t>
            </a:r>
            <a:r>
              <a:rPr lang="ko-KR" altLang="en-US" sz="1600" b="1" smtClean="0"/>
              <a:t>차 대비 기술 고도화 방향</a:t>
            </a:r>
            <a:endParaRPr lang="en-US" sz="1600" b="1" dirty="0"/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602698"/>
              </p:ext>
            </p:extLst>
          </p:nvPr>
        </p:nvGraphicFramePr>
        <p:xfrm>
          <a:off x="525780" y="4031487"/>
          <a:ext cx="11155680" cy="19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619522335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1403133379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49536188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954102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차 구현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차 구현 목표</a:t>
                      </a:r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 및 개선 사항</a:t>
                      </a:r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근거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0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vision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고정 카메라 기반 단일 시점 인식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Eye-in-hand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기반 근접 인식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작업 위치 변화 대응 및 관측 시점 유연성 확보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2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mobility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라인 추종 기반 고정 경로 주행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지도 기반 위치추정 및 구간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주행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물리적 라인 의존도 감소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98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WMS / Dashboard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실시간 모니터링 및 주문 입력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비상 정지</a:t>
                      </a:r>
                      <a:r>
                        <a:rPr lang="en-US" altLang="ko-KR" sz="12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· </a:t>
                      </a:r>
                      <a:r>
                        <a:rPr lang="ko-KR" altLang="en-US" sz="12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오류 상태 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대응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운영 안정성 및 예외 대응 능력 확보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735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Robot Arm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단일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층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 물체 파지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개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층에 대한 물체 파지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다층 적재 환경 대응 범위 확대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2616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388100" y="5753100"/>
            <a:ext cx="4318000" cy="441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08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/>
          <p:cNvGrpSpPr/>
          <p:nvPr/>
        </p:nvGrpSpPr>
        <p:grpSpPr>
          <a:xfrm>
            <a:off x="2271497" y="1561088"/>
            <a:ext cx="8848277" cy="4990550"/>
            <a:chOff x="3067594" y="1340394"/>
            <a:chExt cx="8591006" cy="4845446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594" y="1340394"/>
              <a:ext cx="8591006" cy="4845446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6299200" y="2202009"/>
              <a:ext cx="1225550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664051" y="2508333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 rot="20553224">
              <a:off x="6520131" y="2668009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최종 시나리오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197615"/>
            <a:ext cx="6545168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입력부터 </a:t>
            </a:r>
            <a:r>
              <a:rPr lang="en-US" sz="1800" b="1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복귀까지 </a:t>
            </a:r>
            <a:r>
              <a:rPr lang="en-US" sz="1800" b="1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  <a:sym typeface="Wingdings" panose="05000000000000000000" pitchFamily="2" charset="2"/>
              </a:rPr>
              <a:t> </a:t>
            </a:r>
            <a:r>
              <a:rPr lang="en-US" sz="1800" b="1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</a:t>
            </a:r>
            <a:r>
              <a:rPr lang="en-US" sz="18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ROS2 mission flow</a:t>
            </a:r>
            <a:r>
              <a:rPr lang="en-US" sz="1800" b="1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</a:t>
            </a:r>
            <a:r>
              <a:rPr lang="en-US" sz="1800" b="1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</a:t>
            </a:r>
            <a:endParaRPr lang="en-US" sz="1800" dirty="0"/>
          </a:p>
        </p:txBody>
      </p:sp>
      <p:sp>
        <p:nvSpPr>
          <p:cNvPr id="63" name="자유형 62"/>
          <p:cNvSpPr/>
          <p:nvPr/>
        </p:nvSpPr>
        <p:spPr>
          <a:xfrm>
            <a:off x="939202" y="2236605"/>
            <a:ext cx="9350364" cy="4433647"/>
          </a:xfrm>
          <a:custGeom>
            <a:avLst/>
            <a:gdLst>
              <a:gd name="connsiteX0" fmla="*/ 5705542 w 9934642"/>
              <a:gd name="connsiteY0" fmla="*/ 344596 h 4990510"/>
              <a:gd name="connsiteX1" fmla="*/ 390592 w 9934642"/>
              <a:gd name="connsiteY1" fmla="*/ 458896 h 4990510"/>
              <a:gd name="connsiteX2" fmla="*/ 904942 w 9934642"/>
              <a:gd name="connsiteY2" fmla="*/ 4821346 h 4990510"/>
              <a:gd name="connsiteX3" fmla="*/ 4924492 w 9934642"/>
              <a:gd name="connsiteY3" fmla="*/ 4059346 h 4990510"/>
              <a:gd name="connsiteX4" fmla="*/ 9934642 w 9934642"/>
              <a:gd name="connsiteY4" fmla="*/ 3697396 h 4990510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719641 w 9948741"/>
              <a:gd name="connsiteY0" fmla="*/ 344596 h 5028126"/>
              <a:gd name="connsiteX1" fmla="*/ 404691 w 9948741"/>
              <a:gd name="connsiteY1" fmla="*/ 458896 h 5028126"/>
              <a:gd name="connsiteX2" fmla="*/ 919041 w 9948741"/>
              <a:gd name="connsiteY2" fmla="*/ 4821346 h 5028126"/>
              <a:gd name="connsiteX3" fmla="*/ 5291944 w 9948741"/>
              <a:gd name="connsiteY3" fmla="*/ 4268905 h 5028126"/>
              <a:gd name="connsiteX4" fmla="*/ 9948741 w 9948741"/>
              <a:gd name="connsiteY4" fmla="*/ 3697396 h 5028126"/>
              <a:gd name="connsiteX0" fmla="*/ 5776880 w 10005980"/>
              <a:gd name="connsiteY0" fmla="*/ 344596 h 4877208"/>
              <a:gd name="connsiteX1" fmla="*/ 461930 w 10005980"/>
              <a:gd name="connsiteY1" fmla="*/ 458896 h 4877208"/>
              <a:gd name="connsiteX2" fmla="*/ 976280 w 10005980"/>
              <a:gd name="connsiteY2" fmla="*/ 4821346 h 4877208"/>
              <a:gd name="connsiteX3" fmla="*/ 5349183 w 10005980"/>
              <a:gd name="connsiteY3" fmla="*/ 4268905 h 4877208"/>
              <a:gd name="connsiteX4" fmla="*/ 10005980 w 10005980"/>
              <a:gd name="connsiteY4" fmla="*/ 3697396 h 48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980" h="4877208">
                <a:moveTo>
                  <a:pt x="5776880" y="344596"/>
                </a:moveTo>
                <a:cubicBezTo>
                  <a:pt x="3519455" y="28683"/>
                  <a:pt x="1262030" y="-287229"/>
                  <a:pt x="461930" y="458896"/>
                </a:cubicBezTo>
                <a:cubicBezTo>
                  <a:pt x="-338170" y="1205021"/>
                  <a:pt x="-55709" y="4577521"/>
                  <a:pt x="976280" y="4821346"/>
                </a:cubicBezTo>
                <a:cubicBezTo>
                  <a:pt x="2008269" y="5065171"/>
                  <a:pt x="3925775" y="4442259"/>
                  <a:pt x="5349183" y="4268905"/>
                </a:cubicBezTo>
                <a:cubicBezTo>
                  <a:pt x="6772591" y="4095551"/>
                  <a:pt x="9028080" y="3748196"/>
                  <a:pt x="10005980" y="3697396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/>
          <p:cNvGrpSpPr/>
          <p:nvPr/>
        </p:nvGrpSpPr>
        <p:grpSpPr>
          <a:xfrm>
            <a:off x="300681" y="2581146"/>
            <a:ext cx="1912433" cy="1043145"/>
            <a:chOff x="1452014" y="-3172967"/>
            <a:chExt cx="1980000" cy="1080000"/>
          </a:xfrm>
        </p:grpSpPr>
        <p:sp>
          <p:nvSpPr>
            <p:cNvPr id="16" name="Shape 14"/>
            <p:cNvSpPr/>
            <p:nvPr/>
          </p:nvSpPr>
          <p:spPr>
            <a:xfrm>
              <a:off x="1452014" y="-317296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89174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854026" y="-3063239"/>
              <a:ext cx="133077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랙 앞 정렬</a:t>
              </a:r>
              <a:endParaRPr lang="en-US" sz="16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589174" y="-2670047"/>
              <a:ext cx="171600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ArUco final align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/aruco_align_done</a:t>
              </a:r>
              <a:endParaRPr lang="en-US" sz="1250" dirty="0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67228" y="4230889"/>
            <a:ext cx="2252150" cy="1043145"/>
            <a:chOff x="4268366" y="-3172967"/>
            <a:chExt cx="2331720" cy="1080000"/>
          </a:xfrm>
        </p:grpSpPr>
        <p:sp>
          <p:nvSpPr>
            <p:cNvPr id="20" name="Shape 18"/>
            <p:cNvSpPr/>
            <p:nvPr/>
          </p:nvSpPr>
          <p:spPr>
            <a:xfrm>
              <a:off x="4268366" y="-3172967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405526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862726" y="-3063239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관측·인식</a:t>
              </a:r>
              <a:endParaRPr lang="en-US" sz="16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405526" y="-2670047"/>
              <a:ext cx="1499974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observe_ready → YOLO+depth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/box_pose</a:t>
              </a:r>
              <a:endParaRPr lang="en-US" sz="1250" dirty="0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516816" y="5649751"/>
            <a:ext cx="2296310" cy="1043145"/>
            <a:chOff x="-4180690" y="-1389887"/>
            <a:chExt cx="2377440" cy="1080000"/>
          </a:xfrm>
        </p:grpSpPr>
        <p:sp>
          <p:nvSpPr>
            <p:cNvPr id="24" name="Shape 22"/>
            <p:cNvSpPr/>
            <p:nvPr/>
          </p:nvSpPr>
          <p:spPr>
            <a:xfrm>
              <a:off x="-4180690" y="-138988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-4043530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-3586330" y="-1280159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Pick</a:t>
              </a:r>
              <a:endParaRPr lang="en-US" sz="16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-4043530" y="-88696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myCobot pick sequence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/pick_status</a:t>
              </a:r>
              <a:endParaRPr lang="en-US" sz="1250" dirty="0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4985655" y="1889249"/>
            <a:ext cx="1980000" cy="1080000"/>
            <a:chOff x="170035" y="1221509"/>
            <a:chExt cx="1980000" cy="1080000"/>
          </a:xfrm>
        </p:grpSpPr>
        <p:sp>
          <p:nvSpPr>
            <p:cNvPr id="8" name="Shape 6"/>
            <p:cNvSpPr/>
            <p:nvPr/>
          </p:nvSpPr>
          <p:spPr>
            <a:xfrm>
              <a:off x="170035" y="1221509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07195" y="1340382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72371" y="1312950"/>
              <a:ext cx="12106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주문 입력</a:t>
              </a:r>
              <a:endParaRPr lang="en-US" sz="16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07195" y="1724430"/>
              <a:ext cx="1715966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/order_request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물품·목적지·선반 정보</a:t>
              </a:r>
              <a:endParaRPr lang="en-US" sz="1250" dirty="0"/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2481878" y="1623639"/>
            <a:ext cx="2020777" cy="1080000"/>
            <a:chOff x="180998" y="2498484"/>
            <a:chExt cx="2020777" cy="1080000"/>
          </a:xfrm>
        </p:grpSpPr>
        <p:sp>
          <p:nvSpPr>
            <p:cNvPr id="12" name="Shape 10"/>
            <p:cNvSpPr/>
            <p:nvPr/>
          </p:nvSpPr>
          <p:spPr>
            <a:xfrm>
              <a:off x="180998" y="2498484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8158" y="2617356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87946" y="2608580"/>
              <a:ext cx="144136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AGV → Rack</a:t>
              </a:r>
              <a:endParaRPr lang="en-US" sz="16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8158" y="3001404"/>
              <a:ext cx="1883617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Nav2 / primitive route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/primitive_route_cmd</a:t>
              </a:r>
              <a:endParaRPr lang="en-US" sz="1250" dirty="0"/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7747277" y="5316925"/>
            <a:ext cx="1980000" cy="1080000"/>
            <a:chOff x="1452014" y="-1389887"/>
            <a:chExt cx="1980000" cy="1080000"/>
          </a:xfrm>
        </p:grpSpPr>
        <p:sp>
          <p:nvSpPr>
            <p:cNvPr id="32" name="Shape 30"/>
            <p:cNvSpPr/>
            <p:nvPr/>
          </p:nvSpPr>
          <p:spPr>
            <a:xfrm>
              <a:off x="1452014" y="-138988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589174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07</a:t>
              </a:r>
              <a:endParaRPr lang="en-US" sz="1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2046374" y="-1280159"/>
              <a:ext cx="99551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Place</a:t>
              </a:r>
              <a:endParaRPr lang="en-US" sz="16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1589174" y="-886967"/>
              <a:ext cx="147842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QR/ArUco verify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/place_command</a:t>
              </a:r>
              <a:endParaRPr lang="en-US" sz="1250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10113264" y="4920587"/>
            <a:ext cx="2377440" cy="1080000"/>
            <a:chOff x="4268366" y="-1389887"/>
            <a:chExt cx="2377440" cy="1080000"/>
          </a:xfrm>
        </p:grpSpPr>
        <p:sp>
          <p:nvSpPr>
            <p:cNvPr id="36" name="Shape 34"/>
            <p:cNvSpPr/>
            <p:nvPr/>
          </p:nvSpPr>
          <p:spPr>
            <a:xfrm>
              <a:off x="4268366" y="-1389887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405526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08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4862726" y="-1280159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Return</a:t>
              </a:r>
              <a:endParaRPr lang="en-US" sz="16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4405526" y="-88696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parking route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/wms_update</a:t>
              </a:r>
              <a:endParaRPr lang="en-US" sz="1250" dirty="0"/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5107311" y="5722585"/>
            <a:ext cx="2377440" cy="1080000"/>
            <a:chOff x="-1364338" y="-1389887"/>
            <a:chExt cx="2377440" cy="1080000"/>
          </a:xfrm>
        </p:grpSpPr>
        <p:sp>
          <p:nvSpPr>
            <p:cNvPr id="28" name="Shape 26"/>
            <p:cNvSpPr/>
            <p:nvPr/>
          </p:nvSpPr>
          <p:spPr>
            <a:xfrm>
              <a:off x="-1364338" y="-1389887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-1227178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-971504" y="-1305558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AGV → 목적지</a:t>
              </a:r>
              <a:endParaRPr lang="en-US" sz="16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-1227178" y="-88696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route runner</a:t>
              </a:r>
              <a:endParaRPr lang="en-US" sz="1250" dirty="0"/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/nav_status</a:t>
              </a:r>
              <a:endParaRPr lang="en-US" sz="1250" dirty="0"/>
            </a:p>
          </p:txBody>
        </p:sp>
      </p:grpSp>
      <p:sp>
        <p:nvSpPr>
          <p:cNvPr id="40" name="이등변 삼각형 39"/>
          <p:cNvSpPr/>
          <p:nvPr/>
        </p:nvSpPr>
        <p:spPr>
          <a:xfrm rot="16200000">
            <a:off x="4582393" y="226466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이등변 삼각형 63"/>
          <p:cNvSpPr/>
          <p:nvPr/>
        </p:nvSpPr>
        <p:spPr>
          <a:xfrm rot="14625688">
            <a:off x="1669102" y="2317410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/>
          <p:cNvSpPr/>
          <p:nvPr/>
        </p:nvSpPr>
        <p:spPr>
          <a:xfrm rot="11072487">
            <a:off x="815354" y="388632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이등변 삼각형 65"/>
          <p:cNvSpPr/>
          <p:nvPr/>
        </p:nvSpPr>
        <p:spPr>
          <a:xfrm rot="10050753">
            <a:off x="961382" y="5410686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이등변 삼각형 66"/>
          <p:cNvSpPr/>
          <p:nvPr/>
        </p:nvSpPr>
        <p:spPr>
          <a:xfrm rot="4518165">
            <a:off x="3710721" y="6409963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이등변 삼각형 67"/>
          <p:cNvSpPr/>
          <p:nvPr/>
        </p:nvSpPr>
        <p:spPr>
          <a:xfrm rot="5029121">
            <a:off x="7299373" y="58211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이등변 삼각형 68"/>
          <p:cNvSpPr/>
          <p:nvPr/>
        </p:nvSpPr>
        <p:spPr>
          <a:xfrm rot="5029121">
            <a:off x="9795900" y="554657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시스템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50" dirty="0"/>
          </a:p>
        </p:txBody>
      </p:sp>
      <p:grpSp>
        <p:nvGrpSpPr>
          <p:cNvPr id="61" name="그룹 60"/>
          <p:cNvGrpSpPr/>
          <p:nvPr/>
        </p:nvGrpSpPr>
        <p:grpSpPr>
          <a:xfrm>
            <a:off x="9002592" y="5614074"/>
            <a:ext cx="2788001" cy="969984"/>
            <a:chOff x="261366" y="4160520"/>
            <a:chExt cx="5486400" cy="1399032"/>
          </a:xfrm>
        </p:grpSpPr>
        <p:sp>
          <p:nvSpPr>
            <p:cNvPr id="48" name="Text 46"/>
            <p:cNvSpPr/>
            <p:nvPr/>
          </p:nvSpPr>
          <p:spPr>
            <a:xfrm>
              <a:off x="261366" y="4160520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52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Hardware Engineering Point</a:t>
              </a:r>
              <a:endParaRPr lang="en-US" sz="152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261366" y="4489704"/>
              <a:ext cx="548640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261366" y="4599432"/>
              <a:ext cx="54864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· </a:t>
              </a:r>
              <a:r>
                <a:rPr lang="en-US" sz="13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D435 처리는 Orin에서 수행하고, Nano</a:t>
              </a:r>
              <a:r>
                <a:rPr lang="en-US" sz="135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는 </a:t>
              </a:r>
              <a:r>
                <a:rPr 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주행 통합 </a:t>
              </a:r>
              <a:r>
                <a:rPr lang="en-US" sz="13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제어에 집중하여 CPU/FPS 병목을 분리</a:t>
              </a:r>
              <a:endParaRPr lang="en-US" sz="1350" dirty="0"/>
            </a:p>
            <a:p>
              <a:pPr marL="0" indent="0" algn="l">
                <a:buNone/>
              </a:pPr>
              <a:r>
                <a:rPr lang="en-US" sz="135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· /cmd_vel은 직접 외부 노드에서 쓰지 않고 safety filter</a:t>
              </a:r>
              <a:r>
                <a:rPr lang="en-US" sz="135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를 </a:t>
              </a:r>
              <a:r>
                <a:rPr 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거쳐 </a:t>
              </a:r>
              <a:r>
                <a:rPr lang="ko-KR" alt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급격한 속도 명령을 제한</a:t>
              </a:r>
              <a:r>
                <a:rPr lang="en-US" altLang="ko-KR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, </a:t>
              </a:r>
              <a:r>
                <a:rPr lang="ko-KR" alt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보정</a:t>
              </a:r>
              <a:endParaRPr lang="en-US" sz="135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endParaRPr>
            </a:p>
            <a:p>
              <a:r>
                <a:rPr lang="en-US" altLang="ko-KR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· </a:t>
              </a:r>
              <a:r>
                <a:rPr lang="ko-KR" alt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로봇의 자유도를 확보하기 위해 모바일에 고정된 </a:t>
              </a:r>
              <a:r>
                <a:rPr lang="en-US" altLang="ko-KR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D435</a:t>
              </a:r>
              <a:r>
                <a:rPr lang="ko-KR" altLang="en-US" sz="135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를 로봇팔로 이동</a:t>
              </a:r>
              <a:endParaRPr lang="en-US" sz="1350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-5767635" y="6419665"/>
            <a:ext cx="5303520" cy="1399032"/>
            <a:chOff x="575108" y="5887210"/>
            <a:chExt cx="5303520" cy="1399032"/>
          </a:xfrm>
        </p:grpSpPr>
        <p:sp>
          <p:nvSpPr>
            <p:cNvPr id="51" name="Text 49"/>
            <p:cNvSpPr/>
            <p:nvPr/>
          </p:nvSpPr>
          <p:spPr>
            <a:xfrm>
              <a:off x="575108" y="588721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20" b="1" dirty="0">
                  <a:solidFill>
                    <a:srgbClr val="161616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Architecture Keyword</a:t>
              </a:r>
              <a:endParaRPr lang="en-US" sz="152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75108" y="6216394"/>
              <a:ext cx="530352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75108" y="6326122"/>
              <a:ext cx="53035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420" dirty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Application Layer → ROS2 Node Layer → DDS Communication → </a:t>
              </a:r>
              <a:r>
                <a:rPr lang="en-US" sz="142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Hardware </a:t>
              </a:r>
              <a:r>
                <a:rPr lang="en-US" sz="1420" smtClean="0">
                  <a:solidFill>
                    <a:srgbClr val="444444"/>
                  </a:solidFill>
                  <a:latin typeface="Noto Sans CJK KR" pitchFamily="34" charset="0"/>
                  <a:ea typeface="Noto Sans CJK KR" pitchFamily="34" charset="-122"/>
                  <a:cs typeface="Noto Sans CJK KR" pitchFamily="34" charset="-120"/>
                </a:rPr>
                <a:t>Layer</a:t>
              </a:r>
              <a:endParaRPr lang="en-US" sz="1420" dirty="0"/>
            </a:p>
          </p:txBody>
        </p:sp>
      </p:grpSp>
      <p:sp>
        <p:nvSpPr>
          <p:cNvPr id="54" name="Text 52"/>
          <p:cNvSpPr/>
          <p:nvPr/>
        </p:nvSpPr>
        <p:spPr>
          <a:xfrm>
            <a:off x="575108" y="7266428"/>
            <a:ext cx="51206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[시스템 전체 사진 / 하드웨어 구성도 삽입 위치]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74"/>
          <a:stretch/>
        </p:blipFill>
        <p:spPr>
          <a:xfrm>
            <a:off x="6997699" y="1112989"/>
            <a:ext cx="3529116" cy="4499644"/>
          </a:xfrm>
          <a:prstGeom prst="rect">
            <a:avLst/>
          </a:prstGeom>
        </p:spPr>
      </p:pic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09571"/>
              </p:ext>
            </p:extLst>
          </p:nvPr>
        </p:nvGraphicFramePr>
        <p:xfrm>
          <a:off x="5955" y="-1396280"/>
          <a:ext cx="11744085" cy="1432560"/>
        </p:xfrm>
        <a:graphic>
          <a:graphicData uri="http://schemas.openxmlformats.org/drawingml/2006/table">
            <a:tbl>
              <a:tblPr/>
              <a:tblGrid>
                <a:gridCol w="3914695">
                  <a:extLst>
                    <a:ext uri="{9D8B030D-6E8A-4147-A177-3AD203B41FA5}">
                      <a16:colId xmlns:a16="http://schemas.microsoft.com/office/drawing/2014/main" val="2810632424"/>
                    </a:ext>
                  </a:extLst>
                </a:gridCol>
                <a:gridCol w="3914695">
                  <a:extLst>
                    <a:ext uri="{9D8B030D-6E8A-4147-A177-3AD203B41FA5}">
                      <a16:colId xmlns:a16="http://schemas.microsoft.com/office/drawing/2014/main" val="4119333128"/>
                    </a:ext>
                  </a:extLst>
                </a:gridCol>
                <a:gridCol w="3914695">
                  <a:extLst>
                    <a:ext uri="{9D8B030D-6E8A-4147-A177-3AD203B41FA5}">
                      <a16:colId xmlns:a16="http://schemas.microsoft.com/office/drawing/2014/main" val="1798139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주요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대표 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22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Mission /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주문 처리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작업 순서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상태 전이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복귀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Mission </a:t>
                      </a:r>
                      <a:r>
                        <a:rPr lang="en-US" sz="1400" smtClean="0">
                          <a:solidFill>
                            <a:schemeClr val="bg1"/>
                          </a:solidFill>
                        </a:rPr>
                        <a:t>Brain Node, </a:t>
                      </a: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State </a:t>
                      </a:r>
                      <a:r>
                        <a:rPr lang="en-US" sz="1400" smtClean="0">
                          <a:solidFill>
                            <a:schemeClr val="bg1"/>
                          </a:solidFill>
                        </a:rPr>
                        <a:t>Machine Node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634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Functional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인지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주행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정렬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파지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안전 제어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Vision, Primitive Driving, ArUco Align, Pick, Safety Filter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모듈 간 명령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·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상태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</a:rPr>
                        <a:t>·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센서 데이터 교환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ROS2 </a:t>
                      </a:r>
                      <a:r>
                        <a:rPr lang="en-US" sz="1400" smtClean="0">
                          <a:solidFill>
                            <a:schemeClr val="bg1"/>
                          </a:solidFill>
                        </a:rPr>
                        <a:t>Topic,</a:t>
                      </a:r>
                      <a:r>
                        <a:rPr lang="en-US" sz="1400" baseline="0" smtClean="0">
                          <a:solidFill>
                            <a:schemeClr val="bg1"/>
                          </a:solidFill>
                        </a:rPr>
                        <a:t> CycloneDDS </a:t>
                      </a:r>
                      <a:r>
                        <a:rPr lang="ko-KR" altLang="en-US" sz="1400" baseline="0" smtClean="0">
                          <a:solidFill>
                            <a:schemeClr val="bg1"/>
                          </a:solidFill>
                        </a:rPr>
                        <a:t>기반 분산 통신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132730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3000086" y="154389"/>
            <a:ext cx="10484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>
                <a:solidFill>
                  <a:sysClr val="windowText" lastClr="000000"/>
                </a:solidFill>
              </a:rPr>
              <a:t>Sensor				</a:t>
            </a:r>
            <a:r>
              <a:rPr lang="ko-KR" altLang="en-US" sz="1400" smtClean="0">
                <a:solidFill>
                  <a:sysClr val="windowText" lastClr="000000"/>
                </a:solidFill>
              </a:rPr>
              <a:t>상태 피드백 제어를 위한 데이터 제공</a:t>
            </a:r>
            <a:r>
              <a:rPr lang="en-US" altLang="ko-KR" sz="1400" smtClean="0">
                <a:solidFill>
                  <a:sysClr val="windowText" lastClr="000000"/>
                </a:solidFill>
              </a:rPr>
              <a:t>	encoders, realsense D435, LiDAR</a:t>
            </a:r>
            <a:endParaRPr lang="ko-KR" altLang="en-US" sz="1400">
              <a:solidFill>
                <a:sysClr val="windowText" lastClr="000000"/>
              </a:solidFill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7392"/>
              </p:ext>
            </p:extLst>
          </p:nvPr>
        </p:nvGraphicFramePr>
        <p:xfrm>
          <a:off x="3130550" y="567031"/>
          <a:ext cx="11744085" cy="518160"/>
        </p:xfrm>
        <a:graphic>
          <a:graphicData uri="http://schemas.openxmlformats.org/drawingml/2006/table">
            <a:tbl>
              <a:tblPr/>
              <a:tblGrid>
                <a:gridCol w="3914695">
                  <a:extLst>
                    <a:ext uri="{9D8B030D-6E8A-4147-A177-3AD203B41FA5}">
                      <a16:colId xmlns:a16="http://schemas.microsoft.com/office/drawing/2014/main" val="3341072390"/>
                    </a:ext>
                  </a:extLst>
                </a:gridCol>
                <a:gridCol w="3914695">
                  <a:extLst>
                    <a:ext uri="{9D8B030D-6E8A-4147-A177-3AD203B41FA5}">
                      <a16:colId xmlns:a16="http://schemas.microsoft.com/office/drawing/2014/main" val="2801506819"/>
                    </a:ext>
                  </a:extLst>
                </a:gridCol>
                <a:gridCol w="3914695">
                  <a:extLst>
                    <a:ext uri="{9D8B030D-6E8A-4147-A177-3AD203B41FA5}">
                      <a16:colId xmlns:a16="http://schemas.microsoft.com/office/drawing/2014/main" val="3288771974"/>
                    </a:ext>
                  </a:extLst>
                </a:gridCol>
              </a:tblGrid>
              <a:tr h="471658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Deployment /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solidFill>
                            <a:schemeClr val="bg1"/>
                          </a:solidFill>
                        </a:rPr>
                        <a:t>연산 실행 및 실제 구동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Orin Nano, Jetson Nano, Raspberry Pi, myAGV, myCobot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192374"/>
                  </a:ext>
                </a:extLst>
              </a:tr>
            </a:tbl>
          </a:graphicData>
        </a:graphic>
      </p:graphicFrame>
      <p:sp>
        <p:nvSpPr>
          <p:cNvPr id="63" name="직사각형 62"/>
          <p:cNvSpPr/>
          <p:nvPr/>
        </p:nvSpPr>
        <p:spPr>
          <a:xfrm>
            <a:off x="333829" y="1387567"/>
            <a:ext cx="3715652" cy="530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411665" y="1549678"/>
            <a:ext cx="30723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mtClean="0"/>
              <a:t>Layer</a:t>
            </a:r>
          </a:p>
          <a:p>
            <a:r>
              <a:rPr lang="en-US" altLang="ko-KR" sz="2400" smtClean="0"/>
              <a:t>Mission / Application</a:t>
            </a:r>
          </a:p>
          <a:p>
            <a:r>
              <a:rPr lang="en-US" altLang="ko-KR" sz="2400" smtClean="0"/>
              <a:t>Functional nodes</a:t>
            </a:r>
          </a:p>
          <a:p>
            <a:r>
              <a:rPr lang="en-US" altLang="ko-KR" sz="2400" smtClean="0"/>
              <a:t>communication</a:t>
            </a:r>
            <a:endParaRPr lang="ko-KR" altLang="en-US" sz="2400"/>
          </a:p>
        </p:txBody>
      </p:sp>
      <p:sp>
        <p:nvSpPr>
          <p:cNvPr id="65" name="오른쪽 화살표 64"/>
          <p:cNvSpPr/>
          <p:nvPr/>
        </p:nvSpPr>
        <p:spPr>
          <a:xfrm>
            <a:off x="4084183" y="4028404"/>
            <a:ext cx="1335314" cy="5609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4124259" y="3684505"/>
            <a:ext cx="121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하드웨어</a:t>
            </a:r>
            <a:endParaRPr lang="ko-KR" altLang="en-US">
              <a:solidFill>
                <a:schemeClr val="bg1"/>
              </a:solidFill>
            </a:endParaRPr>
          </a:p>
        </p:txBody>
      </p:sp>
      <p:grpSp>
        <p:nvGrpSpPr>
          <p:cNvPr id="70" name="그룹 69"/>
          <p:cNvGrpSpPr/>
          <p:nvPr/>
        </p:nvGrpSpPr>
        <p:grpSpPr>
          <a:xfrm>
            <a:off x="10127960" y="1337213"/>
            <a:ext cx="4565979" cy="2227303"/>
            <a:chOff x="5378120" y="2307481"/>
            <a:chExt cx="4565979" cy="2227303"/>
          </a:xfrm>
        </p:grpSpPr>
        <p:sp>
          <p:nvSpPr>
            <p:cNvPr id="67" name="직사각형 66"/>
            <p:cNvSpPr/>
            <p:nvPr/>
          </p:nvSpPr>
          <p:spPr>
            <a:xfrm>
              <a:off x="5378120" y="2307481"/>
              <a:ext cx="4565979" cy="22273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Sensor</a:t>
              </a:r>
            </a:p>
            <a:p>
              <a:pPr algn="ctr"/>
              <a:r>
                <a:rPr lang="en-US" altLang="ko-KR" smtClean="0"/>
                <a:t>-</a:t>
              </a:r>
              <a:r>
                <a:rPr lang="ko-KR" altLang="en-US" smtClean="0"/>
                <a:t>상태 피드백 제어를 위한 데이터 제공</a:t>
              </a:r>
              <a:endParaRPr lang="en-US" altLang="ko-KR" smtClean="0"/>
            </a:p>
            <a:p>
              <a:pPr algn="ctr"/>
              <a:endParaRPr lang="en-US" altLang="ko-KR"/>
            </a:p>
            <a:p>
              <a:pPr algn="ctr"/>
              <a:endParaRPr lang="en-US" altLang="ko-KR" smtClean="0"/>
            </a:p>
            <a:p>
              <a:pPr algn="ctr"/>
              <a:endParaRPr lang="en-US" altLang="ko-KR" smtClean="0"/>
            </a:p>
            <a:p>
              <a:pPr algn="ctr"/>
              <a:endParaRPr lang="en-US" altLang="ko-KR" smtClean="0"/>
            </a:p>
            <a:p>
              <a:pPr algn="ctr"/>
              <a:endParaRPr lang="ko-KR" altLang="en-US"/>
            </a:p>
          </p:txBody>
        </p:sp>
        <p:pic>
          <p:nvPicPr>
            <p:cNvPr id="68" name="그림 6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35" r="75907" b="26679"/>
            <a:stretch/>
          </p:blipFill>
          <p:spPr>
            <a:xfrm>
              <a:off x="5519053" y="3222616"/>
              <a:ext cx="1994529" cy="1285247"/>
            </a:xfrm>
            <a:prstGeom prst="rect">
              <a:avLst/>
            </a:prstGeom>
          </p:spPr>
        </p:pic>
        <p:pic>
          <p:nvPicPr>
            <p:cNvPr id="69" name="그림 68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130" r="75907" b="53794"/>
            <a:stretch/>
          </p:blipFill>
          <p:spPr>
            <a:xfrm>
              <a:off x="7737408" y="3106580"/>
              <a:ext cx="1994529" cy="1401283"/>
            </a:xfrm>
            <a:prstGeom prst="rect">
              <a:avLst/>
            </a:prstGeom>
          </p:spPr>
        </p:pic>
      </p:grpSp>
      <p:pic>
        <p:nvPicPr>
          <p:cNvPr id="56" name="그림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069" y="-95722"/>
            <a:ext cx="11896198" cy="66951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smtClean="0">
                <a:solidFill>
                  <a:srgbClr val="161616"/>
                </a:solidFill>
              </a:rPr>
              <a:t>Mission FSM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순차 실행이 아니라, 각 하위 시스템의 완료 상태를 topic으로 확인하고 다음 상태로 전이합니다.</a:t>
            </a:r>
            <a:endParaRPr lang="en-US" sz="172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176936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19202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76936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진입 조건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514600" y="2048256"/>
            <a:ext cx="27432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769364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 확인 Topic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257800" y="2048256"/>
            <a:ext cx="29260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769364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예외 처리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183880" y="2048256"/>
            <a:ext cx="3474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03120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IDLE</a:t>
            </a:r>
            <a:endParaRPr lang="en-US" sz="1025" dirty="0"/>
          </a:p>
        </p:txBody>
      </p:sp>
      <p:sp>
        <p:nvSpPr>
          <p:cNvPr id="17" name="Shape 15"/>
          <p:cNvSpPr/>
          <p:nvPr/>
        </p:nvSpPr>
        <p:spPr>
          <a:xfrm>
            <a:off x="594360" y="2515743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103120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대기</a:t>
            </a:r>
            <a:endParaRPr lang="en-US" sz="1025" dirty="0"/>
          </a:p>
        </p:txBody>
      </p:sp>
      <p:sp>
        <p:nvSpPr>
          <p:cNvPr id="19" name="Shape 17"/>
          <p:cNvSpPr/>
          <p:nvPr/>
        </p:nvSpPr>
        <p:spPr>
          <a:xfrm>
            <a:off x="2514600" y="2515743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103120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/order_request</a:t>
            </a:r>
            <a:endParaRPr lang="en-US" sz="1025" dirty="0"/>
          </a:p>
        </p:txBody>
      </p:sp>
      <p:sp>
        <p:nvSpPr>
          <p:cNvPr id="21" name="Shape 19"/>
          <p:cNvSpPr/>
          <p:nvPr/>
        </p:nvSpPr>
        <p:spPr>
          <a:xfrm>
            <a:off x="5257800" y="2515743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103120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invalid order reject</a:t>
            </a:r>
            <a:endParaRPr lang="en-US" sz="1025" dirty="0"/>
          </a:p>
        </p:txBody>
      </p:sp>
      <p:sp>
        <p:nvSpPr>
          <p:cNvPr id="23" name="Shape 21"/>
          <p:cNvSpPr/>
          <p:nvPr/>
        </p:nvSpPr>
        <p:spPr>
          <a:xfrm>
            <a:off x="8183880" y="2515743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570607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NAV_TO_RACK</a:t>
            </a:r>
            <a:endParaRPr lang="en-US" sz="1025" dirty="0"/>
          </a:p>
        </p:txBody>
      </p:sp>
      <p:sp>
        <p:nvSpPr>
          <p:cNvPr id="25" name="Shape 23"/>
          <p:cNvSpPr/>
          <p:nvPr/>
        </p:nvSpPr>
        <p:spPr>
          <a:xfrm>
            <a:off x="594360" y="2983230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570607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place_target 수신</a:t>
            </a:r>
            <a:endParaRPr lang="en-US" sz="1025" dirty="0"/>
          </a:p>
        </p:txBody>
      </p:sp>
      <p:sp>
        <p:nvSpPr>
          <p:cNvPr id="27" name="Shape 25"/>
          <p:cNvSpPr/>
          <p:nvPr/>
        </p:nvSpPr>
        <p:spPr>
          <a:xfrm>
            <a:off x="2514600" y="2983230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2570607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/nav_status</a:t>
            </a:r>
            <a:endParaRPr lang="en-US" sz="1025" dirty="0"/>
          </a:p>
        </p:txBody>
      </p:sp>
      <p:sp>
        <p:nvSpPr>
          <p:cNvPr id="29" name="Shape 27"/>
          <p:cNvSpPr/>
          <p:nvPr/>
        </p:nvSpPr>
        <p:spPr>
          <a:xfrm>
            <a:off x="5257800" y="2983230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2570607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timeout, route failure</a:t>
            </a:r>
            <a:endParaRPr lang="en-US" sz="1025" dirty="0"/>
          </a:p>
        </p:txBody>
      </p:sp>
      <p:sp>
        <p:nvSpPr>
          <p:cNvPr id="31" name="Shape 29"/>
          <p:cNvSpPr/>
          <p:nvPr/>
        </p:nvSpPr>
        <p:spPr>
          <a:xfrm>
            <a:off x="8183880" y="2983230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038094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</a:t>
            </a:r>
            <a:endParaRPr lang="en-US" sz="1025" dirty="0"/>
          </a:p>
        </p:txBody>
      </p:sp>
      <p:sp>
        <p:nvSpPr>
          <p:cNvPr id="33" name="Shape 31"/>
          <p:cNvSpPr/>
          <p:nvPr/>
        </p:nvSpPr>
        <p:spPr>
          <a:xfrm>
            <a:off x="594360" y="3450717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3038094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rack 도착</a:t>
            </a:r>
            <a:endParaRPr lang="en-US" sz="1025" dirty="0"/>
          </a:p>
        </p:txBody>
      </p:sp>
      <p:sp>
        <p:nvSpPr>
          <p:cNvPr id="35" name="Shape 33"/>
          <p:cNvSpPr/>
          <p:nvPr/>
        </p:nvSpPr>
        <p:spPr>
          <a:xfrm>
            <a:off x="2514600" y="3450717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038094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/observe_ready, /box_pose</a:t>
            </a:r>
            <a:endParaRPr lang="en-US" sz="1025" dirty="0"/>
          </a:p>
        </p:txBody>
      </p:sp>
      <p:sp>
        <p:nvSpPr>
          <p:cNvPr id="37" name="Shape 35"/>
          <p:cNvSpPr/>
          <p:nvPr/>
        </p:nvSpPr>
        <p:spPr>
          <a:xfrm>
            <a:off x="5257800" y="3450717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3038094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 timeout, depth invalid</a:t>
            </a:r>
            <a:endParaRPr lang="en-US" sz="1025" dirty="0"/>
          </a:p>
        </p:txBody>
      </p:sp>
      <p:sp>
        <p:nvSpPr>
          <p:cNvPr id="39" name="Shape 37"/>
          <p:cNvSpPr/>
          <p:nvPr/>
        </p:nvSpPr>
        <p:spPr>
          <a:xfrm>
            <a:off x="8183880" y="3450717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505581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PICKING</a:t>
            </a:r>
            <a:endParaRPr lang="en-US" sz="1025" dirty="0"/>
          </a:p>
        </p:txBody>
      </p:sp>
      <p:sp>
        <p:nvSpPr>
          <p:cNvPr id="41" name="Shape 39"/>
          <p:cNvSpPr/>
          <p:nvPr/>
        </p:nvSpPr>
        <p:spPr>
          <a:xfrm>
            <a:off x="594360" y="3918204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3505581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box_pose 수신</a:t>
            </a:r>
            <a:endParaRPr lang="en-US" sz="1025" dirty="0"/>
          </a:p>
        </p:txBody>
      </p:sp>
      <p:sp>
        <p:nvSpPr>
          <p:cNvPr id="43" name="Shape 41"/>
          <p:cNvSpPr/>
          <p:nvPr/>
        </p:nvSpPr>
        <p:spPr>
          <a:xfrm>
            <a:off x="2514600" y="3918204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3505581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/pick_status</a:t>
            </a:r>
            <a:endParaRPr lang="en-US" sz="1025" dirty="0"/>
          </a:p>
        </p:txBody>
      </p:sp>
      <p:sp>
        <p:nvSpPr>
          <p:cNvPr id="45" name="Shape 43"/>
          <p:cNvSpPr/>
          <p:nvPr/>
        </p:nvSpPr>
        <p:spPr>
          <a:xfrm>
            <a:off x="5257800" y="3918204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505581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fail → re-observe 1회</a:t>
            </a:r>
            <a:endParaRPr lang="en-US" sz="1025" dirty="0"/>
          </a:p>
        </p:txBody>
      </p:sp>
      <p:sp>
        <p:nvSpPr>
          <p:cNvPr id="47" name="Shape 45"/>
          <p:cNvSpPr/>
          <p:nvPr/>
        </p:nvSpPr>
        <p:spPr>
          <a:xfrm>
            <a:off x="8183880" y="3918204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973068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NAV_TO_DEST</a:t>
            </a:r>
            <a:endParaRPr lang="en-US" sz="1025" dirty="0"/>
          </a:p>
        </p:txBody>
      </p:sp>
      <p:sp>
        <p:nvSpPr>
          <p:cNvPr id="49" name="Shape 47"/>
          <p:cNvSpPr/>
          <p:nvPr/>
        </p:nvSpPr>
        <p:spPr>
          <a:xfrm>
            <a:off x="594360" y="4385691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3973068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picked 완료</a:t>
            </a:r>
            <a:endParaRPr lang="en-US" sz="1025" dirty="0"/>
          </a:p>
        </p:txBody>
      </p:sp>
      <p:sp>
        <p:nvSpPr>
          <p:cNvPr id="51" name="Shape 49"/>
          <p:cNvSpPr/>
          <p:nvPr/>
        </p:nvSpPr>
        <p:spPr>
          <a:xfrm>
            <a:off x="2514600" y="4385691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3973068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/nav_status</a:t>
            </a:r>
            <a:endParaRPr lang="en-US" sz="1025" dirty="0"/>
          </a:p>
        </p:txBody>
      </p:sp>
      <p:sp>
        <p:nvSpPr>
          <p:cNvPr id="53" name="Shape 51"/>
          <p:cNvSpPr/>
          <p:nvPr/>
        </p:nvSpPr>
        <p:spPr>
          <a:xfrm>
            <a:off x="5257800" y="4385691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3973068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retry or safe stop</a:t>
            </a:r>
            <a:endParaRPr lang="en-US" sz="1025" dirty="0"/>
          </a:p>
        </p:txBody>
      </p:sp>
      <p:sp>
        <p:nvSpPr>
          <p:cNvPr id="55" name="Shape 53"/>
          <p:cNvSpPr/>
          <p:nvPr/>
        </p:nvSpPr>
        <p:spPr>
          <a:xfrm>
            <a:off x="8183880" y="4385691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440555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VISION_PLACE</a:t>
            </a:r>
            <a:endParaRPr lang="en-US" sz="1025" dirty="0"/>
          </a:p>
        </p:txBody>
      </p:sp>
      <p:sp>
        <p:nvSpPr>
          <p:cNvPr id="57" name="Shape 55"/>
          <p:cNvSpPr/>
          <p:nvPr/>
        </p:nvSpPr>
        <p:spPr>
          <a:xfrm>
            <a:off x="594360" y="4853178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4440555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destination 도착</a:t>
            </a:r>
            <a:endParaRPr lang="en-US" sz="1025" dirty="0"/>
          </a:p>
        </p:txBody>
      </p:sp>
      <p:sp>
        <p:nvSpPr>
          <p:cNvPr id="59" name="Shape 57"/>
          <p:cNvSpPr/>
          <p:nvPr/>
        </p:nvSpPr>
        <p:spPr>
          <a:xfrm>
            <a:off x="2514600" y="4853178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0" y="4440555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/distance_status</a:t>
            </a:r>
            <a:endParaRPr lang="en-US" sz="1025" dirty="0"/>
          </a:p>
        </p:txBody>
      </p:sp>
      <p:sp>
        <p:nvSpPr>
          <p:cNvPr id="61" name="Shape 59"/>
          <p:cNvSpPr/>
          <p:nvPr/>
        </p:nvSpPr>
        <p:spPr>
          <a:xfrm>
            <a:off x="5257800" y="4853178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4440555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too_close/too_far → AGV align</a:t>
            </a:r>
            <a:endParaRPr lang="en-US" sz="1025" dirty="0"/>
          </a:p>
        </p:txBody>
      </p:sp>
      <p:sp>
        <p:nvSpPr>
          <p:cNvPr id="63" name="Shape 61"/>
          <p:cNvSpPr/>
          <p:nvPr/>
        </p:nvSpPr>
        <p:spPr>
          <a:xfrm>
            <a:off x="8183880" y="4853178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908042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PLACING</a:t>
            </a:r>
            <a:endParaRPr lang="en-US" sz="1025" dirty="0"/>
          </a:p>
        </p:txBody>
      </p:sp>
      <p:sp>
        <p:nvSpPr>
          <p:cNvPr id="65" name="Shape 63"/>
          <p:cNvSpPr/>
          <p:nvPr/>
        </p:nvSpPr>
        <p:spPr>
          <a:xfrm>
            <a:off x="594360" y="5320665"/>
            <a:ext cx="1920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60320" y="4908042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place command</a:t>
            </a:r>
            <a:endParaRPr lang="en-US" sz="1025" dirty="0"/>
          </a:p>
        </p:txBody>
      </p:sp>
      <p:sp>
        <p:nvSpPr>
          <p:cNvPr id="67" name="Shape 65"/>
          <p:cNvSpPr/>
          <p:nvPr/>
        </p:nvSpPr>
        <p:spPr>
          <a:xfrm>
            <a:off x="2514600" y="5320665"/>
            <a:ext cx="27432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03520" y="4908042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/arm_status</a:t>
            </a:r>
            <a:endParaRPr lang="en-US" sz="1025" dirty="0"/>
          </a:p>
        </p:txBody>
      </p:sp>
      <p:sp>
        <p:nvSpPr>
          <p:cNvPr id="69" name="Shape 67"/>
          <p:cNvSpPr/>
          <p:nvPr/>
        </p:nvSpPr>
        <p:spPr>
          <a:xfrm>
            <a:off x="5257800" y="5320665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0" y="4908042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timeout/interlock</a:t>
            </a:r>
            <a:endParaRPr lang="en-US" sz="1025" dirty="0"/>
          </a:p>
        </p:txBody>
      </p:sp>
      <p:sp>
        <p:nvSpPr>
          <p:cNvPr id="71" name="Shape 69"/>
          <p:cNvSpPr/>
          <p:nvPr/>
        </p:nvSpPr>
        <p:spPr>
          <a:xfrm>
            <a:off x="8183880" y="5320665"/>
            <a:ext cx="3474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5375529"/>
            <a:ext cx="182880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GO_PARKING</a:t>
            </a:r>
            <a:endParaRPr lang="en-US" sz="1025" dirty="0"/>
          </a:p>
        </p:txBody>
      </p:sp>
      <p:sp>
        <p:nvSpPr>
          <p:cNvPr id="73" name="Text 71"/>
          <p:cNvSpPr/>
          <p:nvPr/>
        </p:nvSpPr>
        <p:spPr>
          <a:xfrm>
            <a:off x="2560320" y="5375529"/>
            <a:ext cx="265176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완료</a:t>
            </a:r>
            <a:endParaRPr lang="en-US" sz="1025" dirty="0"/>
          </a:p>
        </p:txBody>
      </p:sp>
      <p:sp>
        <p:nvSpPr>
          <p:cNvPr id="74" name="Text 72"/>
          <p:cNvSpPr/>
          <p:nvPr/>
        </p:nvSpPr>
        <p:spPr>
          <a:xfrm>
            <a:off x="5303520" y="5375529"/>
            <a:ext cx="283464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/wms_update</a:t>
            </a:r>
            <a:endParaRPr lang="en-US" sz="1025" dirty="0"/>
          </a:p>
        </p:txBody>
      </p:sp>
      <p:sp>
        <p:nvSpPr>
          <p:cNvPr id="75" name="Text 73"/>
          <p:cNvSpPr/>
          <p:nvPr/>
        </p:nvSpPr>
        <p:spPr>
          <a:xfrm>
            <a:off x="8229600" y="5375529"/>
            <a:ext cx="3383280" cy="385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emergency stop 우선</a:t>
            </a:r>
            <a:endParaRPr lang="en-US" sz="1025" dirty="0"/>
          </a:p>
        </p:txBody>
      </p:sp>
      <p:sp>
        <p:nvSpPr>
          <p:cNvPr id="76" name="Shape 74"/>
          <p:cNvSpPr/>
          <p:nvPr/>
        </p:nvSpPr>
        <p:spPr>
          <a:xfrm>
            <a:off x="2514600" y="1719072"/>
            <a:ext cx="0" cy="4069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57800" y="1719072"/>
            <a:ext cx="0" cy="4069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83880" y="1719072"/>
            <a:ext cx="0" cy="4069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360" y="1719072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4360" y="5788152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4360" y="6016752"/>
            <a:ext cx="1828800" cy="292608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2606040" y="5980176"/>
            <a:ext cx="89611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emergency stop · vision timeout </a:t>
            </a: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pick retry · distance align </a:t>
            </a:r>
            <a:r>
              <a:rPr lang="en-US" sz="152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stale cmd timeout · internal/external status 분리</a:t>
            </a:r>
            <a:endParaRPr lang="en-US" sz="1520" dirty="0">
              <a:solidFill>
                <a:srgbClr val="FF0000"/>
              </a:solidFill>
            </a:endParaRPr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3312967"/>
            <a:ext cx="5904232" cy="33164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61616"/>
                </a:solidFill>
              </a:rPr>
              <a:t>ROS2 </a:t>
            </a:r>
            <a:r>
              <a:rPr lang="en-US" sz="2800" b="1" smtClean="0">
                <a:solidFill>
                  <a:srgbClr val="161616"/>
                </a:solidFill>
              </a:rPr>
              <a:t>node &amp; topic </a:t>
            </a:r>
            <a:r>
              <a:rPr lang="en-US" sz="2800" b="1" smtClean="0">
                <a:solidFill>
                  <a:srgbClr val="161616"/>
                </a:solidFill>
              </a:rPr>
              <a:t>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5"/>
          <p:cNvSpPr/>
          <p:nvPr/>
        </p:nvSpPr>
        <p:spPr>
          <a:xfrm>
            <a:off x="713232" y="1600199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이동 파이프라인</a:t>
            </a:r>
            <a:endParaRPr lang="en-US" sz="1520" dirty="0"/>
          </a:p>
        </p:txBody>
      </p:sp>
      <p:sp>
        <p:nvSpPr>
          <p:cNvPr id="7" name="Shape 6"/>
          <p:cNvSpPr/>
          <p:nvPr/>
        </p:nvSpPr>
        <p:spPr>
          <a:xfrm>
            <a:off x="713232" y="1929383"/>
            <a:ext cx="35661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13232" y="2039111"/>
            <a:ext cx="3566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/order_request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brain_node</a:t>
            </a:r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/place_target 또는 </a:t>
            </a: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primitive_route_cmd</a:t>
            </a:r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mission_brain_node 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</a:p>
          <a:p>
            <a:pPr marL="0" indent="0" algn="l">
              <a:buNone/>
            </a:pPr>
            <a:endParaRPr lang="en-US" sz="150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primitive_route_runner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cmd_vel_nav</a:t>
            </a:r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cmd_vel_safety_filter</a:t>
            </a:r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50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5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</a:t>
            </a:r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myAGV driver / MCU</a:t>
            </a:r>
            <a:endParaRPr lang="en-US" sz="1500" dirty="0"/>
          </a:p>
        </p:txBody>
      </p:sp>
      <p:sp>
        <p:nvSpPr>
          <p:cNvPr id="9" name="Text 8"/>
          <p:cNvSpPr/>
          <p:nvPr/>
        </p:nvSpPr>
        <p:spPr>
          <a:xfrm>
            <a:off x="4434840" y="1600199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인식·파지 파이프라인</a:t>
            </a:r>
            <a:endParaRPr lang="en-US" sz="1520" dirty="0"/>
          </a:p>
        </p:txBody>
      </p:sp>
      <p:sp>
        <p:nvSpPr>
          <p:cNvPr id="10" name="Shape 9"/>
          <p:cNvSpPr/>
          <p:nvPr/>
        </p:nvSpPr>
        <p:spPr>
          <a:xfrm>
            <a:off x="4434840" y="1929383"/>
            <a:ext cx="3703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 10"/>
          <p:cNvSpPr/>
          <p:nvPr/>
        </p:nvSpPr>
        <p:spPr>
          <a:xfrm>
            <a:off x="4434840" y="2039111"/>
            <a:ext cx="37033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/nav_status arrived_objects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observe_move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pick_eyeinhand_node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/observe_ready + </a:t>
            </a: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observe_pose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vision_eyeinhand_node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YOLO + depth </a:t>
            </a: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T_cam2base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/box_pose 또는 </a:t>
            </a:r>
            <a:r>
              <a:rPr lang="en-US" sz="146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6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distance_status</a:t>
            </a:r>
          </a:p>
          <a:p>
            <a:pPr marL="0" indent="0" algn="l">
              <a:buNone/>
            </a:pP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/pick_command</a:t>
            </a:r>
            <a:endParaRPr lang="en-US" sz="1460" dirty="0"/>
          </a:p>
        </p:txBody>
      </p:sp>
      <p:sp>
        <p:nvSpPr>
          <p:cNvPr id="12" name="Text 11"/>
          <p:cNvSpPr/>
          <p:nvPr/>
        </p:nvSpPr>
        <p:spPr>
          <a:xfrm>
            <a:off x="8302752" y="1600199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AGV-Arm 정렬 루프</a:t>
            </a:r>
            <a:endParaRPr lang="en-US" sz="1520" dirty="0"/>
          </a:p>
        </p:txBody>
      </p:sp>
      <p:sp>
        <p:nvSpPr>
          <p:cNvPr id="13" name="Shape 12"/>
          <p:cNvSpPr/>
          <p:nvPr/>
        </p:nvSpPr>
        <p:spPr>
          <a:xfrm>
            <a:off x="8302752" y="1929383"/>
            <a:ext cx="3474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3"/>
          <p:cNvSpPr/>
          <p:nvPr/>
        </p:nvSpPr>
        <p:spPr>
          <a:xfrm>
            <a:off x="8302752" y="2039111"/>
            <a:ext cx="3474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/distance_status 또는 </a:t>
            </a: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marker_agv_pose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agv_align_node</a:t>
            </a:r>
          </a:p>
          <a:p>
            <a:pPr marL="0" indent="0" algn="l">
              <a:buNone/>
            </a:pPr>
            <a:endParaRPr lang="en-US" sz="1480" smtClean="0"/>
          </a:p>
          <a:p>
            <a:pPr marL="0" indent="0" algn="l">
              <a:buNone/>
            </a:pP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agv_align_bridge_node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cmd_vel_nav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lang="en-US" sz="148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4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</a:t>
            </a:r>
          </a:p>
          <a:p>
            <a:pPr marL="0" indent="0" algn="l">
              <a:buNone/>
            </a:pP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정지 후 재관측</a:t>
            </a:r>
            <a:endParaRPr lang="en-US" sz="1480" dirty="0"/>
          </a:p>
        </p:txBody>
      </p:sp>
      <p:sp>
        <p:nvSpPr>
          <p:cNvPr id="15" name="직사각형 14"/>
          <p:cNvSpPr/>
          <p:nvPr/>
        </p:nvSpPr>
        <p:spPr>
          <a:xfrm>
            <a:off x="5036820" y="5963412"/>
            <a:ext cx="1402080" cy="784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궁님</a:t>
            </a: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8895588" y="5963412"/>
            <a:ext cx="1402080" cy="784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궁님</a:t>
            </a:r>
            <a:endParaRPr lang="ko-KR" altLang="en-US"/>
          </a:p>
        </p:txBody>
      </p:sp>
      <p:grpSp>
        <p:nvGrpSpPr>
          <p:cNvPr id="17" name="그룹 16"/>
          <p:cNvGrpSpPr/>
          <p:nvPr/>
        </p:nvGrpSpPr>
        <p:grpSpPr>
          <a:xfrm>
            <a:off x="8138160" y="1600199"/>
            <a:ext cx="9578884" cy="5383777"/>
            <a:chOff x="-16328" y="1"/>
            <a:chExt cx="12208328" cy="68616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"/>
              <a:ext cx="12192000" cy="6861646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" y="609600"/>
              <a:ext cx="8743950" cy="6000750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9200" y="628650"/>
              <a:ext cx="3257550" cy="6115050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6328" y="16121"/>
              <a:ext cx="8039099" cy="5447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550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08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AGV 주행 전략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전략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19659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장점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56032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37617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리스크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852160" y="1655064"/>
            <a:ext cx="29718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37617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위치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823960" y="1655064"/>
            <a:ext cx="28346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94360" y="2139696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099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AMCL, local costmap, obstacle avoidance, replanning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2560320" y="213969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709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미세 cmd가 myAGV deadzone과 불일치 가능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852160" y="2139696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709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장애물 회피가 필요한 일반 구간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8823960" y="2139696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194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회전-직진-회전을 분리하여 명령이 명확함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2560320" y="262432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1945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복잡한 장애물 회피 능력 제한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5852160" y="2624328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2194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경로, 랙 접근, 반복 route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823960" y="2624328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791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+ Safety Filter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2606040" y="2679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기능 유지 + 하드웨어 보호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5897880" y="267919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parameter tuning 필요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8869680" y="2679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통합 후보 구조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256032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1089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493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 4단계</a:t>
            </a:r>
            <a:endParaRPr lang="en-US" sz="1520" dirty="0"/>
          </a:p>
        </p:txBody>
      </p:sp>
      <p:sp>
        <p:nvSpPr>
          <p:cNvPr id="41" name="Shape 39"/>
          <p:cNvSpPr/>
          <p:nvPr/>
        </p:nvSpPr>
        <p:spPr>
          <a:xfrm>
            <a:off x="594360" y="3822192"/>
            <a:ext cx="53949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93192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ROTATE_TO_HEADING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목표점 방향으로 제자리 회전</a:t>
            </a:r>
            <a:endParaRPr lang="en-US" sz="1380" dirty="0"/>
          </a:p>
          <a:p>
            <a:pPr marL="0" indent="0" algn="l">
              <a:buNone/>
            </a:pP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DRIVE_STRAIGHT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angular.z = 0으로 직진</a:t>
            </a:r>
            <a:endParaRPr lang="en-US" sz="1380" dirty="0"/>
          </a:p>
          <a:p>
            <a:pPr marL="0" indent="0" algn="l">
              <a:buNone/>
            </a:pP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ROTATE_TO_GOAL_YAW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yaw로 최종 회전</a:t>
            </a:r>
            <a:endParaRPr lang="en-US" sz="1380" dirty="0"/>
          </a:p>
          <a:p>
            <a:pPr marL="0" indent="0" algn="l">
              <a:buNone/>
            </a:pP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STOP_HOLD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동작 전 완전 정지 유지</a:t>
            </a:r>
            <a:endParaRPr lang="en-US" sz="1380" dirty="0"/>
          </a:p>
        </p:txBody>
      </p:sp>
      <p:sp>
        <p:nvSpPr>
          <p:cNvPr id="43" name="Text 41"/>
          <p:cNvSpPr/>
          <p:nvPr/>
        </p:nvSpPr>
        <p:spPr>
          <a:xfrm>
            <a:off x="6263640" y="3493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의미</a:t>
            </a:r>
            <a:endParaRPr lang="en-US" sz="1520" dirty="0"/>
          </a:p>
        </p:txBody>
      </p:sp>
      <p:sp>
        <p:nvSpPr>
          <p:cNvPr id="44" name="Shape 42"/>
          <p:cNvSpPr/>
          <p:nvPr/>
        </p:nvSpPr>
        <p:spPr>
          <a:xfrm>
            <a:off x="6263640" y="3822192"/>
            <a:ext cx="53949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93192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하드코딩 주행이 아니라 하드웨어 안정성을 확보하기 위한 motion primitive abstraction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Nav2는 general navigation 역할, primitive route는 안정 주행 기준선 역할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목표 근처의 매우 작은 angular.z 명령은 deadzone 문제로 이어져 safety filter에서 변환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후진 명령은 랙/로봇팔 통합 상황에서 안전 리스크가 커서 제한</a:t>
            </a:r>
            <a:endParaRPr lang="en-US" sz="13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Safety Filter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의도와 하드웨어 실행 명령을 분리하여 myAGV의 deadzone, overshoot, stale command 문제를 흡수했습니다.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작은 angular.z 명령이 실제 회전으로 이어지지 않는 deadzone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회전과 직진 성분이 섞일 때 차체 불안정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회전 종료 직후 다음 명령이 들어오며 순간 튐 발생</a:t>
            </a:r>
            <a:endParaRPr lang="en-US" sz="1340" dirty="0"/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목표 근처에서 Nav2가 작은 yaw 명령을 지속 발행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4187952" y="1719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4187952" y="2048256"/>
            <a:ext cx="3246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215798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/ primitive / align node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cmd_vel_safety_filter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myAGV driver / MCU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80960" y="1719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7680960" y="2048256"/>
            <a:ext cx="3977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157984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상위 노드는 “이동 의도”를 출력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filter는 실제 하드웨어가 수행 가능한 명령으로 변환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펌웨어 수정 없이 ROS2 상위 계층에서 비선형 응답을 완화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급발진, yaw deadzone, stale cmd 리스크를 통합 처리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1792" y="4027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Mode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2402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402793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834640" y="4306824"/>
            <a:ext cx="3840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402793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 문제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675120" y="4306824"/>
            <a:ext cx="4983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6168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4360" y="4575048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6168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없음/timeout 시 정지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834640" y="457504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36168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stale command 방지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675120" y="4575048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29912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STRAIGHT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94360" y="4843272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629912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직진 중 회전 성분 제거/제한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2834640" y="484327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629912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직진 안정성 확보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675120" y="4843272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98136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TURN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594360" y="5111496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4898136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회전 중 linear.x 제거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2834640" y="511149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898136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회전-직진 혼합 튐 방지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675120" y="5111496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66360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LATERAL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594360" y="5379720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5166360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메카넘 lateral 이동 허용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2834640" y="5379720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5166360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ArUco/AGV align 지원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6675120" y="5379720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434584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INPLACE_SMALL_TURN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594360" y="5647944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5434584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wz 지속 시 boost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2834640" y="5647944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5434584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yaw deadzone 대응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6675120" y="5647944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70280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TURN_EXIT_HOLD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2880360" y="570280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회전 종료 후 정지 유지</a:t>
            </a:r>
            <a:endParaRPr lang="en-US" sz="1030" dirty="0"/>
          </a:p>
        </p:txBody>
      </p:sp>
      <p:sp>
        <p:nvSpPr>
          <p:cNvPr id="55" name="Text 53"/>
          <p:cNvSpPr/>
          <p:nvPr/>
        </p:nvSpPr>
        <p:spPr>
          <a:xfrm>
            <a:off x="6720840" y="570280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관성/전환 충돌 완화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283464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7512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97764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4360" y="59161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AGV KPI 검증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Safety Filter 적용 전·후 /cmd_vel과 /odometry/filtered 정합성 및 peak overshoot를 비교했습니다.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46.8% → 17.6%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Linear.x NRMSE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cmd_vel–odom tracking error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76.3% → 28.0%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1188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Angular.z NRMSE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cmd_vel–odom tracking error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1188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56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0.31 → 0.01 m/s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629400" y="2313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 Peak Overshoot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6151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−96.8% 개선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629400" y="2880360"/>
            <a:ext cx="242316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0.87 → 0.22 rad/s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326880" y="23134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 Peak Overshoot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0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−74.7% 개선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326880" y="2880360"/>
            <a:ext cx="233172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6042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4360" y="3639312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336042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방법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651760" y="3639312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3360420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Topic / Log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669280" y="3639312"/>
            <a:ext cx="3429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5712" y="33604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098280" y="3639312"/>
            <a:ext cx="2560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94176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 tracking NRMSE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94360" y="400324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694176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/cmd_vel과 /odometry/filtered 속도 비교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651760" y="4003243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694176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/cmd_vel_nav, /cmd_vel, /odometry/filtered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669280" y="4003243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694176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적용 후 RMS error 감소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9098280" y="4003243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058107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peak overshoot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94360" y="4367174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4058107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odom peak - command peak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2651760" y="4367174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4058107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5669280" y="4367174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4058107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급발진/순간 튐 억제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9098280" y="4367174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22038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settling time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594360" y="473110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4422038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명령 후 속도 임계값 이하까지 시간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651760" y="473110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4422038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/cmd_vel, /odometry/filtered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5669280" y="4731106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4422038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안정성 검증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9098280" y="4731106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785970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594360" y="5095037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4785970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pose와 도착 pose 차이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2651760" y="5095037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4785970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goals.yaml, /amcl_pose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5669280" y="5095037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4785970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정확도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9098280" y="5095037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5149901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success rate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2697480" y="5149901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goal 도착 성공 횟수</a:t>
            </a:r>
            <a:endParaRPr lang="en-US" sz="1040" dirty="0"/>
          </a:p>
        </p:txBody>
      </p:sp>
      <p:sp>
        <p:nvSpPr>
          <p:cNvPr id="66" name="Text 64"/>
          <p:cNvSpPr/>
          <p:nvPr/>
        </p:nvSpPr>
        <p:spPr>
          <a:xfrm>
            <a:off x="5715000" y="5149901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log</a:t>
            </a:r>
            <a:endParaRPr lang="en-US" sz="1040" dirty="0"/>
          </a:p>
        </p:txBody>
      </p:sp>
      <p:sp>
        <p:nvSpPr>
          <p:cNvPr id="67" name="Text 65"/>
          <p:cNvSpPr/>
          <p:nvPr/>
        </p:nvSpPr>
        <p:spPr>
          <a:xfrm>
            <a:off x="9144000" y="5149901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안정성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265176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98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" y="331012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54589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해석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94360" y="5980176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" y="6089904"/>
            <a:ext cx="11064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filter는 순간 cmd_vel을 그대로 추종시키는 것이 아니라, myAGV 하위 구동계의 angular deadzone과 응답 지연을 고려해 effective command로 변환하여 odom peak와 RMS error를 낮췄습니다.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ArUco 최종 정렬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3832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navigation의 목표 도착만으로는 로봇팔 작업에 필요한 정차 정밀도를 항상 확보하기 어려움</a:t>
            </a:r>
            <a:endParaRPr lang="en-US" sz="1380" dirty="0"/>
          </a:p>
          <a:p>
            <a:pPr marL="0" indent="0" algn="l">
              <a:buNone/>
            </a:pP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랙 앞 수 cm x/y 오차와 yaw 오차가 곧바로 파지 실패로 이어짐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4251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 구조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251960" y="1655064"/>
            <a:ext cx="3611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764792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Navigation: 랙 또는 목적지 근처까지 이동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 Final Alignment: 카메라 + ArUco marker로 마지막 10~30cm 정렬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 → linear.y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marker size → linear.x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count → /aruco_align_done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13816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구조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138160" y="165506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7647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target ID 오류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marker 미검출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크기/비율 조건 reject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center error 과대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frame cut / 화면 이탈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timeout / force stop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21792" y="329641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3575304"/>
            <a:ext cx="2286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329641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/ 측정 방법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80360" y="3575304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329641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 / Log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897880" y="3575304"/>
            <a:ext cx="27889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329641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686800" y="3575304"/>
            <a:ext cx="29718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30168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marker detection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952037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630168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프레임 중 target 검출 비율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80360" y="3952037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30168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/aruco_align/debug_json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952037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630168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 안정성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0" y="3952037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06901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success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328770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006901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/aruco_align_done=True 비율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4328770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006901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/aruco_align_done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4328770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4006901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정렬 성공률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0" y="4328770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383634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time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" y="4705502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4383634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start~done 시간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80360" y="4705502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383634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/aruco_align_cmd, /aruco_align_done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97880" y="4705502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4383634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소요 시간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686800" y="4705502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760366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center error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" y="5082235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4760366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시점 marker center 오차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80360" y="5082235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760366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JSON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897880" y="5082235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4760366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정밀도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686800" y="5082235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137099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lost recovery count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926080" y="5137099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lost recovery 발생 횟수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43600" y="5137099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JSON/log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732520" y="5137099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이탈 빈도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88036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" y="324612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4360" y="54589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[ArUco 검출 이미지 / center error before-after 삽입 위치]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745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Eye-in-Hand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카메라가 그리퍼에 부착되어 있어, 비전 좌표 계산은 로봇팔 관측 자세와 반드시 동기화되어야 합니다.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관측 동기화 Flow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7490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brain_node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/observe_move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pick_eyeinhand_node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send_angles(SHELF_ANGLES[level])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settle wait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/observe_ready + /observe_pose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vision_eyeinhand_node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T_cam2base 갱신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YOLO + depth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/box_pose 또는 /distance_status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461772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근거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461772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57984"/>
            <a:ext cx="3337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eye-in-hand 구조에서는 카메라 좌표계가 arm 자세에 따라 계속 바뀜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arm이 관측 자세에 도달하기 전 좌표 계산 시 오차 발생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/observe_ready는 흔들림/미도달 상태에서 vision 실행되는 문제를 줄임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send_coords 대신 send_angles 사용으로 IK 복수해 문제를 회피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8211312" y="171907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 KPI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8211312" y="2048256"/>
            <a:ext cx="344728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157984"/>
            <a:ext cx="3447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detection success rate: N회 중 YOLO/depth 좌표 생성 성공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depth valid ratio: ROI 내 valid depth pixel 비율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pose latency: observe_ready → box_pose 시간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coordinate repeatability: 동일 물체 x/y/z 분산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failure cause: depth invalid / frame cut / bbox reject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110642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[RGB-D 검출 이미지 / depth valid pixel / 좌표 분산 그래프 삽입 위치]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Manipulation &amp; AGV Align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Sequence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1546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관측 자세 이동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물체 좌표 수신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물체 위 waypoint 접근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하강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gripper close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gripper value로 성공 확인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실패 시 재관측 루프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4023360" y="1325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AGV-Arm Align Loop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023360" y="1655064"/>
            <a:ext cx="3703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764792"/>
            <a:ext cx="3703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vision_eyeinhand_node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/distance_status 또는 /marker_agv_pose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/agv_align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agv_align_bridge_node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/cmd_vel_nav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cmd_vel_safety_filter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/cmd_vel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→ 재측정 → 짧게 이동 → 반복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8028432" y="13258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오차 관점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028432" y="1655064"/>
            <a:ext cx="363016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764792"/>
            <a:ext cx="363016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실패는 로봇팔 단독 문제가 아니라 다음 오차의 합입니다.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좌표 계산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실제 관절 도달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gripper offset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AGV 정차 x/y/yaw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랙 높이와 선반 간격 제약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상태 측정 → 짧은 보정 → 재관측 구조로 누적 오차를 줄였습니다.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21792" y="567385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567385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측정값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611880" y="5952744"/>
            <a:ext cx="8046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0076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 rate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94360" y="602589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6007608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pick_done 비율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611880" y="6025896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8076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 success rate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94360" y="6099048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608076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실패 후 재관측 성공률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611880" y="6099048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153912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align 후 성공률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94360" y="6172200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6153912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too_far/too_close 보정 후 성공 여부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611880" y="6172200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27064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gripper check result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657600" y="6227064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 후 gripper value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611880" y="5623560"/>
            <a:ext cx="0" cy="621792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6235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6245352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SYSTEM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ROS2 토픽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138160" y="-204444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이동 파이프라인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138160" y="-1715262"/>
            <a:ext cx="35661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-1605534"/>
            <a:ext cx="35661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/order_request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brain_node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/place_target 또는 /primitive_route_cmd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mission_brain_node / primitive_route_runner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/cmd_vel_nav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cmd_vel_safety_filter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/cmd_vel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myAGV driver / MCU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59768" y="-204444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인식·파지 파이프라인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11859768" y="-1715262"/>
            <a:ext cx="3703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59768" y="-1605534"/>
            <a:ext cx="37033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/nav_status arrived_objects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/observe_move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pick_eyeinhand_node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/observe_ready + /observe_pose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vision_eyeinhand_node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YOLO + depth + T_cam2base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/box_pose 또는 /distance_status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/pick_command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15727680" y="-204444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AGV-Arm 정렬 루프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15727680" y="-1715262"/>
            <a:ext cx="34747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0" y="-1605534"/>
            <a:ext cx="3474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/distance_status 또는 /marker_agv_pose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agv_align_node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/agv_align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agv_align_bridge_node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/cmd_vel_nav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safety filter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/cmd_vel</a:t>
            </a:r>
            <a:endParaRPr lang="en-US" sz="1480" dirty="0"/>
          </a:p>
          <a:p>
            <a:pPr marL="0" indent="0" algn="l">
              <a:buNone/>
            </a:pPr>
            <a:r>
              <a:rPr lang="en-US" sz="14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정지 후 재관측</a:t>
            </a:r>
            <a:endParaRPr lang="en-US" sz="1480" dirty="0"/>
          </a:p>
        </p:txBody>
      </p:sp>
      <p:grpSp>
        <p:nvGrpSpPr>
          <p:cNvPr id="43" name="그룹 42"/>
          <p:cNvGrpSpPr/>
          <p:nvPr/>
        </p:nvGrpSpPr>
        <p:grpSpPr>
          <a:xfrm>
            <a:off x="1495116" y="1929334"/>
            <a:ext cx="8810413" cy="4964430"/>
            <a:chOff x="175626" y="1398270"/>
            <a:chExt cx="8810413" cy="4964430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26" y="1398270"/>
              <a:ext cx="8810413" cy="4964430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>
            <a:xfrm>
              <a:off x="6416040" y="2737866"/>
              <a:ext cx="1280160" cy="348234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568440" y="2890266"/>
              <a:ext cx="1280160" cy="348234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457324" y="5579174"/>
              <a:ext cx="819151" cy="24060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2369345" y="2413442"/>
              <a:ext cx="684371" cy="367856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127624" y="5414074"/>
              <a:ext cx="1108076" cy="770826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4670424" y="5579174"/>
              <a:ext cx="819151" cy="605726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681662" y="3390899"/>
              <a:ext cx="886778" cy="44577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165060">
              <a:off x="8103169" y="3336911"/>
              <a:ext cx="722121" cy="44577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 rot="165060">
              <a:off x="8348725" y="3868750"/>
              <a:ext cx="317712" cy="19716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77163" y="1535430"/>
              <a:ext cx="2288945" cy="1258823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571450" y="4847584"/>
              <a:ext cx="2414589" cy="1515116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75626" y="5699474"/>
              <a:ext cx="283955" cy="21555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47674" y="5744098"/>
              <a:ext cx="263525" cy="21555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703848" y="5774261"/>
              <a:ext cx="162928" cy="21555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 rot="5770980">
              <a:off x="1230903" y="5423248"/>
              <a:ext cx="162928" cy="1042627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781773" y="5944561"/>
              <a:ext cx="1082078" cy="21555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615643" y="6140668"/>
              <a:ext cx="1082078" cy="215551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175020" y="2935964"/>
            <a:ext cx="2079191" cy="351073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12974273" y="1666686"/>
            <a:ext cx="2152650" cy="3634771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10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통합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1188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3761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655064"/>
            <a:ext cx="26060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3761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/ 측정 방법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655064"/>
            <a:ext cx="3703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37617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55064"/>
            <a:ext cx="35661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4360" y="212826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70992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 tracking NRMSE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783080" y="212826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70992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 vs /odometry/filtered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89120" y="212826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70992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효과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092440" y="212826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8313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4360" y="260146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18313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peak overshoot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1783080" y="260146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18313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odom peak - command peak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389120" y="260146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18313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급발진 억제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092440" y="260146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5633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94360" y="3074670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265633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1783080" y="3074670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65633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pose와 도착 pose 차이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4389120" y="3074670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65633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도착 정확도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092440" y="3074670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129534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94360" y="3547872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3129534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success/time/error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1783080" y="3547872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129534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비율, start~done, center error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4389120" y="354787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3129534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성능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8092440" y="3547872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02736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594360" y="4021074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3602736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detection/depth/latency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1783080" y="4021074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3602736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box_pose, valid depth, 처리 시간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4389120" y="4021074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3602736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 신뢰도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8092440" y="4021074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07593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Arm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594360" y="449427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407593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success/retry success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1783080" y="449427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407593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/pick_status, brain log</a:t>
            </a:r>
            <a:endParaRPr lang="en-US" sz="1030" dirty="0"/>
          </a:p>
        </p:txBody>
      </p:sp>
      <p:sp>
        <p:nvSpPr>
          <p:cNvPr id="60" name="Shape 58"/>
          <p:cNvSpPr/>
          <p:nvPr/>
        </p:nvSpPr>
        <p:spPr>
          <a:xfrm>
            <a:off x="4389120" y="449427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407593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조작 성공률</a:t>
            </a:r>
            <a:endParaRPr lang="en-US" sz="1030" dirty="0"/>
          </a:p>
        </p:txBody>
      </p:sp>
      <p:sp>
        <p:nvSpPr>
          <p:cNvPr id="62" name="Shape 60"/>
          <p:cNvSpPr/>
          <p:nvPr/>
        </p:nvSpPr>
        <p:spPr>
          <a:xfrm>
            <a:off x="8092440" y="449427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54914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594360" y="496747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0" y="454914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success/cycle time</a:t>
            </a:r>
            <a:endParaRPr lang="en-US" sz="1030" dirty="0"/>
          </a:p>
        </p:txBody>
      </p:sp>
      <p:sp>
        <p:nvSpPr>
          <p:cNvPr id="66" name="Shape 64"/>
          <p:cNvSpPr/>
          <p:nvPr/>
        </p:nvSpPr>
        <p:spPr>
          <a:xfrm>
            <a:off x="1783080" y="496747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34840" y="454914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수신~완료 반환</a:t>
            </a:r>
            <a:endParaRPr lang="en-US" sz="1030" dirty="0"/>
          </a:p>
        </p:txBody>
      </p:sp>
      <p:sp>
        <p:nvSpPr>
          <p:cNvPr id="68" name="Shape 66"/>
          <p:cNvSpPr/>
          <p:nvPr/>
        </p:nvSpPr>
        <p:spPr>
          <a:xfrm>
            <a:off x="4389120" y="496747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454914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완성도</a:t>
            </a:r>
            <a:endParaRPr lang="en-US" sz="1030" dirty="0"/>
          </a:p>
        </p:txBody>
      </p:sp>
      <p:sp>
        <p:nvSpPr>
          <p:cNvPr id="70" name="Shape 68"/>
          <p:cNvSpPr/>
          <p:nvPr/>
        </p:nvSpPr>
        <p:spPr>
          <a:xfrm>
            <a:off x="8092440" y="496747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502234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1030" dirty="0"/>
          </a:p>
        </p:txBody>
      </p:sp>
      <p:sp>
        <p:nvSpPr>
          <p:cNvPr id="72" name="Text 70"/>
          <p:cNvSpPr/>
          <p:nvPr/>
        </p:nvSpPr>
        <p:spPr>
          <a:xfrm>
            <a:off x="1828800" y="502234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manual intervention/CPU/FPS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4434840" y="502234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개입, resource log, topic hz</a:t>
            </a:r>
            <a:endParaRPr lang="en-US" sz="1030" dirty="0"/>
          </a:p>
        </p:txBody>
      </p:sp>
      <p:sp>
        <p:nvSpPr>
          <p:cNvPr id="74" name="Text 72"/>
          <p:cNvSpPr/>
          <p:nvPr/>
        </p:nvSpPr>
        <p:spPr>
          <a:xfrm>
            <a:off x="8138160" y="502234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수준과 병목</a:t>
            </a:r>
            <a:endParaRPr lang="en-US" sz="1030" dirty="0"/>
          </a:p>
        </p:txBody>
      </p:sp>
      <p:sp>
        <p:nvSpPr>
          <p:cNvPr id="75" name="Shape 73"/>
          <p:cNvSpPr/>
          <p:nvPr/>
        </p:nvSpPr>
        <p:spPr>
          <a:xfrm>
            <a:off x="178308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8912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9244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360" y="54406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436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작성 원칙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594360" y="5980176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6089904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성공률은 표본 수 n을 반드시 병기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평균값뿐 아니라 peak, worst case, 실패 횟수 함께 제시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before/after 비교 항목은 그래프 사용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 결과와 rosbag/log 데이터를 연결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실험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377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37617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655064"/>
            <a:ext cx="3840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37617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655064"/>
            <a:ext cx="1143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13761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55064"/>
            <a:ext cx="3703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stationary cmd test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045208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709928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정지/timeout 안정성 확인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971800" y="204520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709928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12280" y="2045208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709928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settling time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955280" y="204520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00072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short goal direct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2435352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100072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단거리 goal 도착 정확도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971800" y="243535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100072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12280" y="2435352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100072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position/yaw error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955280" y="243535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490216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obstacle detect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4360" y="2825496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490216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장애물 앞 감속/정지 확인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971800" y="282549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490216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812280" y="2825496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490216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scan/costmap/cmd 변화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955280" y="282549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2880360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obstacle avoid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94360" y="3215640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2880360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회피 가능성 확인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971800" y="3215640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880360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812280" y="3215640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2880360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 rate, path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955280" y="3215640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270504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active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94360" y="3605784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270504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없이 기준 데이터 확보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2971800" y="3605784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3270504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812280" y="3605784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3270504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overshoot 기준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7955280" y="3605784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3660648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+ filter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594360" y="3995928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660648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적용 데이터 확보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2971800" y="399592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3660648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6812280" y="3995928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01000" y="3660648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 비교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7955280" y="399592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050792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594360" y="4386072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4050792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 주행 기준 데이터 확보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2971800" y="438607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4050792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6812280" y="4386072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01000" y="4050792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cycle time, error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7955280" y="438607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4440936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align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594360" y="4776216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0" y="4440936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center/distance 정렬 성능 확인</a:t>
            </a:r>
            <a:endParaRPr lang="en-US" sz="1020" dirty="0"/>
          </a:p>
        </p:txBody>
      </p:sp>
      <p:sp>
        <p:nvSpPr>
          <p:cNvPr id="74" name="Shape 72"/>
          <p:cNvSpPr/>
          <p:nvPr/>
        </p:nvSpPr>
        <p:spPr>
          <a:xfrm>
            <a:off x="2971800" y="477621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4440936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 이상</a:t>
            </a:r>
            <a:endParaRPr lang="en-US" sz="1020" dirty="0"/>
          </a:p>
        </p:txBody>
      </p:sp>
      <p:sp>
        <p:nvSpPr>
          <p:cNvPr id="76" name="Shape 74"/>
          <p:cNvSpPr/>
          <p:nvPr/>
        </p:nvSpPr>
        <p:spPr>
          <a:xfrm>
            <a:off x="6812280" y="4776216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01000" y="4440936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error, align time</a:t>
            </a:r>
            <a:endParaRPr lang="en-US" sz="1020" dirty="0"/>
          </a:p>
        </p:txBody>
      </p:sp>
      <p:sp>
        <p:nvSpPr>
          <p:cNvPr id="78" name="Shape 76"/>
          <p:cNvSpPr/>
          <p:nvPr/>
        </p:nvSpPr>
        <p:spPr>
          <a:xfrm>
            <a:off x="7955280" y="477621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831080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3017520" y="4831080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성공률 및 retry 검증</a:t>
            </a:r>
            <a:endParaRPr lang="en-US" sz="1020" dirty="0"/>
          </a:p>
        </p:txBody>
      </p:sp>
      <p:sp>
        <p:nvSpPr>
          <p:cNvPr id="81" name="Text 79"/>
          <p:cNvSpPr/>
          <p:nvPr/>
        </p:nvSpPr>
        <p:spPr>
          <a:xfrm>
            <a:off x="6858000" y="4831080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</a:t>
            </a:r>
            <a:endParaRPr lang="en-US" sz="1020" dirty="0"/>
          </a:p>
        </p:txBody>
      </p:sp>
      <p:sp>
        <p:nvSpPr>
          <p:cNvPr id="82" name="Text 80"/>
          <p:cNvSpPr/>
          <p:nvPr/>
        </p:nvSpPr>
        <p:spPr>
          <a:xfrm>
            <a:off x="8001000" y="4831080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success/attempt</a:t>
            </a:r>
            <a:endParaRPr lang="en-US" sz="1020" dirty="0"/>
          </a:p>
        </p:txBody>
      </p:sp>
      <p:sp>
        <p:nvSpPr>
          <p:cNvPr id="83" name="Shape 81"/>
          <p:cNvSpPr/>
          <p:nvPr/>
        </p:nvSpPr>
        <p:spPr>
          <a:xfrm>
            <a:off x="297180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1228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5528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4360" y="51663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" y="5440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rosbag 권장 토픽</a:t>
            </a:r>
            <a:endParaRPr lang="en-US" sz="1180" dirty="0"/>
          </a:p>
        </p:txBody>
      </p:sp>
      <p:sp>
        <p:nvSpPr>
          <p:cNvPr id="89" name="Shape 87"/>
          <p:cNvSpPr/>
          <p:nvPr/>
        </p:nvSpPr>
        <p:spPr>
          <a:xfrm>
            <a:off x="594360" y="5769864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4360" y="5879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ros2 bag record /cmd_vel_nav /cmd_vel /odometry/filtered /amcl_pose /tf /scan /plan /debug/nav_status /nav_status /brain_status /aruco_align_status /aruco_align_done /aruco_align/debug_json /observe_ready /observe_pose /box_pose /distance_status /pick_status /arm_status /wms_update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PROBLEM SOLVING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Troubleshooting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37617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651760" y="1655064"/>
            <a:ext cx="36576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30936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63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지표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60120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 급발진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709928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cmd가 바로 하드웨어에 전달되어 myAGV deadzone/응답 지연으로 odom peak 발생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651760" y="2512771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09928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/cmd_vel_nav와 /cmd_vel 분리 + mode 기반 safety filter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09360" y="2512771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NRMSE, peak overshoot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60120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정차 정밀도 부족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567635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navigation 도착만으로 랙 앞 x/y/yaw 오차 잔존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651760" y="3370478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567635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근접 이동 + ArUco final alignment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309360" y="337047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error, align success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960120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Eye-in-hand 좌표 불일치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436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425342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 좌표계가 arm 자세에 따라 변화, 관측 자세 미도달 중 좌표 계산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651760" y="4228186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425342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observe_ready/observe_pose 후 T_cam2base 갱신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309360" y="422818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coordinate std, pose latency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60120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실패 원인 다중화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9436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4283050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계산, 관절 도달, gripper offset, AGV 정차 오차가 누적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651760" y="5085893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283050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재관측 루프 + AGV-Arm cooperative align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309360" y="5085893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success, retry success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960120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CPU/FPS 병목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2697480" y="5140757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Nano/Orin 처리 분산 부족 시 camera topic hz 저하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355080" y="5140757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D435 처리 Orin 분리, TensorRT 후보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964692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FPS, CPU, latency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6517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94360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[각 Case별 로그 캡처 / before-after 그래프 / 실패 영상 캡처 삽입 위치]</a:t>
            </a:r>
            <a:endParaRPr lang="en-US" sz="1450" dirty="0"/>
          </a:p>
        </p:txBody>
      </p:sp>
      <p:sp>
        <p:nvSpPr>
          <p:cNvPr id="88" name="Text 16"/>
          <p:cNvSpPr/>
          <p:nvPr/>
        </p:nvSpPr>
        <p:spPr>
          <a:xfrm>
            <a:off x="4333675" y="-575309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070" dirty="0"/>
          </a:p>
        </p:txBody>
      </p:sp>
      <p:sp>
        <p:nvSpPr>
          <p:cNvPr id="89" name="Shape 17"/>
          <p:cNvSpPr/>
          <p:nvPr/>
        </p:nvSpPr>
        <p:spPr>
          <a:xfrm>
            <a:off x="4306243" y="-296417"/>
            <a:ext cx="1234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0" name="Text 18"/>
          <p:cNvSpPr/>
          <p:nvPr/>
        </p:nvSpPr>
        <p:spPr>
          <a:xfrm>
            <a:off x="5568115" y="-575309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문제</a:t>
            </a:r>
            <a:endParaRPr lang="en-US" sz="1070" dirty="0"/>
          </a:p>
        </p:txBody>
      </p:sp>
      <p:sp>
        <p:nvSpPr>
          <p:cNvPr id="91" name="Shape 19"/>
          <p:cNvSpPr/>
          <p:nvPr/>
        </p:nvSpPr>
        <p:spPr>
          <a:xfrm>
            <a:off x="5540683" y="-296417"/>
            <a:ext cx="44805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2" name="Text 20"/>
          <p:cNvSpPr/>
          <p:nvPr/>
        </p:nvSpPr>
        <p:spPr>
          <a:xfrm>
            <a:off x="10048675" y="-575309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 해결 방향</a:t>
            </a:r>
            <a:endParaRPr lang="en-US" sz="1070" dirty="0"/>
          </a:p>
        </p:txBody>
      </p:sp>
      <p:sp>
        <p:nvSpPr>
          <p:cNvPr id="93" name="Shape 21"/>
          <p:cNvSpPr/>
          <p:nvPr/>
        </p:nvSpPr>
        <p:spPr>
          <a:xfrm>
            <a:off x="10021243" y="-296417"/>
            <a:ext cx="5303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4" name="Text 22"/>
          <p:cNvSpPr/>
          <p:nvPr/>
        </p:nvSpPr>
        <p:spPr>
          <a:xfrm>
            <a:off x="4351963" y="-241553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</a:t>
            </a:r>
            <a:endParaRPr lang="en-US" sz="1040" dirty="0"/>
          </a:p>
        </p:txBody>
      </p:sp>
      <p:sp>
        <p:nvSpPr>
          <p:cNvPr id="95" name="Shape 23"/>
          <p:cNvSpPr/>
          <p:nvPr/>
        </p:nvSpPr>
        <p:spPr>
          <a:xfrm>
            <a:off x="4306243" y="-35813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96" name="Text 24"/>
          <p:cNvSpPr/>
          <p:nvPr/>
        </p:nvSpPr>
        <p:spPr>
          <a:xfrm>
            <a:off x="5586403" y="-241553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cmd와 myAGV 실제 응답 불일치</a:t>
            </a:r>
            <a:endParaRPr lang="en-US" sz="1040" dirty="0"/>
          </a:p>
        </p:txBody>
      </p:sp>
      <p:sp>
        <p:nvSpPr>
          <p:cNvPr id="97" name="Shape 25"/>
          <p:cNvSpPr/>
          <p:nvPr/>
        </p:nvSpPr>
        <p:spPr>
          <a:xfrm>
            <a:off x="5540683" y="-35813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98" name="Text 26"/>
          <p:cNvSpPr/>
          <p:nvPr/>
        </p:nvSpPr>
        <p:spPr>
          <a:xfrm>
            <a:off x="10066963" y="-241553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/cmd_vel_nav와 /cmd_vel 분리 + safety filter</a:t>
            </a:r>
            <a:endParaRPr lang="en-US" sz="1040" dirty="0"/>
          </a:p>
        </p:txBody>
      </p:sp>
      <p:sp>
        <p:nvSpPr>
          <p:cNvPr id="99" name="Shape 27"/>
          <p:cNvSpPr/>
          <p:nvPr/>
        </p:nvSpPr>
        <p:spPr>
          <a:xfrm>
            <a:off x="10021243" y="-35813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0" name="Text 28"/>
          <p:cNvSpPr/>
          <p:nvPr/>
        </p:nvSpPr>
        <p:spPr>
          <a:xfrm>
            <a:off x="4351963" y="19051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</a:t>
            </a:r>
            <a:endParaRPr lang="en-US" sz="1040" dirty="0"/>
          </a:p>
        </p:txBody>
      </p:sp>
      <p:sp>
        <p:nvSpPr>
          <p:cNvPr id="101" name="Shape 29"/>
          <p:cNvSpPr/>
          <p:nvPr/>
        </p:nvSpPr>
        <p:spPr>
          <a:xfrm>
            <a:off x="4306243" y="224791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2" name="Text 30"/>
          <p:cNvSpPr/>
          <p:nvPr/>
        </p:nvSpPr>
        <p:spPr>
          <a:xfrm>
            <a:off x="5586403" y="19051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goal 도착만으로 파지 정밀도 부족</a:t>
            </a:r>
            <a:endParaRPr lang="en-US" sz="1040" dirty="0"/>
          </a:p>
        </p:txBody>
      </p:sp>
      <p:sp>
        <p:nvSpPr>
          <p:cNvPr id="103" name="Shape 31"/>
          <p:cNvSpPr/>
          <p:nvPr/>
        </p:nvSpPr>
        <p:spPr>
          <a:xfrm>
            <a:off x="5540683" y="224791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4" name="Text 32"/>
          <p:cNvSpPr/>
          <p:nvPr/>
        </p:nvSpPr>
        <p:spPr>
          <a:xfrm>
            <a:off x="10066963" y="19051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final alignment + AGV-Arm align</a:t>
            </a:r>
            <a:endParaRPr lang="en-US" sz="1040" dirty="0"/>
          </a:p>
        </p:txBody>
      </p:sp>
      <p:sp>
        <p:nvSpPr>
          <p:cNvPr id="105" name="Shape 33"/>
          <p:cNvSpPr/>
          <p:nvPr/>
        </p:nvSpPr>
        <p:spPr>
          <a:xfrm>
            <a:off x="10021243" y="224791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6" name="Text 34"/>
          <p:cNvSpPr/>
          <p:nvPr/>
        </p:nvSpPr>
        <p:spPr>
          <a:xfrm>
            <a:off x="4351963" y="279655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</a:t>
            </a:r>
            <a:endParaRPr lang="en-US" sz="1040" dirty="0"/>
          </a:p>
        </p:txBody>
      </p:sp>
      <p:sp>
        <p:nvSpPr>
          <p:cNvPr id="107" name="Shape 35"/>
          <p:cNvSpPr/>
          <p:nvPr/>
        </p:nvSpPr>
        <p:spPr>
          <a:xfrm>
            <a:off x="4306243" y="485395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8" name="Text 36"/>
          <p:cNvSpPr/>
          <p:nvPr/>
        </p:nvSpPr>
        <p:spPr>
          <a:xfrm>
            <a:off x="5586403" y="279655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eye-in-hand 카메라 좌표계가 arm 자세에 따라 변화</a:t>
            </a:r>
            <a:endParaRPr lang="en-US" sz="1040" dirty="0"/>
          </a:p>
        </p:txBody>
      </p:sp>
      <p:sp>
        <p:nvSpPr>
          <p:cNvPr id="109" name="Shape 37"/>
          <p:cNvSpPr/>
          <p:nvPr/>
        </p:nvSpPr>
        <p:spPr>
          <a:xfrm>
            <a:off x="5540683" y="485395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0" name="Text 38"/>
          <p:cNvSpPr/>
          <p:nvPr/>
        </p:nvSpPr>
        <p:spPr>
          <a:xfrm>
            <a:off x="10066963" y="279655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observe_ready/observe_pose 기반 T_cam2base 갱신</a:t>
            </a:r>
            <a:endParaRPr lang="en-US" sz="1040" dirty="0"/>
          </a:p>
        </p:txBody>
      </p:sp>
      <p:sp>
        <p:nvSpPr>
          <p:cNvPr id="111" name="Shape 39"/>
          <p:cNvSpPr/>
          <p:nvPr/>
        </p:nvSpPr>
        <p:spPr>
          <a:xfrm>
            <a:off x="10021243" y="485395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2" name="Text 40"/>
          <p:cNvSpPr/>
          <p:nvPr/>
        </p:nvSpPr>
        <p:spPr>
          <a:xfrm>
            <a:off x="4351963" y="540259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</a:t>
            </a:r>
            <a:endParaRPr lang="en-US" sz="1040" dirty="0"/>
          </a:p>
        </p:txBody>
      </p:sp>
      <p:sp>
        <p:nvSpPr>
          <p:cNvPr id="113" name="Text 41"/>
          <p:cNvSpPr/>
          <p:nvPr/>
        </p:nvSpPr>
        <p:spPr>
          <a:xfrm>
            <a:off x="5586403" y="540259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 단독 동작은 가능하지만 시나리오 중 오류 누적</a:t>
            </a:r>
            <a:endParaRPr lang="en-US" sz="1040" dirty="0"/>
          </a:p>
        </p:txBody>
      </p:sp>
      <p:sp>
        <p:nvSpPr>
          <p:cNvPr id="114" name="Text 42"/>
          <p:cNvSpPr/>
          <p:nvPr/>
        </p:nvSpPr>
        <p:spPr>
          <a:xfrm>
            <a:off x="10066963" y="540259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FSM + timeout/retry/exception handling</a:t>
            </a:r>
            <a:endParaRPr lang="en-US" sz="1040" dirty="0"/>
          </a:p>
        </p:txBody>
      </p:sp>
      <p:sp>
        <p:nvSpPr>
          <p:cNvPr id="115" name="Shape 43"/>
          <p:cNvSpPr/>
          <p:nvPr/>
        </p:nvSpPr>
        <p:spPr>
          <a:xfrm>
            <a:off x="5540683" y="-625601"/>
            <a:ext cx="0" cy="13716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6" name="Shape 44"/>
          <p:cNvSpPr/>
          <p:nvPr/>
        </p:nvSpPr>
        <p:spPr>
          <a:xfrm flipH="1">
            <a:off x="10021243" y="-587501"/>
            <a:ext cx="8128" cy="13335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7" name="Shape 45"/>
          <p:cNvSpPr/>
          <p:nvPr/>
        </p:nvSpPr>
        <p:spPr>
          <a:xfrm>
            <a:off x="4306243" y="-625601"/>
            <a:ext cx="1101852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118" name="Shape 46"/>
          <p:cNvSpPr/>
          <p:nvPr/>
        </p:nvSpPr>
        <p:spPr>
          <a:xfrm>
            <a:off x="4306243" y="745999"/>
            <a:ext cx="1101852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한계 및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한계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9260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37617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근거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520440" y="1655064"/>
            <a:ext cx="39319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37617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방향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452360" y="1655064"/>
            <a:ext cx="42062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09928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CPU/FPS 자원 병목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94360" y="2201875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709928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camera topic hz, tegrastats, 처리 latency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520440" y="2201875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709928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TensorRT FP16, pipeline 분리, Orin 활용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52360" y="2201875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256739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카메라/마커 calibration 오차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2748686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256739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반복도, marker center error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520440" y="2748686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256739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calibration 자동화, TF 고정값 재검증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452360" y="2748686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03550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 반복도 편차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94360" y="3295498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03550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error, odom slip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520440" y="3295498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803550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EKF/robot_localization tuning, PID/velocity control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452360" y="3295498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350362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반복도 편차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94360" y="3842309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50362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success/retry count, gripper value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520440" y="3842309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350362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gripper offset 보정, 관측 자세 표준화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452360" y="3842309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97173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 장애물 회피 제한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3566160" y="3897173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 success/failure case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498080" y="3897173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+ safety filter 고도화, DWB parameter tuning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52044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438912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800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로드맵 구조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594360" y="5129784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239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Measured Bottleneck → Engineering Cause → Software/Control Improvement → KPI Re-test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한계는 변명이 아니라, 다음 고도화 방향을 정하는 측정 기반 입력으로 정리합니다.</a:t>
            </a:r>
            <a:endParaRPr lang="en-US" sz="15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최종 결론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AGV, 로봇팔, 비전, WMS 상태를 ROS2 topic과 Mission FSM으로 연결했습니다.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모듈의 단독 동작보다, 주문-주행-인식-파지-배치-복귀를 하나의 workflow로 완성한 점이 핵심입니다.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myAGV deadzone, 정차 오차, eye-in-hand 좌표 오차, camera/FPS 병목 등 실제 하드웨어 문제를 설계에 반영했습니다.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기능 구현이 아니라 하드웨어 한계에 맞춘 제어 구조를 적용했습니다.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가능성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filter KPI, align error, pick success rate, cycle time 등 정량 지표로 시스템 성능을 설명할 수 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시연과 rosbag/log 기반 검증이 같은 시나리오 위에서 연결됩니다.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892040"/>
            <a:ext cx="1554480" cy="329184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Statement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809744"/>
            <a:ext cx="9235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프로젝트는 AGV, 로봇팔, 비전 시스템을 실제 하드웨어 조건에서 통합하고, 발생한 물리적 오차와 제어 한계를 ROS2 기반 구조와 KPI 검증으로 해결한 실하드웨어 통합 로봇 시스템입니다.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59436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[Q&amp;A / 백업 슬라이드: 코드 구조, 주요 파라미터, 로그 캡처, 상세 그래프]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핵심 가치 및 목표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586231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865123"/>
            <a:ext cx="1874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586231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Engineering Requirement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8880" y="1865123"/>
            <a:ext cx="28803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1586231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 Solution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49240" y="1865123"/>
            <a:ext cx="30632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586231"/>
            <a:ext cx="3191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0" y="1865123"/>
            <a:ext cx="32461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19987"/>
            <a:ext cx="17830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공간 제약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594360" y="2375358"/>
            <a:ext cx="1874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919987"/>
            <a:ext cx="27889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협소 구간 이동 및 랙 접근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2468880" y="2375358"/>
            <a:ext cx="28803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919987"/>
            <a:ext cx="29718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소형 AGV + map/route 기반 이동</a:t>
            </a:r>
            <a:endParaRPr lang="en-US" sz="1110" dirty="0"/>
          </a:p>
        </p:txBody>
      </p:sp>
      <p:sp>
        <p:nvSpPr>
          <p:cNvPr id="21" name="Shape 19"/>
          <p:cNvSpPr/>
          <p:nvPr/>
        </p:nvSpPr>
        <p:spPr>
          <a:xfrm>
            <a:off x="5349240" y="2375358"/>
            <a:ext cx="3063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1919987"/>
            <a:ext cx="31546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error, route success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8412480" y="2375358"/>
            <a:ext cx="32461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432457"/>
            <a:ext cx="17830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정밀 </a:t>
            </a:r>
            <a:r>
              <a:rPr lang="ko-KR" alt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정차 및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피킹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594360" y="2887829"/>
            <a:ext cx="1874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432457"/>
            <a:ext cx="27889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랙 </a:t>
            </a:r>
            <a:r>
              <a:rPr lang="en-US" sz="111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 / y /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z </a:t>
            </a:r>
            <a:r>
              <a:rPr lang="en-US" altLang="ko-KR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yaw </a:t>
            </a: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오차 보정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2468880" y="2887829"/>
            <a:ext cx="28803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2432457"/>
            <a:ext cx="29718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final align + eye-in-hand vision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5349240" y="2887829"/>
            <a:ext cx="3063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432457"/>
            <a:ext cx="31546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center </a:t>
            </a: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error, pick success</a:t>
            </a:r>
            <a:endParaRPr lang="en-US" sz="1110" dirty="0"/>
          </a:p>
        </p:txBody>
      </p:sp>
      <p:sp>
        <p:nvSpPr>
          <p:cNvPr id="39" name="Shape 37"/>
          <p:cNvSpPr/>
          <p:nvPr/>
        </p:nvSpPr>
        <p:spPr>
          <a:xfrm>
            <a:off x="8412480" y="2887829"/>
            <a:ext cx="32461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2942693"/>
            <a:ext cx="17830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(AGV </a:t>
            </a:r>
            <a:r>
              <a:rPr lang="ko-KR" alt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속도에 대한</a:t>
            </a:r>
            <a:r>
              <a:rPr lang="en-US" altLang="ko-KR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 </a:t>
            </a:r>
            <a:r>
              <a:rPr lang="en-US" sz="1110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불안정</a:t>
            </a:r>
            <a:endParaRPr lang="en-US" sz="1110" dirty="0"/>
          </a:p>
        </p:txBody>
      </p:sp>
      <p:sp>
        <p:nvSpPr>
          <p:cNvPr id="41" name="Shape 39"/>
          <p:cNvSpPr/>
          <p:nvPr/>
        </p:nvSpPr>
        <p:spPr>
          <a:xfrm>
            <a:off x="594360" y="3398064"/>
            <a:ext cx="1874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942693"/>
            <a:ext cx="27889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deadzone/overshoot/stale cmd 억제</a:t>
            </a:r>
            <a:endParaRPr lang="en-US" sz="1110" dirty="0"/>
          </a:p>
        </p:txBody>
      </p:sp>
      <p:sp>
        <p:nvSpPr>
          <p:cNvPr id="43" name="Shape 41"/>
          <p:cNvSpPr/>
          <p:nvPr/>
        </p:nvSpPr>
        <p:spPr>
          <a:xfrm>
            <a:off x="2468880" y="3398064"/>
            <a:ext cx="28803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2942693"/>
            <a:ext cx="29718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 safety filter</a:t>
            </a:r>
            <a:endParaRPr lang="en-US" sz="1110" dirty="0"/>
          </a:p>
        </p:txBody>
      </p:sp>
      <p:sp>
        <p:nvSpPr>
          <p:cNvPr id="45" name="Shape 43"/>
          <p:cNvSpPr/>
          <p:nvPr/>
        </p:nvSpPr>
        <p:spPr>
          <a:xfrm>
            <a:off x="5349240" y="3398064"/>
            <a:ext cx="3063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58200" y="2942693"/>
            <a:ext cx="31546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NRMSE, peak overshoot</a:t>
            </a:r>
            <a:endParaRPr lang="en-US" sz="1110" dirty="0"/>
          </a:p>
        </p:txBody>
      </p:sp>
      <p:sp>
        <p:nvSpPr>
          <p:cNvPr id="47" name="Shape 45"/>
          <p:cNvSpPr/>
          <p:nvPr/>
        </p:nvSpPr>
        <p:spPr>
          <a:xfrm>
            <a:off x="8412480" y="3398064"/>
            <a:ext cx="32461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452928"/>
            <a:ext cx="17830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안정성</a:t>
            </a:r>
            <a:endParaRPr lang="en-US" sz="1110" dirty="0">
              <a:solidFill>
                <a:srgbClr val="FF0000"/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2514600" y="3452928"/>
            <a:ext cx="27889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 시 무한 대기 방지</a:t>
            </a:r>
            <a:endParaRPr lang="en-US" sz="1110" dirty="0">
              <a:solidFill>
                <a:srgbClr val="FF0000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5394960" y="3452928"/>
            <a:ext cx="297180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timeout/retry/align 분기</a:t>
            </a:r>
            <a:endParaRPr lang="en-US" sz="1110" dirty="0">
              <a:solidFill>
                <a:srgbClr val="FF000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58200" y="3452928"/>
            <a:ext cx="31546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exception recovery rate</a:t>
            </a:r>
            <a:endParaRPr lang="en-US" sz="1110" dirty="0">
              <a:solidFill>
                <a:srgbClr val="FF0000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468880" y="1535939"/>
            <a:ext cx="0" cy="237236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49240" y="1535939"/>
            <a:ext cx="0" cy="23724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2480" y="1535939"/>
            <a:ext cx="0" cy="23724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1535939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360" y="3908299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65866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95%+</a:t>
            </a:r>
            <a:endParaRPr lang="en-US" sz="2300" dirty="0"/>
          </a:p>
        </p:txBody>
      </p:sp>
      <p:sp>
        <p:nvSpPr>
          <p:cNvPr id="58" name="Text 56"/>
          <p:cNvSpPr/>
          <p:nvPr/>
        </p:nvSpPr>
        <p:spPr>
          <a:xfrm>
            <a:off x="502920" y="511586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 목표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02920" y="54176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시도 횟수 n 병기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502920" y="5710226"/>
            <a:ext cx="2011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0" y="465866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±2cm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2743200" y="511586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Localization 목표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743200" y="54176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AMCL/odom 기준</a:t>
            </a:r>
            <a:endParaRPr lang="en-US" sz="980" dirty="0"/>
          </a:p>
        </p:txBody>
      </p:sp>
      <p:sp>
        <p:nvSpPr>
          <p:cNvPr id="64" name="Shape 62"/>
          <p:cNvSpPr/>
          <p:nvPr/>
        </p:nvSpPr>
        <p:spPr>
          <a:xfrm>
            <a:off x="2743200" y="5710226"/>
            <a:ext cx="2011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23760" y="465866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</a:t>
            </a:r>
            <a:r>
              <a:rPr lang="en-US" sz="2300" b="1" smtClean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90%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7223760" y="511586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</a:t>
            </a:r>
            <a:r>
              <a:rPr lang="en-US" sz="1150" b="1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Overshoot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223760" y="54176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 측정값</a:t>
            </a:r>
            <a:endParaRPr lang="en-US" sz="980" dirty="0"/>
          </a:p>
        </p:txBody>
      </p:sp>
      <p:sp>
        <p:nvSpPr>
          <p:cNvPr id="72" name="Shape 70"/>
          <p:cNvSpPr/>
          <p:nvPr/>
        </p:nvSpPr>
        <p:spPr>
          <a:xfrm>
            <a:off x="7223760" y="5710226"/>
            <a:ext cx="2011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64040" y="465866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smtClean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99%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9464040" y="511586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Vision Perception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9464040" y="541761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9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 블록 및 </a:t>
            </a:r>
            <a:r>
              <a:rPr lang="en-US" altLang="ko-KR" sz="9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 </a:t>
            </a:r>
            <a:r>
              <a:rPr lang="ko-KR" altLang="en-US" sz="98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 성공률</a:t>
            </a:r>
            <a:endParaRPr lang="en-US" sz="980" dirty="0">
              <a:solidFill>
                <a:srgbClr val="444444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9464040" y="5710226"/>
            <a:ext cx="2011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3173</Words>
  <Application>Microsoft Office PowerPoint</Application>
  <PresentationFormat>와이드스크린</PresentationFormat>
  <Paragraphs>739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Sans CJK KR</vt:lpstr>
      <vt:lpstr>맑은 고딕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LogiFlow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ROS2_AGV로봇팔_최종발표_내용정리본</dc:title>
  <dc:subject>ROS2 AGV Arm Final Presentation Content Pack</dc:subject>
  <dc:creator>OpenAI</dc:creator>
  <cp:lastModifiedBy>김윤정</cp:lastModifiedBy>
  <cp:revision>78</cp:revision>
  <dcterms:created xsi:type="dcterms:W3CDTF">2026-07-10T02:06:54Z</dcterms:created>
  <dcterms:modified xsi:type="dcterms:W3CDTF">2026-07-10T08:11:56Z</dcterms:modified>
</cp:coreProperties>
</file>