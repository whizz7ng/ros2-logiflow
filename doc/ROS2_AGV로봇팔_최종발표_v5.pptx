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94" r:id="rId4"/>
    <p:sldId id="259" r:id="rId5"/>
    <p:sldId id="296" r:id="rId6"/>
    <p:sldId id="291" r:id="rId7"/>
    <p:sldId id="290" r:id="rId8"/>
    <p:sldId id="263" r:id="rId9"/>
    <p:sldId id="302" r:id="rId10"/>
    <p:sldId id="300" r:id="rId11"/>
    <p:sldId id="304" r:id="rId12"/>
    <p:sldId id="30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EFE"/>
    <a:srgbClr val="F7F7F6"/>
    <a:srgbClr val="F8F7F7"/>
    <a:srgbClr val="F4F4F4"/>
    <a:srgbClr val="EDF3E6"/>
    <a:srgbClr val="1D0F0F"/>
    <a:srgbClr val="444444"/>
    <a:srgbClr val="F89345"/>
    <a:srgbClr val="09182C"/>
    <a:srgbClr val="1509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59" autoAdjust="0"/>
    <p:restoredTop sz="92263" autoAdjust="0"/>
  </p:normalViewPr>
  <p:slideViewPr>
    <p:cSldViewPr snapToGrid="0" snapToObjects="1">
      <p:cViewPr varScale="1">
        <p:scale>
          <a:sx n="105" d="100"/>
          <a:sy n="105" d="100"/>
        </p:scale>
        <p:origin x="1212" y="78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적용 전</c:v>
                </c:pt>
              </c:strCache>
            </c:strRef>
          </c:tx>
          <c:spPr>
            <a:solidFill>
              <a:srgbClr val="B45A5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Linear NRMSE(%)</c:v>
                </c:pt>
                <c:pt idx="1">
                  <c:v>Angular NRMSE(%)</c:v>
                </c:pt>
                <c:pt idx="2">
                  <c:v>Lin. Overshoot(m/s)x100</c:v>
                </c:pt>
                <c:pt idx="3">
                  <c:v>Ang. Overshoot(rad/s)x10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46.8</c:v>
                </c:pt>
                <c:pt idx="1">
                  <c:v>76.3</c:v>
                </c:pt>
                <c:pt idx="2">
                  <c:v>31</c:v>
                </c:pt>
                <c:pt idx="3">
                  <c:v>8.6999999999999993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9B-4829-AF3F-50550EB11F1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적용 후</c:v>
                </c:pt>
              </c:strCache>
            </c:strRef>
          </c:tx>
          <c:spPr>
            <a:solidFill>
              <a:srgbClr val="1E7B3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Linear NRMSE(%)</c:v>
                </c:pt>
                <c:pt idx="1">
                  <c:v>Angular NRMSE(%)</c:v>
                </c:pt>
                <c:pt idx="2">
                  <c:v>Lin. Overshoot(m/s)x100</c:v>
                </c:pt>
                <c:pt idx="3">
                  <c:v>Ang. Overshoot(rad/s)x10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17.600000000000001</c:v>
                </c:pt>
                <c:pt idx="1">
                  <c:v>28</c:v>
                </c:pt>
                <c:pt idx="2">
                  <c:v>1</c:v>
                </c:pt>
                <c:pt idx="3">
                  <c:v>2.2000000000000002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99B-4829-AF3F-50550EB11F1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 sz="1000"/>
      </a:pPr>
      <a:endParaRPr lang="ko-K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Nav2</c:v>
                </c:pt>
              </c:strCache>
            </c:strRef>
          </c:tx>
          <c:spPr>
            <a:solidFill>
              <a:srgbClr val="9AA5B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누적회전량
(deg/m)</c:v>
                </c:pt>
                <c:pt idx="1">
                  <c:v>회전구간
비율(%)</c:v>
                </c:pt>
                <c:pt idx="2">
                  <c:v>반전밀도
(/1000)</c:v>
                </c:pt>
                <c:pt idx="3">
                  <c:v>총변동량
(/1000)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183.43</c:v>
                </c:pt>
                <c:pt idx="1">
                  <c:v>20.43</c:v>
                </c:pt>
                <c:pt idx="2">
                  <c:v>9.1999999999999993</c:v>
                </c:pt>
                <c:pt idx="3">
                  <c:v>41.65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8C2-4E60-9387-DDA46135444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Primitive</c:v>
                </c:pt>
              </c:strCache>
            </c:strRef>
          </c:tx>
          <c:spPr>
            <a:solidFill>
              <a:srgbClr val="2F549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누적회전량
(deg/m)</c:v>
                </c:pt>
                <c:pt idx="1">
                  <c:v>회전구간
비율(%)</c:v>
                </c:pt>
                <c:pt idx="2">
                  <c:v>반전밀도
(/1000)</c:v>
                </c:pt>
                <c:pt idx="3">
                  <c:v>총변동량
(/1000)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85.12</c:v>
                </c:pt>
                <c:pt idx="1">
                  <c:v>10</c:v>
                </c:pt>
                <c:pt idx="2">
                  <c:v>4.04</c:v>
                </c:pt>
                <c:pt idx="3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8C2-4E60-9387-DDA46135444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 sz="1100"/>
      </a:pPr>
      <a:endParaRPr lang="ko-KR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6381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761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altLang="ko-KR" sz="120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상태 전이마다 확인 topic을 두어 하위 시스템 완료 상태를 검증</a:t>
            </a:r>
            <a:endParaRPr lang="en-US" altLang="ko-KR" sz="1200" smtClean="0"/>
          </a:p>
          <a:p>
            <a:pPr marL="0" indent="0" algn="l">
              <a:buNone/>
            </a:pPr>
            <a:r>
              <a:rPr lang="en-US" altLang="ko-KR" sz="120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주행/비전/파지 실패는 timeout, retry, align으로 분기</a:t>
            </a:r>
            <a:endParaRPr lang="en-US" altLang="ko-KR" sz="1200" smtClean="0"/>
          </a:p>
          <a:p>
            <a:pPr marL="0" indent="0" algn="l">
              <a:buNone/>
            </a:pPr>
            <a:r>
              <a:rPr lang="en-US" altLang="ko-KR" sz="120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영상 시연과 rosbag/log KPI를 동일 시나리오에 연결</a:t>
            </a:r>
            <a:endParaRPr lang="en-US" altLang="ko-KR" sz="1200" smtClean="0"/>
          </a:p>
          <a:p>
            <a:pPr marL="0" indent="0" algn="l">
              <a:buNone/>
            </a:pPr>
            <a:r>
              <a:rPr lang="en-US" altLang="ko-KR" sz="120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근접 이동은 AGV, 마지막 정밀 정렬과 파지는 Vision·Robot Arm이 담당</a:t>
            </a:r>
            <a:endParaRPr lang="en-US" altLang="ko-KR" sz="120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89578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72599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altLang="ko-KR" sz="1200" kern="1200" smtClean="0">
                <a:solidFill>
                  <a:srgbClr val="444444"/>
                </a:solidFill>
                <a:latin typeface="+mj-ea"/>
                <a:ea typeface="+mn-ea"/>
                <a:cs typeface="Noto Sans CJK KR" pitchFamily="34" charset="-120"/>
              </a:rPr>
              <a:t>① ROTATE_TO_HEADING</a:t>
            </a:r>
            <a:endParaRPr lang="en-US" altLang="ko-KR" sz="1200" kern="1200" smtClean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 marL="0" indent="0" algn="l">
              <a:buNone/>
            </a:pPr>
            <a:r>
              <a:rPr lang="en-US" altLang="ko-KR" sz="1200" kern="1200" smtClean="0">
                <a:solidFill>
                  <a:srgbClr val="444444"/>
                </a:solidFill>
                <a:latin typeface="+mj-ea"/>
                <a:ea typeface="+mn-ea"/>
                <a:cs typeface="Noto Sans CJK KR" pitchFamily="34" charset="-120"/>
              </a:rPr>
              <a:t>목표점 방향으로 제자리 회전</a:t>
            </a:r>
            <a:endParaRPr lang="en-US" altLang="ko-KR" sz="1200" kern="1200" smtClean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 marL="0" indent="0" algn="l">
              <a:buNone/>
            </a:pPr>
            <a:endParaRPr lang="en-US" altLang="ko-KR" sz="1200" kern="1200" smtClean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 marL="0" indent="0" algn="l">
              <a:buNone/>
            </a:pPr>
            <a:r>
              <a:rPr lang="en-US" altLang="ko-KR" sz="1200" kern="1200" smtClean="0">
                <a:solidFill>
                  <a:srgbClr val="444444"/>
                </a:solidFill>
                <a:latin typeface="+mj-ea"/>
                <a:ea typeface="+mn-ea"/>
                <a:cs typeface="Noto Sans CJK KR" pitchFamily="34" charset="-120"/>
              </a:rPr>
              <a:t>② DRIVE_STRAIGHT</a:t>
            </a:r>
            <a:endParaRPr lang="en-US" altLang="ko-KR" sz="1200" kern="1200" smtClean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 marL="0" indent="0" algn="l">
              <a:buNone/>
            </a:pPr>
            <a:r>
              <a:rPr lang="en-US" altLang="ko-KR" sz="1200" kern="1200" smtClean="0">
                <a:solidFill>
                  <a:srgbClr val="444444"/>
                </a:solidFill>
                <a:latin typeface="+mj-ea"/>
                <a:ea typeface="+mn-ea"/>
                <a:cs typeface="Noto Sans CJK KR" pitchFamily="34" charset="-120"/>
              </a:rPr>
              <a:t>angular.z = 0으로 직진</a:t>
            </a:r>
            <a:endParaRPr lang="en-US" altLang="ko-KR" sz="1200" kern="1200" smtClean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 marL="0" indent="0" algn="l">
              <a:buNone/>
            </a:pPr>
            <a:endParaRPr lang="en-US" altLang="ko-KR" sz="1200" kern="1200" smtClean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 marL="0" indent="0" algn="l">
              <a:buNone/>
            </a:pPr>
            <a:r>
              <a:rPr lang="en-US" altLang="ko-KR" sz="1200" kern="1200" smtClean="0">
                <a:solidFill>
                  <a:srgbClr val="444444"/>
                </a:solidFill>
                <a:latin typeface="+mj-ea"/>
                <a:ea typeface="+mn-ea"/>
                <a:cs typeface="Noto Sans CJK KR" pitchFamily="34" charset="-120"/>
              </a:rPr>
              <a:t>③ ROTATE_TO_GOAL_YAW</a:t>
            </a:r>
            <a:endParaRPr lang="en-US" altLang="ko-KR" sz="1200" kern="1200" smtClean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 marL="0" indent="0" algn="l">
              <a:buNone/>
            </a:pPr>
            <a:r>
              <a:rPr lang="en-US" altLang="ko-KR" sz="1200" kern="1200" smtClean="0">
                <a:solidFill>
                  <a:srgbClr val="444444"/>
                </a:solidFill>
                <a:latin typeface="+mj-ea"/>
                <a:ea typeface="+mn-ea"/>
                <a:cs typeface="Noto Sans CJK KR" pitchFamily="34" charset="-120"/>
              </a:rPr>
              <a:t>목표 yaw로 최종 회전</a:t>
            </a:r>
            <a:endParaRPr lang="en-US" altLang="ko-KR" sz="1200" kern="1200" smtClean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 marL="0" indent="0" algn="l">
              <a:buNone/>
            </a:pPr>
            <a:endParaRPr lang="en-US" altLang="ko-KR" sz="1200" kern="1200" smtClean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 marL="0" indent="0" algn="l">
              <a:buNone/>
            </a:pPr>
            <a:r>
              <a:rPr lang="en-US" altLang="ko-KR" sz="1200" kern="1200" smtClean="0">
                <a:solidFill>
                  <a:srgbClr val="444444"/>
                </a:solidFill>
                <a:latin typeface="+mj-ea"/>
                <a:ea typeface="+mn-ea"/>
                <a:cs typeface="Noto Sans CJK KR" pitchFamily="34" charset="-120"/>
              </a:rPr>
              <a:t>④ STOP_HOLD</a:t>
            </a:r>
            <a:endParaRPr lang="en-US" altLang="ko-KR" sz="1200" kern="1200" smtClean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 marL="0" indent="0" algn="l">
              <a:buNone/>
            </a:pPr>
            <a:r>
              <a:rPr lang="en-US" altLang="ko-KR" sz="1200" kern="1200" smtClean="0">
                <a:solidFill>
                  <a:srgbClr val="444444"/>
                </a:solidFill>
                <a:latin typeface="+mj-ea"/>
                <a:ea typeface="+mn-ea"/>
                <a:cs typeface="Noto Sans CJK KR" pitchFamily="34" charset="-120"/>
              </a:rPr>
              <a:t>다음 동작 전 완전 정지 유지</a:t>
            </a:r>
            <a:endParaRPr lang="en-US" altLang="ko-KR" sz="1200" kern="1200" smtClean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 algn="ctr"/>
            <a:r>
              <a:rPr lang="en-US" altLang="ko-KR" smtClean="0"/>
              <a:t>AGV </a:t>
            </a:r>
            <a:r>
              <a:rPr lang="ko-KR" altLang="en-US" smtClean="0"/>
              <a:t>노드 전체 </a:t>
            </a:r>
            <a:r>
              <a:rPr lang="en-US" altLang="ko-KR" smtClean="0"/>
              <a:t>FLOW (black box </a:t>
            </a:r>
            <a:r>
              <a:rPr lang="ko-KR" altLang="en-US" smtClean="0"/>
              <a:t>포함해서 설명</a:t>
            </a:r>
            <a:r>
              <a:rPr lang="en-US" altLang="ko-KR" smtClean="0"/>
              <a:t>)</a:t>
            </a:r>
          </a:p>
          <a:p>
            <a:pPr algn="ctr"/>
            <a:r>
              <a:rPr lang="en-US" altLang="ko-KR" smtClean="0"/>
              <a:t>Base + </a:t>
            </a:r>
            <a:r>
              <a:rPr lang="ko-KR" altLang="en-US" smtClean="0"/>
              <a:t>내가 한 부분 </a:t>
            </a:r>
            <a:r>
              <a:rPr lang="en-US" altLang="ko-KR" smtClean="0"/>
              <a:t>/ </a:t>
            </a:r>
            <a:r>
              <a:rPr lang="ko-KR" altLang="en-US" smtClean="0"/>
              <a:t>내가 수정한 부분</a:t>
            </a:r>
            <a:r>
              <a:rPr lang="en-US" altLang="ko-KR" smtClean="0"/>
              <a:t>(</a:t>
            </a:r>
            <a:r>
              <a:rPr lang="ko-KR" altLang="en-US" smtClean="0"/>
              <a:t>이유</a:t>
            </a:r>
            <a:r>
              <a:rPr lang="en-US" altLang="ko-KR" smtClean="0"/>
              <a:t>)</a:t>
            </a:r>
            <a:endParaRPr lang="ko-KR" altLang="en-US" smtClean="0"/>
          </a:p>
          <a:p>
            <a:endParaRPr lang="en-US" smtClean="0"/>
          </a:p>
          <a:p>
            <a:endParaRPr lang="en-US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mtClean="0"/>
              <a:t>급발진 문제</a:t>
            </a:r>
            <a:r>
              <a:rPr lang="en-US" altLang="ko-KR" smtClean="0"/>
              <a:t>(firmware)</a:t>
            </a:r>
            <a:r>
              <a:rPr lang="ko-KR" altLang="en-US" smtClean="0"/>
              <a:t> </a:t>
            </a:r>
            <a:r>
              <a:rPr lang="en-US" altLang="ko-KR" smtClean="0">
                <a:sym typeface="Wingdings" panose="05000000000000000000" pitchFamily="2" charset="2"/>
              </a:rPr>
              <a:t> </a:t>
            </a:r>
            <a:endParaRPr lang="ko-KR" altLang="en-US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0003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5971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8273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/>
          <p:cNvSpPr/>
          <p:nvPr/>
        </p:nvSpPr>
        <p:spPr>
          <a:xfrm flipH="1">
            <a:off x="7096125" y="0"/>
            <a:ext cx="5095875" cy="6858000"/>
          </a:xfrm>
          <a:prstGeom prst="rect">
            <a:avLst/>
          </a:prstGeom>
          <a:gradFill flip="none" rotWithShape="1">
            <a:gsLst>
              <a:gs pos="5000">
                <a:srgbClr val="F4F4F4"/>
              </a:gs>
              <a:gs pos="94000">
                <a:schemeClr val="tx1">
                  <a:lumMod val="75000"/>
                </a:schemeClr>
              </a:gs>
              <a:gs pos="63000">
                <a:srgbClr val="D3D3D3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594360" y="548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06060"/>
                </a:solidFill>
                <a:latin typeface="+mj-ea"/>
                <a:ea typeface="+mj-ea"/>
              </a:rPr>
              <a:t>FINAL PROJECT</a:t>
            </a:r>
            <a:endParaRPr lang="en-US" sz="1200" dirty="0">
              <a:latin typeface="+mj-ea"/>
              <a:ea typeface="+mj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6766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161616"/>
                </a:solidFill>
                <a:latin typeface="+mj-ea"/>
                <a:ea typeface="+mj-ea"/>
              </a:rPr>
              <a:t>ROS2 기반 AGV-로봇팔 통합</a:t>
            </a:r>
            <a:endParaRPr lang="en-US" sz="33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sz="3300" b="1" dirty="0">
                <a:solidFill>
                  <a:srgbClr val="161616"/>
                </a:solidFill>
                <a:latin typeface="+mj-ea"/>
                <a:ea typeface="+mj-ea"/>
              </a:rPr>
              <a:t>물류 분류 로봇</a:t>
            </a:r>
            <a:endParaRPr lang="en-US" sz="3300" dirty="0">
              <a:latin typeface="+mj-ea"/>
              <a:ea typeface="+mj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59" y="2284094"/>
            <a:ext cx="7149465" cy="4297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r>
              <a:rPr lang="en-US" sz="1750" smtClean="0">
                <a:solidFill>
                  <a:srgbClr val="444444"/>
                </a:solidFill>
                <a:latin typeface="+mj-ea"/>
                <a:ea typeface="+mj-ea"/>
              </a:rPr>
              <a:t>하드웨어 </a:t>
            </a:r>
            <a:r>
              <a:rPr lang="en-US" sz="1750" dirty="0">
                <a:solidFill>
                  <a:srgbClr val="444444"/>
                </a:solidFill>
                <a:latin typeface="+mj-ea"/>
                <a:ea typeface="+mj-ea"/>
              </a:rPr>
              <a:t>제약 기반 통합 제어 </a:t>
            </a:r>
            <a:r>
              <a:rPr lang="en-US" sz="1750">
                <a:solidFill>
                  <a:srgbClr val="444444"/>
                </a:solidFill>
                <a:latin typeface="+mj-ea"/>
                <a:ea typeface="+mj-ea"/>
              </a:rPr>
              <a:t>· </a:t>
            </a:r>
            <a:r>
              <a:rPr lang="en-US" sz="1750" smtClean="0">
                <a:solidFill>
                  <a:srgbClr val="444444"/>
                </a:solidFill>
                <a:latin typeface="+mj-ea"/>
                <a:ea typeface="+mj-ea"/>
              </a:rPr>
              <a:t>Mobile</a:t>
            </a:r>
            <a:r>
              <a:rPr lang="en-US" altLang="ko-KR" sz="1750" smtClean="0">
                <a:solidFill>
                  <a:srgbClr val="444444"/>
                </a:solidFill>
                <a:latin typeface="+mj-ea"/>
                <a:ea typeface="+mj-ea"/>
              </a:rPr>
              <a:t>· </a:t>
            </a:r>
            <a:r>
              <a:rPr lang="en-US" sz="1750" smtClean="0">
                <a:solidFill>
                  <a:srgbClr val="444444"/>
                </a:solidFill>
                <a:latin typeface="+mj-ea"/>
                <a:ea typeface="+mj-ea"/>
              </a:rPr>
              <a:t>Vision </a:t>
            </a:r>
            <a:r>
              <a:rPr lang="en-US" sz="1750" dirty="0">
                <a:solidFill>
                  <a:srgbClr val="444444"/>
                </a:solidFill>
                <a:latin typeface="+mj-ea"/>
                <a:ea typeface="+mj-ea"/>
              </a:rPr>
              <a:t>· Manipulation · Mission FSM</a:t>
            </a:r>
            <a:endParaRPr lang="en-US" sz="1750" dirty="0">
              <a:latin typeface="+mj-ea"/>
              <a:ea typeface="+mj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" y="3204972"/>
            <a:ext cx="2093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Core Module</a:t>
            </a:r>
            <a:endParaRPr lang="en-US" sz="1250" dirty="0">
              <a:latin typeface="+mj-ea"/>
              <a:ea typeface="+mj-ea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58368" y="3483864"/>
            <a:ext cx="214884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0" y="3204972"/>
            <a:ext cx="4608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Implementation Keyword</a:t>
            </a:r>
            <a:endParaRPr lang="en-US" sz="1250" dirty="0">
              <a:latin typeface="+mj-ea"/>
              <a:ea typeface="+mj-ea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858008" y="3483864"/>
            <a:ext cx="466344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2477" y="3622618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AGV Navigation</a:t>
            </a:r>
            <a:endParaRPr lang="en-US" sz="1280" dirty="0">
              <a:latin typeface="+mj-ea"/>
              <a:ea typeface="+mj-ea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58368" y="3927348"/>
            <a:ext cx="21488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03728" y="3605840"/>
            <a:ext cx="45720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Nav2 </a:t>
            </a:r>
            <a:r>
              <a:rPr lang="en-US" sz="1280" smtClean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· </a:t>
            </a:r>
            <a:r>
              <a:rPr lang="en-US" sz="128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primitive route · AMCL/odom · safety filter</a:t>
            </a:r>
            <a:endParaRPr lang="en-US" sz="1280" dirty="0">
              <a:latin typeface="+mj-ea"/>
              <a:ea typeface="+mj-ea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858008" y="3927348"/>
            <a:ext cx="46634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2477" y="4066102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Vision</a:t>
            </a:r>
            <a:endParaRPr lang="en-US" sz="1280" dirty="0">
              <a:latin typeface="+mj-ea"/>
              <a:ea typeface="+mj-ea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58368" y="4370832"/>
            <a:ext cx="21488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03728" y="4049324"/>
            <a:ext cx="45720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YOLO · depth · ArUco · eye-in-hand transform</a:t>
            </a:r>
            <a:endParaRPr lang="en-US" sz="1280" dirty="0">
              <a:latin typeface="+mj-ea"/>
              <a:ea typeface="+mj-ea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858008" y="4370832"/>
            <a:ext cx="46634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2477" y="4509586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Manipulation</a:t>
            </a:r>
            <a:endParaRPr lang="en-US" sz="1280" dirty="0">
              <a:latin typeface="+mj-ea"/>
              <a:ea typeface="+mj-ea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58368" y="4814316"/>
            <a:ext cx="21488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03728" y="4492808"/>
            <a:ext cx="45720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myCobot 280 Pi · observe sync · pick/place sequence</a:t>
            </a:r>
            <a:endParaRPr lang="en-US" sz="1280" dirty="0">
              <a:latin typeface="+mj-ea"/>
              <a:ea typeface="+mj-ea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858008" y="4814316"/>
            <a:ext cx="46634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2477" y="4953070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System Integration</a:t>
            </a:r>
            <a:endParaRPr lang="en-US" sz="1280" dirty="0">
              <a:latin typeface="+mj-ea"/>
              <a:ea typeface="+mj-ea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903728" y="4936292"/>
            <a:ext cx="45720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ROS2 topics · Mission FSM · timeout/retry/align</a:t>
            </a:r>
            <a:endParaRPr lang="en-US" sz="1280" dirty="0">
              <a:latin typeface="+mj-ea"/>
              <a:ea typeface="+mj-ea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807208" y="3154680"/>
            <a:ext cx="0" cy="210312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" y="3154680"/>
            <a:ext cx="681228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5257800"/>
            <a:ext cx="681228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5708141"/>
            <a:ext cx="2996128" cy="738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Team Goong</a:t>
            </a:r>
            <a:endParaRPr lang="en-US" sz="3200" dirty="0">
              <a:latin typeface="+mj-ea"/>
              <a:ea typeface="+mj-ea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37373"/>
                </a:solidFill>
                <a:latin typeface="+mj-ea"/>
                <a:ea typeface="+mj-ea"/>
                <a:cs typeface="Noto Sans CJK KR" pitchFamily="34" charset="-120"/>
              </a:rPr>
              <a:t>01</a:t>
            </a:r>
            <a:endParaRPr lang="en-US" sz="950" dirty="0">
              <a:latin typeface="+mj-ea"/>
              <a:ea typeface="+mj-ea"/>
            </a:endParaRPr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02" t="22844"/>
          <a:stretch/>
        </p:blipFill>
        <p:spPr>
          <a:xfrm>
            <a:off x="8023164" y="214464"/>
            <a:ext cx="4009576" cy="66435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6060"/>
                </a:solidFill>
                <a:latin typeface="+mj-ea"/>
                <a:ea typeface="+mj-ea"/>
              </a:rPr>
              <a:t>INTRODUCTION</a:t>
            </a:r>
            <a:endParaRPr lang="en-US" sz="1050" dirty="0">
              <a:latin typeface="+mj-ea"/>
              <a:ea typeface="+mj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559006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161616"/>
                </a:solidFill>
                <a:latin typeface="+mj-ea"/>
                <a:ea typeface="+mj-ea"/>
              </a:rPr>
              <a:t>프로젝트 </a:t>
            </a:r>
            <a:r>
              <a:rPr lang="en-US" sz="2800" b="1" smtClean="0">
                <a:solidFill>
                  <a:srgbClr val="161616"/>
                </a:solidFill>
                <a:latin typeface="+mj-ea"/>
                <a:ea typeface="+mj-ea"/>
              </a:rPr>
              <a:t>정의 </a:t>
            </a:r>
            <a:r>
              <a:rPr lang="ko-KR" altLang="en-US" sz="2800" b="1" smtClean="0">
                <a:solidFill>
                  <a:srgbClr val="161616"/>
                </a:solidFill>
                <a:latin typeface="+mj-ea"/>
                <a:ea typeface="+mj-ea"/>
              </a:rPr>
              <a:t>및 고도화 방향</a:t>
            </a:r>
            <a:endParaRPr lang="en-US" sz="2800" dirty="0">
              <a:latin typeface="+mj-ea"/>
              <a:ea typeface="+mj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37373"/>
                </a:solidFill>
                <a:latin typeface="+mj-ea"/>
                <a:ea typeface="+mj-ea"/>
                <a:cs typeface="Noto Sans CJK KR" pitchFamily="34" charset="-120"/>
              </a:rPr>
              <a:t>02</a:t>
            </a:r>
            <a:endParaRPr lang="en-US" sz="950" dirty="0">
              <a:latin typeface="+mj-ea"/>
              <a:ea typeface="+mj-ea"/>
            </a:endParaRPr>
          </a:p>
        </p:txBody>
      </p:sp>
      <p:grpSp>
        <p:nvGrpSpPr>
          <p:cNvPr id="23" name="그룹 22"/>
          <p:cNvGrpSpPr/>
          <p:nvPr/>
        </p:nvGrpSpPr>
        <p:grpSpPr>
          <a:xfrm>
            <a:off x="456969" y="1219200"/>
            <a:ext cx="3594965" cy="2314957"/>
            <a:chOff x="434109" y="1219200"/>
            <a:chExt cx="3594965" cy="2314957"/>
          </a:xfrm>
        </p:grpSpPr>
        <p:sp>
          <p:nvSpPr>
            <p:cNvPr id="18" name="모서리가 둥근 직사각형 17"/>
            <p:cNvSpPr/>
            <p:nvPr/>
          </p:nvSpPr>
          <p:spPr>
            <a:xfrm>
              <a:off x="434109" y="1219200"/>
              <a:ext cx="3594965" cy="2266950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7" name="Text 5"/>
            <p:cNvSpPr/>
            <p:nvPr/>
          </p:nvSpPr>
          <p:spPr>
            <a:xfrm>
              <a:off x="525779" y="1315720"/>
              <a:ext cx="3429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61616"/>
                  </a:solidFill>
                  <a:latin typeface="+mj-ea"/>
                  <a:ea typeface="+mj-ea"/>
                  <a:cs typeface="Noto Sans CJK KR" pitchFamily="34" charset="-120"/>
                </a:rPr>
                <a:t>현장 Pain Point</a:t>
              </a:r>
              <a:endParaRPr lang="en-US" sz="1600" dirty="0">
                <a:latin typeface="+mj-ea"/>
                <a:ea typeface="+mj-ea"/>
              </a:endParaRPr>
            </a:p>
          </p:txBody>
        </p:sp>
        <p:sp>
          <p:nvSpPr>
            <p:cNvPr id="8" name="Shape 6"/>
            <p:cNvSpPr/>
            <p:nvPr/>
          </p:nvSpPr>
          <p:spPr>
            <a:xfrm>
              <a:off x="525779" y="1644904"/>
              <a:ext cx="3429000" cy="0"/>
            </a:xfrm>
            <a:prstGeom prst="line">
              <a:avLst/>
            </a:prstGeom>
            <a:noFill/>
            <a:ln w="9525">
              <a:solidFill>
                <a:srgbClr val="BFBFBF"/>
              </a:solidFill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582930" y="1842517"/>
              <a:ext cx="3429000" cy="1691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400" dirty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· 다품종 소형 </a:t>
              </a:r>
              <a:r>
                <a:rPr lang="en-US" sz="140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물류 </a:t>
              </a:r>
              <a:r>
                <a:rPr lang="en-US" sz="140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증가</a:t>
              </a:r>
              <a:r>
                <a:rPr lang="ko-KR" altLang="en-US" sz="140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에 따른 이동</a:t>
              </a:r>
              <a:r>
                <a:rPr lang="en-US" altLang="ko-KR" sz="140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 · </a:t>
              </a:r>
              <a:r>
                <a:rPr lang="ko-KR" altLang="en-US" sz="140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피킹 증가</a:t>
              </a:r>
              <a:endParaRPr lang="en-US" sz="1400" dirty="0">
                <a:latin typeface="+mj-ea"/>
                <a:ea typeface="+mj-ea"/>
              </a:endParaRPr>
            </a:p>
            <a:p>
              <a:pPr marL="0" indent="0" algn="l">
                <a:lnSpc>
                  <a:spcPct val="120000"/>
                </a:lnSpc>
                <a:buNone/>
              </a:pPr>
              <a:r>
                <a:rPr lang="en-US" sz="140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· </a:t>
              </a:r>
              <a:r>
                <a:rPr lang="en-US" sz="140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공간 </a:t>
              </a:r>
              <a:r>
                <a:rPr lang="en-US" sz="1400" dirty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효율 저하, 반복 작업 부담 발생</a:t>
              </a:r>
              <a:endParaRPr lang="en-US" sz="1400" dirty="0">
                <a:latin typeface="+mj-ea"/>
                <a:ea typeface="+mj-ea"/>
              </a:endParaRPr>
            </a:p>
            <a:p>
              <a:pPr>
                <a:lnSpc>
                  <a:spcPct val="120000"/>
                </a:lnSpc>
              </a:pPr>
              <a:r>
                <a:rPr lang="en-US" sz="140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· </a:t>
              </a:r>
              <a:r>
                <a:rPr lang="ko-KR" altLang="en-US" sz="140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이동</a:t>
              </a:r>
              <a:r>
                <a:rPr lang="en-US" altLang="ko-KR" sz="140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 · </a:t>
              </a:r>
              <a:r>
                <a:rPr lang="ko-KR" altLang="en-US" sz="140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정렬 오차가 로봇팔 파지 실패로 연결</a:t>
              </a:r>
              <a:endParaRPr lang="en-US" sz="1400" dirty="0">
                <a:latin typeface="+mj-ea"/>
                <a:ea typeface="+mj-ea"/>
              </a:endParaRPr>
            </a:p>
          </p:txBody>
        </p:sp>
      </p:grpSp>
      <p:grpSp>
        <p:nvGrpSpPr>
          <p:cNvPr id="22" name="그룹 21"/>
          <p:cNvGrpSpPr/>
          <p:nvPr/>
        </p:nvGrpSpPr>
        <p:grpSpPr>
          <a:xfrm>
            <a:off x="4246244" y="1213231"/>
            <a:ext cx="3615690" cy="2360348"/>
            <a:chOff x="4246244" y="1213231"/>
            <a:chExt cx="3615690" cy="2360348"/>
          </a:xfrm>
        </p:grpSpPr>
        <p:sp>
          <p:nvSpPr>
            <p:cNvPr id="20" name="모서리가 둥근 직사각형 19"/>
            <p:cNvSpPr/>
            <p:nvPr/>
          </p:nvSpPr>
          <p:spPr>
            <a:xfrm>
              <a:off x="4246244" y="1213231"/>
              <a:ext cx="3575686" cy="2272920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4284344" y="1341427"/>
              <a:ext cx="35204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61616"/>
                  </a:solidFill>
                  <a:latin typeface="+mj-ea"/>
                  <a:ea typeface="+mj-ea"/>
                  <a:cs typeface="Noto Sans CJK KR" pitchFamily="34" charset="-120"/>
                </a:rPr>
                <a:t>시스템 목표</a:t>
              </a:r>
              <a:endParaRPr lang="en-US" sz="1600" dirty="0">
                <a:latin typeface="+mj-ea"/>
                <a:ea typeface="+mj-ea"/>
              </a:endParaRPr>
            </a:p>
          </p:txBody>
        </p:sp>
        <p:sp>
          <p:nvSpPr>
            <p:cNvPr id="11" name="Shape 9"/>
            <p:cNvSpPr/>
            <p:nvPr/>
          </p:nvSpPr>
          <p:spPr>
            <a:xfrm>
              <a:off x="4284344" y="1670611"/>
              <a:ext cx="3520440" cy="0"/>
            </a:xfrm>
            <a:prstGeom prst="line">
              <a:avLst/>
            </a:prstGeom>
            <a:noFill/>
            <a:ln w="9525">
              <a:solidFill>
                <a:srgbClr val="BFBFBF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4341494" y="1881939"/>
              <a:ext cx="3520440" cy="1691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40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· </a:t>
              </a:r>
              <a:r>
                <a:rPr lang="ko-KR" altLang="en-US" sz="140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주문부터 배치</a:t>
              </a:r>
              <a:r>
                <a:rPr lang="en-US" altLang="ko-KR" sz="140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 · </a:t>
              </a:r>
              <a:r>
                <a:rPr lang="ko-KR" altLang="en-US" sz="140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복귀까지 물류 작업 전 과정 자동화</a:t>
              </a:r>
              <a:endParaRPr lang="en-US" altLang="ko-KR" sz="140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endParaRPr>
            </a:p>
            <a:p>
              <a:pPr>
                <a:lnSpc>
                  <a:spcPct val="120000"/>
                </a:lnSpc>
              </a:pPr>
              <a:r>
                <a:rPr lang="en-US" altLang="ko-KR" sz="140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· </a:t>
              </a:r>
              <a:r>
                <a:rPr lang="ko-KR" altLang="en-US" sz="140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모바일 </a:t>
              </a:r>
              <a:r>
                <a:rPr lang="en-US" altLang="ko-KR" sz="140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· </a:t>
              </a:r>
              <a:r>
                <a:rPr lang="ko-KR" altLang="en-US" sz="140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비전</a:t>
              </a:r>
              <a:r>
                <a:rPr lang="en-US" altLang="ko-KR" sz="140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 · </a:t>
              </a:r>
              <a:r>
                <a:rPr lang="ko-KR" altLang="en-US" sz="140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로봇팔의 통합 제어</a:t>
              </a:r>
              <a:endParaRPr lang="en-US" altLang="ko-KR" sz="140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endParaRPr>
            </a:p>
            <a:p>
              <a:pPr>
                <a:lnSpc>
                  <a:spcPct val="120000"/>
                </a:lnSpc>
              </a:pPr>
              <a:r>
                <a:rPr lang="en-US" altLang="ko-KR" sz="140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· </a:t>
              </a:r>
              <a:r>
                <a:rPr lang="ko-KR" altLang="en-US" sz="140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실제 하드웨어 제약을 고려한 안정적 작업 수행</a:t>
              </a:r>
              <a:endParaRPr lang="en-US" sz="1400" dirty="0">
                <a:latin typeface="+mj-ea"/>
                <a:ea typeface="+mj-ea"/>
              </a:endParaRPr>
            </a:p>
          </p:txBody>
        </p:sp>
      </p:grpSp>
      <p:grpSp>
        <p:nvGrpSpPr>
          <p:cNvPr id="19" name="그룹 18"/>
          <p:cNvGrpSpPr/>
          <p:nvPr/>
        </p:nvGrpSpPr>
        <p:grpSpPr>
          <a:xfrm>
            <a:off x="8056244" y="1187523"/>
            <a:ext cx="3693796" cy="2360349"/>
            <a:chOff x="8056244" y="1187523"/>
            <a:chExt cx="3693796" cy="2360349"/>
          </a:xfrm>
        </p:grpSpPr>
        <p:sp>
          <p:nvSpPr>
            <p:cNvPr id="21" name="모서리가 둥근 직사각형 20"/>
            <p:cNvSpPr/>
            <p:nvPr/>
          </p:nvSpPr>
          <p:spPr>
            <a:xfrm>
              <a:off x="8056244" y="1187523"/>
              <a:ext cx="3693796" cy="2298627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8183880" y="1315720"/>
              <a:ext cx="3429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61616"/>
                  </a:solidFill>
                  <a:latin typeface="+mj-ea"/>
                  <a:ea typeface="+mj-ea"/>
                  <a:cs typeface="Noto Sans CJK KR" pitchFamily="34" charset="-120"/>
                </a:rPr>
                <a:t>최종 산출물</a:t>
              </a:r>
              <a:endParaRPr lang="en-US" sz="1600" dirty="0">
                <a:latin typeface="+mj-ea"/>
                <a:ea typeface="+mj-ea"/>
              </a:endParaRPr>
            </a:p>
          </p:txBody>
        </p:sp>
        <p:sp>
          <p:nvSpPr>
            <p:cNvPr id="14" name="Shape 12"/>
            <p:cNvSpPr/>
            <p:nvPr/>
          </p:nvSpPr>
          <p:spPr>
            <a:xfrm>
              <a:off x="8183880" y="1644904"/>
              <a:ext cx="3429000" cy="0"/>
            </a:xfrm>
            <a:prstGeom prst="line">
              <a:avLst/>
            </a:prstGeom>
            <a:noFill/>
            <a:ln w="9525">
              <a:solidFill>
                <a:srgbClr val="BFBFBF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8241030" y="1856232"/>
              <a:ext cx="3429000" cy="1691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20000"/>
                </a:lnSpc>
                <a:buNone/>
              </a:pPr>
              <a:r>
                <a:rPr lang="en-US" sz="1400" dirty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· ROS2 </a:t>
              </a:r>
              <a:r>
                <a:rPr lang="en-US" sz="140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기반 </a:t>
              </a:r>
              <a:r>
                <a:rPr lang="ko-KR" altLang="en-US" sz="140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모바일 매니퓰레이터 물류 분류 시스템</a:t>
              </a:r>
              <a:endParaRPr lang="en-US" altLang="ko-KR" sz="140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endParaRPr>
            </a:p>
            <a:p>
              <a:pPr>
                <a:lnSpc>
                  <a:spcPct val="120000"/>
                </a:lnSpc>
              </a:pPr>
              <a:r>
                <a:rPr lang="en-US" altLang="ko-KR" sz="140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· </a:t>
              </a:r>
              <a:r>
                <a:rPr lang="ko-KR" altLang="en-US" sz="140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주행</a:t>
              </a:r>
              <a:r>
                <a:rPr lang="en-US" altLang="ko-KR" sz="140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 · </a:t>
              </a:r>
              <a:r>
                <a:rPr lang="ko-KR" altLang="en-US" sz="140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비전</a:t>
              </a:r>
              <a:r>
                <a:rPr lang="en-US" altLang="ko-KR" sz="140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 · </a:t>
              </a:r>
              <a:r>
                <a:rPr lang="ko-KR" altLang="en-US" sz="140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파지</a:t>
              </a:r>
              <a:r>
                <a:rPr lang="en-US" altLang="ko-KR" sz="140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 · </a:t>
              </a:r>
              <a:r>
                <a:rPr lang="ko-KR" altLang="en-US" sz="140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상태 관리 통합 제어 소프트웨어</a:t>
              </a:r>
              <a:endParaRPr lang="en-US" altLang="ko-KR" sz="140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endParaRPr>
            </a:p>
            <a:p>
              <a:pPr>
                <a:lnSpc>
                  <a:spcPct val="120000"/>
                </a:lnSpc>
              </a:pPr>
              <a:r>
                <a:rPr lang="en-US" altLang="ko-KR" sz="140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· rosbag ·</a:t>
              </a:r>
              <a:r>
                <a:rPr lang="ko-KR" altLang="en-US" sz="140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로그 기반 성능 검증 및 </a:t>
              </a:r>
              <a:r>
                <a:rPr lang="en-US" altLang="ko-KR" sz="140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KPI </a:t>
              </a:r>
              <a:r>
                <a:rPr lang="ko-KR" altLang="en-US" sz="140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분석 결과</a:t>
              </a:r>
              <a:r>
                <a:rPr lang="en-US" altLang="ko-KR" sz="140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 </a:t>
              </a:r>
              <a:endParaRPr lang="en-US" sz="1400" dirty="0">
                <a:latin typeface="+mj-ea"/>
                <a:ea typeface="+mj-ea"/>
              </a:endParaRPr>
            </a:p>
          </p:txBody>
        </p:sp>
      </p:grpSp>
      <p:sp>
        <p:nvSpPr>
          <p:cNvPr id="16" name="Text 14"/>
          <p:cNvSpPr/>
          <p:nvPr/>
        </p:nvSpPr>
        <p:spPr>
          <a:xfrm>
            <a:off x="502920" y="3612779"/>
            <a:ext cx="2621280" cy="376808"/>
          </a:xfrm>
          <a:prstGeom prst="rect">
            <a:avLst/>
          </a:prstGeom>
          <a:solidFill>
            <a:srgbClr val="161616"/>
          </a:solidFill>
          <a:ln>
            <a:solidFill>
              <a:srgbClr val="161616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altLang="ko-KR" sz="1600" b="1" smtClean="0">
                <a:latin typeface="+mj-ea"/>
                <a:ea typeface="+mj-ea"/>
              </a:rPr>
              <a:t>1</a:t>
            </a:r>
            <a:r>
              <a:rPr lang="ko-KR" altLang="en-US" sz="1600" b="1" smtClean="0">
                <a:latin typeface="+mj-ea"/>
                <a:ea typeface="+mj-ea"/>
              </a:rPr>
              <a:t>차 대비 기술 고도화 방향</a:t>
            </a:r>
            <a:endParaRPr lang="en-US" sz="1600" b="1" dirty="0">
              <a:latin typeface="+mj-ea"/>
              <a:ea typeface="+mj-ea"/>
            </a:endParaRPr>
          </a:p>
        </p:txBody>
      </p:sp>
      <p:graphicFrame>
        <p:nvGraphicFramePr>
          <p:cNvPr id="51" name="표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7524072"/>
              </p:ext>
            </p:extLst>
          </p:nvPr>
        </p:nvGraphicFramePr>
        <p:xfrm>
          <a:off x="538480" y="4212462"/>
          <a:ext cx="11155680" cy="2148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88920">
                  <a:extLst>
                    <a:ext uri="{9D8B030D-6E8A-4147-A177-3AD203B41FA5}">
                      <a16:colId xmlns:a16="http://schemas.microsoft.com/office/drawing/2014/main" val="619522335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1403133379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49536188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954102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en-US" altLang="ko-KR" sz="700" b="1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500" b="1" smtClean="0">
                          <a:solidFill>
                            <a:sysClr val="windowText" lastClr="000000"/>
                          </a:solidFill>
                        </a:rPr>
                        <a:t>구분</a:t>
                      </a:r>
                      <a:endParaRPr lang="ko-KR" altLang="en-US" sz="1500" b="1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700" b="1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500" b="1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r>
                        <a:rPr lang="ko-KR" altLang="en-US" sz="1500" b="1" smtClean="0">
                          <a:solidFill>
                            <a:sysClr val="windowText" lastClr="000000"/>
                          </a:solidFill>
                        </a:rPr>
                        <a:t>차 구현</a:t>
                      </a:r>
                      <a:endParaRPr lang="ko-KR" altLang="en-US" sz="1500" b="1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smtClean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r>
                        <a:rPr lang="ko-KR" altLang="en-US" sz="1500" b="1" smtClean="0">
                          <a:solidFill>
                            <a:sysClr val="windowText" lastClr="000000"/>
                          </a:solidFill>
                        </a:rPr>
                        <a:t>차 구현 목표</a:t>
                      </a:r>
                      <a:endParaRPr lang="en-US" altLang="ko-KR" sz="1500" b="1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500" b="1" smtClean="0">
                          <a:solidFill>
                            <a:sysClr val="windowText" lastClr="000000"/>
                          </a:solidFill>
                        </a:rPr>
                        <a:t>(</a:t>
                      </a:r>
                      <a:r>
                        <a:rPr lang="ko-KR" altLang="en-US" sz="1500" b="1" smtClean="0">
                          <a:solidFill>
                            <a:sysClr val="windowText" lastClr="000000"/>
                          </a:solidFill>
                        </a:rPr>
                        <a:t>변경</a:t>
                      </a:r>
                      <a:r>
                        <a:rPr lang="ko-KR" altLang="en-US" sz="1500" b="1" baseline="0" smtClean="0">
                          <a:solidFill>
                            <a:sysClr val="windowText" lastClr="000000"/>
                          </a:solidFill>
                        </a:rPr>
                        <a:t> 및 개선 사항</a:t>
                      </a:r>
                      <a:r>
                        <a:rPr lang="en-US" altLang="ko-KR" sz="1500" b="1" smtClean="0">
                          <a:solidFill>
                            <a:sysClr val="windowText" lastClr="000000"/>
                          </a:solidFill>
                        </a:rPr>
                        <a:t>)</a:t>
                      </a:r>
                      <a:endParaRPr lang="ko-KR" altLang="en-US" sz="1500" b="1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800" b="1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500" b="1" smtClean="0">
                          <a:solidFill>
                            <a:sysClr val="windowText" lastClr="000000"/>
                          </a:solidFill>
                        </a:rPr>
                        <a:t>근거</a:t>
                      </a:r>
                      <a:endParaRPr lang="ko-KR" altLang="en-US" sz="1500" b="1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80100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en-US" altLang="ko-KR" sz="400" b="1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500" b="1" smtClean="0">
                          <a:solidFill>
                            <a:sysClr val="windowText" lastClr="000000"/>
                          </a:solidFill>
                        </a:rPr>
                        <a:t>vision</a:t>
                      </a:r>
                      <a:endParaRPr lang="ko-KR" altLang="en-US" sz="1500" b="1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60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ko-KR" altLang="en-US" sz="1300" smtClean="0">
                          <a:solidFill>
                            <a:sysClr val="windowText" lastClr="000000"/>
                          </a:solidFill>
                        </a:rPr>
                        <a:t>고정 카메라 기반 단일 시점 인식</a:t>
                      </a:r>
                      <a:endParaRPr lang="ko-KR" altLang="en-US" sz="13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60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300" smtClean="0">
                          <a:solidFill>
                            <a:sysClr val="windowText" lastClr="000000"/>
                          </a:solidFill>
                        </a:rPr>
                        <a:t>Eye-in-hand</a:t>
                      </a:r>
                      <a:r>
                        <a:rPr lang="en-US" altLang="ko-KR" sz="1300" baseline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ko-KR" altLang="en-US" sz="1300" baseline="0" smtClean="0">
                          <a:solidFill>
                            <a:sysClr val="windowText" lastClr="000000"/>
                          </a:solidFill>
                        </a:rPr>
                        <a:t>기반 근접 인식</a:t>
                      </a:r>
                      <a:endParaRPr lang="ko-KR" altLang="en-US" sz="13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smtClean="0">
                          <a:solidFill>
                            <a:sysClr val="windowText" lastClr="000000"/>
                          </a:solidFill>
                        </a:rPr>
                        <a:t>작업 위치 변화 대응 및 관측 시점 유연성 확보</a:t>
                      </a:r>
                      <a:endParaRPr lang="ko-KR" altLang="en-US" sz="13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42240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smtClean="0">
                          <a:solidFill>
                            <a:sysClr val="windowText" lastClr="000000"/>
                          </a:solidFill>
                        </a:rPr>
                        <a:t>mobility</a:t>
                      </a:r>
                      <a:endParaRPr lang="ko-KR" altLang="en-US" sz="1500" b="1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smtClean="0">
                          <a:solidFill>
                            <a:sysClr val="windowText" lastClr="000000"/>
                          </a:solidFill>
                        </a:rPr>
                        <a:t>라인 추종 기반 고정 경로 주행</a:t>
                      </a:r>
                      <a:endParaRPr lang="ko-KR" altLang="en-US" sz="13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smtClean="0">
                          <a:solidFill>
                            <a:sysClr val="windowText" lastClr="000000"/>
                          </a:solidFill>
                        </a:rPr>
                        <a:t>지도 기반 위치추정 및 구간</a:t>
                      </a:r>
                      <a:r>
                        <a:rPr lang="en-US" altLang="ko-KR" sz="1300" baseline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ko-KR" altLang="en-US" sz="1300" baseline="0" smtClean="0">
                          <a:solidFill>
                            <a:sysClr val="windowText" lastClr="000000"/>
                          </a:solidFill>
                        </a:rPr>
                        <a:t>주행</a:t>
                      </a:r>
                      <a:endParaRPr lang="ko-KR" altLang="en-US" sz="13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1300" smtClean="0">
                          <a:solidFill>
                            <a:sysClr val="windowText" lastClr="000000"/>
                          </a:solidFill>
                        </a:rPr>
                        <a:t>물리적 라인 의존도 감소</a:t>
                      </a:r>
                      <a:endParaRPr lang="ko-KR" altLang="en-US" sz="13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89980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smtClean="0">
                          <a:solidFill>
                            <a:sysClr val="windowText" lastClr="000000"/>
                          </a:solidFill>
                        </a:rPr>
                        <a:t>WMS / Dashboard</a:t>
                      </a:r>
                      <a:endParaRPr lang="ko-KR" altLang="en-US" sz="1500" b="1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smtClean="0">
                          <a:solidFill>
                            <a:sysClr val="windowText" lastClr="000000"/>
                          </a:solidFill>
                        </a:rPr>
                        <a:t>실시간 모니터링 및 주문 입력</a:t>
                      </a:r>
                      <a:endParaRPr lang="ko-KR" altLang="en-US" sz="13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smtClean="0">
                          <a:solidFill>
                            <a:sysClr val="windowText" lastClr="000000"/>
                          </a:solidFill>
                        </a:rPr>
                        <a:t>비상 정지</a:t>
                      </a:r>
                      <a:r>
                        <a:rPr lang="en-US" altLang="ko-KR" sz="1300" smtClean="0">
                          <a:solidFill>
                            <a:srgbClr val="44444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· </a:t>
                      </a:r>
                      <a:r>
                        <a:rPr lang="ko-KR" altLang="en-US" sz="1300" smtClean="0">
                          <a:solidFill>
                            <a:srgbClr val="44444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오류 상태 </a:t>
                      </a:r>
                      <a:r>
                        <a:rPr lang="ko-KR" altLang="en-US" sz="1300" smtClean="0">
                          <a:solidFill>
                            <a:sysClr val="windowText" lastClr="000000"/>
                          </a:solidFill>
                        </a:rPr>
                        <a:t>대응</a:t>
                      </a:r>
                      <a:endParaRPr lang="ko-KR" altLang="en-US" sz="13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smtClean="0">
                          <a:solidFill>
                            <a:sysClr val="windowText" lastClr="000000"/>
                          </a:solidFill>
                        </a:rPr>
                        <a:t>운영 안정성 및 예외 대응 능력 확보</a:t>
                      </a:r>
                      <a:endParaRPr lang="ko-KR" altLang="en-US" sz="13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7356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smtClean="0">
                          <a:solidFill>
                            <a:sysClr val="windowText" lastClr="000000"/>
                          </a:solidFill>
                        </a:rPr>
                        <a:t>Robot Arm</a:t>
                      </a:r>
                      <a:endParaRPr lang="ko-KR" altLang="en-US" sz="1500" b="1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smtClean="0">
                          <a:solidFill>
                            <a:sysClr val="windowText" lastClr="000000"/>
                          </a:solidFill>
                        </a:rPr>
                        <a:t>단일</a:t>
                      </a:r>
                      <a:r>
                        <a:rPr lang="en-US" altLang="ko-KR" sz="1300" baseline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ko-KR" altLang="en-US" sz="1300" baseline="0" smtClean="0">
                          <a:solidFill>
                            <a:sysClr val="windowText" lastClr="000000"/>
                          </a:solidFill>
                        </a:rPr>
                        <a:t>층</a:t>
                      </a:r>
                      <a:r>
                        <a:rPr lang="ko-KR" altLang="en-US" sz="1300" smtClean="0">
                          <a:solidFill>
                            <a:sysClr val="windowText" lastClr="000000"/>
                          </a:solidFill>
                        </a:rPr>
                        <a:t> 물체 파지</a:t>
                      </a:r>
                      <a:endParaRPr lang="ko-KR" altLang="en-US" sz="13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smtClean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r>
                        <a:rPr lang="ko-KR" altLang="en-US" sz="1300" smtClean="0">
                          <a:solidFill>
                            <a:sysClr val="windowText" lastClr="000000"/>
                          </a:solidFill>
                        </a:rPr>
                        <a:t>개</a:t>
                      </a:r>
                      <a:r>
                        <a:rPr lang="ko-KR" altLang="en-US" sz="1300" baseline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ko-KR" altLang="en-US" sz="1300" smtClean="0">
                          <a:solidFill>
                            <a:sysClr val="windowText" lastClr="000000"/>
                          </a:solidFill>
                        </a:rPr>
                        <a:t>층에 대한 물체 파지</a:t>
                      </a:r>
                      <a:endParaRPr lang="ko-KR" altLang="en-US" sz="13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smtClean="0">
                          <a:solidFill>
                            <a:sysClr val="windowText" lastClr="000000"/>
                          </a:solidFill>
                        </a:rPr>
                        <a:t>다층 적재 환경 대응 범위 확대</a:t>
                      </a:r>
                      <a:endParaRPr lang="ko-KR" altLang="en-US" sz="13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7226167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6060"/>
                </a:solidFill>
                <a:latin typeface="+mj-ea"/>
                <a:ea typeface="+mj-ea"/>
              </a:rPr>
              <a:t>INTRODUCTION</a:t>
            </a:r>
            <a:endParaRPr lang="en-US" sz="1050" dirty="0">
              <a:latin typeface="+mj-ea"/>
              <a:ea typeface="+mj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559006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ko-KR" altLang="en-US" sz="2800" b="1" smtClean="0">
                <a:solidFill>
                  <a:srgbClr val="161616"/>
                </a:solidFill>
                <a:latin typeface="+mj-ea"/>
                <a:ea typeface="+mj-ea"/>
              </a:rPr>
              <a:t>핵심 가치 및 목표 </a:t>
            </a:r>
            <a:r>
              <a:rPr lang="en-US" altLang="ko-KR" sz="2800" b="1" smtClean="0">
                <a:solidFill>
                  <a:srgbClr val="161616"/>
                </a:solidFill>
                <a:latin typeface="+mj-ea"/>
                <a:ea typeface="+mj-ea"/>
              </a:rPr>
              <a:t>KPI</a:t>
            </a:r>
            <a:endParaRPr lang="en-US" sz="2800" dirty="0">
              <a:latin typeface="+mj-ea"/>
              <a:ea typeface="+mj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3" t="18983" r="49879" b="43345"/>
          <a:stretch/>
        </p:blipFill>
        <p:spPr>
          <a:xfrm>
            <a:off x="359838" y="1307047"/>
            <a:ext cx="5733144" cy="2583543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50" t="56740" r="3735" b="7282"/>
          <a:stretch/>
        </p:blipFill>
        <p:spPr>
          <a:xfrm>
            <a:off x="6066761" y="3905306"/>
            <a:ext cx="5631544" cy="246742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6" t="56798" r="50238" b="6589"/>
          <a:stretch/>
        </p:blipFill>
        <p:spPr>
          <a:xfrm>
            <a:off x="432286" y="3954599"/>
            <a:ext cx="5617029" cy="2510972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50" t="19360" r="4035" b="43391"/>
          <a:stretch/>
        </p:blipFill>
        <p:spPr>
          <a:xfrm>
            <a:off x="6027056" y="1335669"/>
            <a:ext cx="5631544" cy="2554515"/>
          </a:xfrm>
          <a:prstGeom prst="rect">
            <a:avLst/>
          </a:prstGeom>
        </p:spPr>
      </p:pic>
      <p:sp>
        <p:nvSpPr>
          <p:cNvPr id="15" name="Text 4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smtClean="0">
                <a:solidFill>
                  <a:srgbClr val="737373"/>
                </a:solidFill>
                <a:latin typeface="+mj-ea"/>
                <a:ea typeface="+mj-ea"/>
                <a:cs typeface="Noto Sans CJK KR" pitchFamily="34" charset="-120"/>
              </a:rPr>
              <a:t>03</a:t>
            </a:r>
            <a:endParaRPr lang="en-US" sz="95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006316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그룹 52"/>
          <p:cNvGrpSpPr/>
          <p:nvPr/>
        </p:nvGrpSpPr>
        <p:grpSpPr>
          <a:xfrm>
            <a:off x="2100939" y="1561088"/>
            <a:ext cx="8848277" cy="4990550"/>
            <a:chOff x="3067594" y="1340394"/>
            <a:chExt cx="8591006" cy="4845446"/>
          </a:xfrm>
        </p:grpSpPr>
        <p:pic>
          <p:nvPicPr>
            <p:cNvPr id="43" name="그림 4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67594" y="1340394"/>
              <a:ext cx="8591006" cy="4845446"/>
            </a:xfrm>
            <a:prstGeom prst="rect">
              <a:avLst/>
            </a:prstGeom>
          </p:spPr>
        </p:pic>
        <p:sp>
          <p:nvSpPr>
            <p:cNvPr id="50" name="직사각형 49"/>
            <p:cNvSpPr/>
            <p:nvPr/>
          </p:nvSpPr>
          <p:spPr>
            <a:xfrm>
              <a:off x="6299200" y="2202009"/>
              <a:ext cx="1225550" cy="661530"/>
            </a:xfrm>
            <a:prstGeom prst="rect">
              <a:avLst/>
            </a:prstGeom>
            <a:solidFill>
              <a:srgbClr val="F7F8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6664051" y="2508333"/>
              <a:ext cx="674636" cy="661530"/>
            </a:xfrm>
            <a:prstGeom prst="rect">
              <a:avLst/>
            </a:prstGeom>
            <a:solidFill>
              <a:srgbClr val="F7F8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 rot="20553224">
              <a:off x="6520131" y="2668009"/>
              <a:ext cx="674636" cy="661530"/>
            </a:xfrm>
            <a:prstGeom prst="rect">
              <a:avLst/>
            </a:prstGeom>
            <a:solidFill>
              <a:srgbClr val="F7F8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ea"/>
                <a:ea typeface="+mj-ea"/>
              </a:endParaRPr>
            </a:p>
          </p:txBody>
        </p:sp>
      </p:grpSp>
      <p:sp>
        <p:nvSpPr>
          <p:cNvPr id="4" name="직사각형 3"/>
          <p:cNvSpPr/>
          <p:nvPr/>
        </p:nvSpPr>
        <p:spPr>
          <a:xfrm>
            <a:off x="2088733" y="1566868"/>
            <a:ext cx="8848800" cy="4989600"/>
          </a:xfrm>
          <a:prstGeom prst="rect">
            <a:avLst/>
          </a:prstGeom>
          <a:solidFill>
            <a:schemeClr val="accent5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502920" y="256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6060"/>
                </a:solidFill>
                <a:latin typeface="+mj-ea"/>
                <a:ea typeface="+mj-ea"/>
              </a:rPr>
              <a:t>SYSTEM OVERVIEW</a:t>
            </a:r>
            <a:endParaRPr lang="en-US" sz="1050" dirty="0">
              <a:latin typeface="+mj-ea"/>
              <a:ea typeface="+mj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1616"/>
                </a:solidFill>
                <a:latin typeface="+mj-ea"/>
                <a:ea typeface="+mj-ea"/>
              </a:rPr>
              <a:t>최종 시나리오</a:t>
            </a:r>
            <a:endParaRPr lang="en-US" sz="2800" dirty="0">
              <a:latin typeface="+mj-ea"/>
              <a:ea typeface="+mj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37373"/>
                </a:solidFill>
                <a:latin typeface="+mj-ea"/>
                <a:ea typeface="+mj-ea"/>
                <a:cs typeface="Noto Sans CJK KR" pitchFamily="34" charset="-120"/>
              </a:rPr>
              <a:t>04</a:t>
            </a:r>
            <a:endParaRPr lang="en-US" sz="950" dirty="0">
              <a:latin typeface="+mj-ea"/>
              <a:ea typeface="+mj-ea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1197615"/>
            <a:ext cx="6545168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주문 입력부터 </a:t>
            </a:r>
            <a:r>
              <a:rPr lang="en-US" sz="1800" b="1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복귀까지 </a:t>
            </a:r>
            <a:r>
              <a:rPr lang="en-US" sz="1800" b="1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  <a:sym typeface="Wingdings" panose="05000000000000000000" pitchFamily="2" charset="2"/>
              </a:rPr>
              <a:t> </a:t>
            </a:r>
            <a:r>
              <a:rPr lang="en-US" sz="1800" b="1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단일 </a:t>
            </a:r>
            <a:r>
              <a:rPr lang="en-US" sz="1800" b="1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ROS2 mission flow</a:t>
            </a:r>
            <a:r>
              <a:rPr lang="en-US" sz="1800" b="1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로 </a:t>
            </a:r>
            <a:r>
              <a:rPr lang="en-US" sz="1800" b="1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연결</a:t>
            </a:r>
            <a:endParaRPr lang="en-US" sz="1800" dirty="0">
              <a:latin typeface="+mj-ea"/>
              <a:ea typeface="+mj-ea"/>
            </a:endParaRPr>
          </a:p>
        </p:txBody>
      </p:sp>
      <p:sp>
        <p:nvSpPr>
          <p:cNvPr id="63" name="자유형 62"/>
          <p:cNvSpPr/>
          <p:nvPr/>
        </p:nvSpPr>
        <p:spPr>
          <a:xfrm>
            <a:off x="939202" y="2236605"/>
            <a:ext cx="9350364" cy="4433647"/>
          </a:xfrm>
          <a:custGeom>
            <a:avLst/>
            <a:gdLst>
              <a:gd name="connsiteX0" fmla="*/ 5705542 w 9934642"/>
              <a:gd name="connsiteY0" fmla="*/ 344596 h 4990510"/>
              <a:gd name="connsiteX1" fmla="*/ 390592 w 9934642"/>
              <a:gd name="connsiteY1" fmla="*/ 458896 h 4990510"/>
              <a:gd name="connsiteX2" fmla="*/ 904942 w 9934642"/>
              <a:gd name="connsiteY2" fmla="*/ 4821346 h 4990510"/>
              <a:gd name="connsiteX3" fmla="*/ 4924492 w 9934642"/>
              <a:gd name="connsiteY3" fmla="*/ 4059346 h 4990510"/>
              <a:gd name="connsiteX4" fmla="*/ 9934642 w 9934642"/>
              <a:gd name="connsiteY4" fmla="*/ 3697396 h 4990510"/>
              <a:gd name="connsiteX0" fmla="*/ 5684037 w 9913137"/>
              <a:gd name="connsiteY0" fmla="*/ 344596 h 4827692"/>
              <a:gd name="connsiteX1" fmla="*/ 369087 w 9913137"/>
              <a:gd name="connsiteY1" fmla="*/ 458896 h 4827692"/>
              <a:gd name="connsiteX2" fmla="*/ 883437 w 9913137"/>
              <a:gd name="connsiteY2" fmla="*/ 4821346 h 4827692"/>
              <a:gd name="connsiteX3" fmla="*/ 4902987 w 9913137"/>
              <a:gd name="connsiteY3" fmla="*/ 4059346 h 4827692"/>
              <a:gd name="connsiteX4" fmla="*/ 9913137 w 9913137"/>
              <a:gd name="connsiteY4" fmla="*/ 3697396 h 4827692"/>
              <a:gd name="connsiteX0" fmla="*/ 5684037 w 9913137"/>
              <a:gd name="connsiteY0" fmla="*/ 344596 h 4827692"/>
              <a:gd name="connsiteX1" fmla="*/ 369087 w 9913137"/>
              <a:gd name="connsiteY1" fmla="*/ 458896 h 4827692"/>
              <a:gd name="connsiteX2" fmla="*/ 883437 w 9913137"/>
              <a:gd name="connsiteY2" fmla="*/ 4821346 h 4827692"/>
              <a:gd name="connsiteX3" fmla="*/ 4902987 w 9913137"/>
              <a:gd name="connsiteY3" fmla="*/ 4059346 h 4827692"/>
              <a:gd name="connsiteX4" fmla="*/ 9913137 w 9913137"/>
              <a:gd name="connsiteY4" fmla="*/ 3697396 h 4827692"/>
              <a:gd name="connsiteX0" fmla="*/ 5719641 w 9948741"/>
              <a:gd name="connsiteY0" fmla="*/ 344596 h 5028126"/>
              <a:gd name="connsiteX1" fmla="*/ 404691 w 9948741"/>
              <a:gd name="connsiteY1" fmla="*/ 458896 h 5028126"/>
              <a:gd name="connsiteX2" fmla="*/ 919041 w 9948741"/>
              <a:gd name="connsiteY2" fmla="*/ 4821346 h 5028126"/>
              <a:gd name="connsiteX3" fmla="*/ 5291944 w 9948741"/>
              <a:gd name="connsiteY3" fmla="*/ 4268905 h 5028126"/>
              <a:gd name="connsiteX4" fmla="*/ 9948741 w 9948741"/>
              <a:gd name="connsiteY4" fmla="*/ 3697396 h 5028126"/>
              <a:gd name="connsiteX0" fmla="*/ 5776880 w 10005980"/>
              <a:gd name="connsiteY0" fmla="*/ 344596 h 4877208"/>
              <a:gd name="connsiteX1" fmla="*/ 461930 w 10005980"/>
              <a:gd name="connsiteY1" fmla="*/ 458896 h 4877208"/>
              <a:gd name="connsiteX2" fmla="*/ 976280 w 10005980"/>
              <a:gd name="connsiteY2" fmla="*/ 4821346 h 4877208"/>
              <a:gd name="connsiteX3" fmla="*/ 5349183 w 10005980"/>
              <a:gd name="connsiteY3" fmla="*/ 4268905 h 4877208"/>
              <a:gd name="connsiteX4" fmla="*/ 10005980 w 10005980"/>
              <a:gd name="connsiteY4" fmla="*/ 3697396 h 487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5980" h="4877208">
                <a:moveTo>
                  <a:pt x="5776880" y="344596"/>
                </a:moveTo>
                <a:cubicBezTo>
                  <a:pt x="3519455" y="28683"/>
                  <a:pt x="1262030" y="-287229"/>
                  <a:pt x="461930" y="458896"/>
                </a:cubicBezTo>
                <a:cubicBezTo>
                  <a:pt x="-338170" y="1205021"/>
                  <a:pt x="-55709" y="4577521"/>
                  <a:pt x="976280" y="4821346"/>
                </a:cubicBezTo>
                <a:cubicBezTo>
                  <a:pt x="2008269" y="5065171"/>
                  <a:pt x="3925775" y="4442259"/>
                  <a:pt x="5349183" y="4268905"/>
                </a:cubicBezTo>
                <a:cubicBezTo>
                  <a:pt x="6772591" y="4095551"/>
                  <a:pt x="9028080" y="3748196"/>
                  <a:pt x="10005980" y="3697396"/>
                </a:cubicBezTo>
              </a:path>
            </a:pathLst>
          </a:cu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40" name="이등변 삼각형 39"/>
          <p:cNvSpPr/>
          <p:nvPr/>
        </p:nvSpPr>
        <p:spPr>
          <a:xfrm rot="16200000">
            <a:off x="4582393" y="2264667"/>
            <a:ext cx="254450" cy="174666"/>
          </a:xfrm>
          <a:prstGeom prst="triangle">
            <a:avLst/>
          </a:prstGeom>
          <a:solidFill>
            <a:srgbClr val="2F5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64" name="이등변 삼각형 63"/>
          <p:cNvSpPr/>
          <p:nvPr/>
        </p:nvSpPr>
        <p:spPr>
          <a:xfrm rot="14625688">
            <a:off x="1897749" y="2248182"/>
            <a:ext cx="254450" cy="174666"/>
          </a:xfrm>
          <a:prstGeom prst="triangle">
            <a:avLst/>
          </a:prstGeom>
          <a:solidFill>
            <a:srgbClr val="2F5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65" name="이등변 삼각형 64"/>
          <p:cNvSpPr/>
          <p:nvPr/>
        </p:nvSpPr>
        <p:spPr>
          <a:xfrm rot="11072487">
            <a:off x="824483" y="4134905"/>
            <a:ext cx="254450" cy="174666"/>
          </a:xfrm>
          <a:prstGeom prst="triangle">
            <a:avLst/>
          </a:prstGeom>
          <a:solidFill>
            <a:srgbClr val="2F5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66" name="이등변 삼각형 65"/>
          <p:cNvSpPr/>
          <p:nvPr/>
        </p:nvSpPr>
        <p:spPr>
          <a:xfrm rot="9483470">
            <a:off x="1135571" y="5880447"/>
            <a:ext cx="254450" cy="174666"/>
          </a:xfrm>
          <a:prstGeom prst="triangle">
            <a:avLst/>
          </a:prstGeom>
          <a:solidFill>
            <a:srgbClr val="2F5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67" name="이등변 삼각형 66"/>
          <p:cNvSpPr/>
          <p:nvPr/>
        </p:nvSpPr>
        <p:spPr>
          <a:xfrm rot="4518165">
            <a:off x="3813620" y="6389205"/>
            <a:ext cx="254450" cy="174666"/>
          </a:xfrm>
          <a:prstGeom prst="triangle">
            <a:avLst/>
          </a:prstGeom>
          <a:solidFill>
            <a:srgbClr val="2F5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68" name="이등변 삼각형 67"/>
          <p:cNvSpPr/>
          <p:nvPr/>
        </p:nvSpPr>
        <p:spPr>
          <a:xfrm rot="5029121">
            <a:off x="7180264" y="5857335"/>
            <a:ext cx="254450" cy="174666"/>
          </a:xfrm>
          <a:prstGeom prst="triangle">
            <a:avLst/>
          </a:prstGeom>
          <a:solidFill>
            <a:srgbClr val="2F5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69" name="이등변 삼각형 68"/>
          <p:cNvSpPr/>
          <p:nvPr/>
        </p:nvSpPr>
        <p:spPr>
          <a:xfrm rot="5029121">
            <a:off x="9795900" y="5546575"/>
            <a:ext cx="254450" cy="174666"/>
          </a:xfrm>
          <a:prstGeom prst="triangle">
            <a:avLst/>
          </a:prstGeom>
          <a:solidFill>
            <a:srgbClr val="2F5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70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grpSp>
        <p:nvGrpSpPr>
          <p:cNvPr id="46" name="그룹 45"/>
          <p:cNvGrpSpPr/>
          <p:nvPr/>
        </p:nvGrpSpPr>
        <p:grpSpPr>
          <a:xfrm>
            <a:off x="300622" y="2802076"/>
            <a:ext cx="1912433" cy="1043145"/>
            <a:chOff x="1452014" y="-3172967"/>
            <a:chExt cx="1980000" cy="1080000"/>
          </a:xfrm>
        </p:grpSpPr>
        <p:sp>
          <p:nvSpPr>
            <p:cNvPr id="16" name="Shape 14"/>
            <p:cNvSpPr/>
            <p:nvPr/>
          </p:nvSpPr>
          <p:spPr>
            <a:xfrm>
              <a:off x="1452014" y="-3172967"/>
              <a:ext cx="1980000" cy="10800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BFBFBF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1589174" y="-3054095"/>
              <a:ext cx="4114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606060"/>
                  </a:solidFill>
                  <a:latin typeface="+mj-ea"/>
                  <a:ea typeface="+mj-ea"/>
                  <a:cs typeface="Noto Sans CJK KR" pitchFamily="34" charset="-120"/>
                </a:rPr>
                <a:t>03</a:t>
              </a:r>
              <a:endParaRPr lang="en-US" sz="1200" dirty="0">
                <a:latin typeface="+mj-ea"/>
                <a:ea typeface="+mj-ea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1854026" y="-3063239"/>
              <a:ext cx="1330776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650" b="1" smtClean="0">
                  <a:solidFill>
                    <a:srgbClr val="161616"/>
                  </a:solidFill>
                  <a:latin typeface="+mj-ea"/>
                  <a:ea typeface="+mj-ea"/>
                  <a:cs typeface="Noto Sans CJK KR" pitchFamily="34" charset="-120"/>
                </a:rPr>
                <a:t>Align to rack</a:t>
              </a:r>
              <a:endParaRPr lang="en-US" sz="1650" dirty="0">
                <a:latin typeface="+mj-ea"/>
                <a:ea typeface="+mj-ea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1589174" y="-2670047"/>
              <a:ext cx="1716001" cy="50292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5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1</a:t>
              </a:r>
              <a:r>
                <a:rPr lang="ko-KR" altLang="en-US" sz="125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차 정렬</a:t>
              </a:r>
              <a:r>
                <a:rPr lang="en-US" altLang="ko-KR" sz="125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: /aruco_align</a:t>
              </a:r>
            </a:p>
            <a:p>
              <a:pPr marL="0" indent="0" algn="l">
                <a:buNone/>
              </a:pPr>
              <a:r>
                <a:rPr lang="en-US" sz="1250" smtClean="0">
                  <a:solidFill>
                    <a:srgbClr val="444444"/>
                  </a:solidFill>
                  <a:latin typeface="+mj-ea"/>
                  <a:ea typeface="+mj-ea"/>
                </a:rPr>
                <a:t>2</a:t>
              </a:r>
              <a:r>
                <a:rPr lang="ko-KR" altLang="en-US" sz="1250" smtClean="0">
                  <a:solidFill>
                    <a:srgbClr val="444444"/>
                  </a:solidFill>
                  <a:latin typeface="+mj-ea"/>
                  <a:ea typeface="+mj-ea"/>
                </a:rPr>
                <a:t>차 정렬</a:t>
              </a:r>
              <a:r>
                <a:rPr lang="en-US" altLang="ko-KR" sz="1250" smtClean="0">
                  <a:solidFill>
                    <a:srgbClr val="444444"/>
                  </a:solidFill>
                  <a:latin typeface="+mj-ea"/>
                  <a:ea typeface="+mj-ea"/>
                </a:rPr>
                <a:t>: /agv_align</a:t>
              </a:r>
              <a:endParaRPr lang="en-US" sz="1250" smtClean="0">
                <a:latin typeface="+mj-ea"/>
                <a:ea typeface="+mj-ea"/>
              </a:endParaRPr>
            </a:p>
          </p:txBody>
        </p:sp>
      </p:grpSp>
      <p:grpSp>
        <p:nvGrpSpPr>
          <p:cNvPr id="47" name="그룹 46"/>
          <p:cNvGrpSpPr/>
          <p:nvPr/>
        </p:nvGrpSpPr>
        <p:grpSpPr>
          <a:xfrm>
            <a:off x="207649" y="4552622"/>
            <a:ext cx="2526909" cy="971518"/>
            <a:chOff x="4268367" y="-3172969"/>
            <a:chExt cx="2616185" cy="1005842"/>
          </a:xfrm>
        </p:grpSpPr>
        <p:sp>
          <p:nvSpPr>
            <p:cNvPr id="20" name="Shape 18"/>
            <p:cNvSpPr/>
            <p:nvPr/>
          </p:nvSpPr>
          <p:spPr>
            <a:xfrm>
              <a:off x="4268367" y="-3172969"/>
              <a:ext cx="2025120" cy="995279"/>
            </a:xfrm>
            <a:prstGeom prst="rect">
              <a:avLst/>
            </a:prstGeom>
            <a:solidFill>
              <a:srgbClr val="EEEEEE"/>
            </a:solidFill>
            <a:ln w="10160">
              <a:solidFill>
                <a:srgbClr val="BFBFBF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4405526" y="-3054095"/>
              <a:ext cx="4114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606060"/>
                  </a:solidFill>
                  <a:latin typeface="+mj-ea"/>
                  <a:ea typeface="+mj-ea"/>
                  <a:cs typeface="Noto Sans CJK KR" pitchFamily="34" charset="-120"/>
                </a:rPr>
                <a:t>04</a:t>
              </a:r>
              <a:endParaRPr lang="en-US" sz="1200" dirty="0">
                <a:latin typeface="+mj-ea"/>
                <a:ea typeface="+mj-ea"/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4744314" y="-3054096"/>
              <a:ext cx="17373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650" b="1" smtClean="0">
                  <a:solidFill>
                    <a:srgbClr val="161616"/>
                  </a:solidFill>
                  <a:latin typeface="+mj-ea"/>
                  <a:ea typeface="+mj-ea"/>
                  <a:cs typeface="Noto Sans CJK KR" pitchFamily="34" charset="-120"/>
                </a:rPr>
                <a:t>vision</a:t>
              </a:r>
              <a:endParaRPr lang="en-US" sz="1650" dirty="0">
                <a:latin typeface="+mj-ea"/>
                <a:ea typeface="+mj-ea"/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4362721" y="-2670047"/>
              <a:ext cx="2521831" cy="50292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r>
                <a:rPr lang="en-US" sz="120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YOLO+depth </a:t>
              </a:r>
              <a:r>
                <a:rPr lang="en-US" altLang="ko-KR" sz="120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→</a:t>
              </a:r>
              <a:r>
                <a:rPr lang="en-US" altLang="ko-KR" sz="1200" dirty="0">
                  <a:latin typeface="+mj-ea"/>
                  <a:ea typeface="+mj-ea"/>
                </a:rPr>
                <a:t> </a:t>
              </a:r>
              <a:r>
                <a:rPr lang="en-US" sz="120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/</a:t>
              </a:r>
              <a:r>
                <a:rPr lang="en-US" sz="1200" dirty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box_pose</a:t>
              </a:r>
              <a:endParaRPr lang="en-US" sz="1200" dirty="0">
                <a:latin typeface="+mj-ea"/>
                <a:ea typeface="+mj-ea"/>
              </a:endParaRPr>
            </a:p>
          </p:txBody>
        </p:sp>
      </p:grpSp>
      <p:grpSp>
        <p:nvGrpSpPr>
          <p:cNvPr id="48" name="그룹 47"/>
          <p:cNvGrpSpPr/>
          <p:nvPr/>
        </p:nvGrpSpPr>
        <p:grpSpPr>
          <a:xfrm>
            <a:off x="1730109" y="5922249"/>
            <a:ext cx="1720536" cy="894883"/>
            <a:chOff x="-4180690" y="-1389887"/>
            <a:chExt cx="1781324" cy="926500"/>
          </a:xfrm>
        </p:grpSpPr>
        <p:sp>
          <p:nvSpPr>
            <p:cNvPr id="24" name="Shape 22"/>
            <p:cNvSpPr/>
            <p:nvPr/>
          </p:nvSpPr>
          <p:spPr>
            <a:xfrm>
              <a:off x="-4180690" y="-1389887"/>
              <a:ext cx="1781324" cy="9265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25" name="Text 23"/>
            <p:cNvSpPr/>
            <p:nvPr/>
          </p:nvSpPr>
          <p:spPr>
            <a:xfrm>
              <a:off x="-4043530" y="-1271015"/>
              <a:ext cx="4114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606060"/>
                  </a:solidFill>
                  <a:latin typeface="+mj-ea"/>
                  <a:ea typeface="+mj-ea"/>
                  <a:cs typeface="Noto Sans CJK KR" pitchFamily="34" charset="-120"/>
                </a:rPr>
                <a:t>05</a:t>
              </a:r>
              <a:endParaRPr lang="en-US" sz="1200" dirty="0">
                <a:latin typeface="+mj-ea"/>
                <a:ea typeface="+mj-ea"/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-3694175" y="-1280158"/>
              <a:ext cx="989189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650" b="1" dirty="0">
                  <a:solidFill>
                    <a:srgbClr val="161616"/>
                  </a:solidFill>
                  <a:latin typeface="+mj-ea"/>
                  <a:ea typeface="+mj-ea"/>
                  <a:cs typeface="Noto Sans CJK KR" pitchFamily="34" charset="-120"/>
                </a:rPr>
                <a:t>Pick</a:t>
              </a:r>
              <a:endParaRPr lang="en-US" sz="1650" dirty="0">
                <a:latin typeface="+mj-ea"/>
                <a:ea typeface="+mj-ea"/>
              </a:endParaRPr>
            </a:p>
          </p:txBody>
        </p:sp>
        <p:sp>
          <p:nvSpPr>
            <p:cNvPr id="27" name="Text 25"/>
            <p:cNvSpPr/>
            <p:nvPr/>
          </p:nvSpPr>
          <p:spPr>
            <a:xfrm>
              <a:off x="-4043529" y="-886967"/>
              <a:ext cx="1110104" cy="278329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5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/</a:t>
              </a:r>
              <a:r>
                <a:rPr lang="en-US" sz="1250" dirty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pick_status</a:t>
              </a:r>
              <a:endParaRPr lang="en-US" sz="1250" dirty="0">
                <a:latin typeface="+mj-ea"/>
                <a:ea typeface="+mj-ea"/>
              </a:endParaRPr>
            </a:p>
          </p:txBody>
        </p:sp>
      </p:grpSp>
      <p:grpSp>
        <p:nvGrpSpPr>
          <p:cNvPr id="45" name="그룹 44"/>
          <p:cNvGrpSpPr/>
          <p:nvPr/>
        </p:nvGrpSpPr>
        <p:grpSpPr>
          <a:xfrm>
            <a:off x="5090760" y="1641357"/>
            <a:ext cx="1980000" cy="1080000"/>
            <a:chOff x="170035" y="1221509"/>
            <a:chExt cx="1980000" cy="1080000"/>
          </a:xfrm>
        </p:grpSpPr>
        <p:sp>
          <p:nvSpPr>
            <p:cNvPr id="8" name="Shape 6"/>
            <p:cNvSpPr/>
            <p:nvPr/>
          </p:nvSpPr>
          <p:spPr>
            <a:xfrm>
              <a:off x="170035" y="1221509"/>
              <a:ext cx="1980000" cy="10800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BFBFBF"/>
              </a:solidFill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307195" y="1340382"/>
              <a:ext cx="4114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606060"/>
                  </a:solidFill>
                  <a:latin typeface="+mj-ea"/>
                  <a:ea typeface="+mj-ea"/>
                  <a:cs typeface="Noto Sans CJK KR" pitchFamily="34" charset="-120"/>
                </a:rPr>
                <a:t>01</a:t>
              </a:r>
              <a:endParaRPr lang="en-US" sz="1200" dirty="0">
                <a:latin typeface="+mj-ea"/>
                <a:ea typeface="+mj-ea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572371" y="1312950"/>
              <a:ext cx="1210645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650" b="1" smtClean="0">
                  <a:solidFill>
                    <a:srgbClr val="161616"/>
                  </a:solidFill>
                  <a:latin typeface="+mj-ea"/>
                  <a:ea typeface="+mj-ea"/>
                </a:rPr>
                <a:t>INPUT</a:t>
              </a:r>
              <a:endParaRPr lang="en-US" sz="1650" dirty="0">
                <a:latin typeface="+mj-ea"/>
                <a:ea typeface="+mj-ea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307195" y="1724430"/>
              <a:ext cx="1715966" cy="50292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50" dirty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/order_request</a:t>
              </a:r>
              <a:endParaRPr lang="en-US" sz="1250" dirty="0">
                <a:latin typeface="+mj-ea"/>
                <a:ea typeface="+mj-ea"/>
              </a:endParaRPr>
            </a:p>
            <a:p>
              <a:pPr marL="0" indent="0" algn="l">
                <a:buNone/>
              </a:pPr>
              <a:r>
                <a:rPr lang="en-US" sz="1250" dirty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물품·목적지·선반 정보</a:t>
              </a:r>
              <a:endParaRPr lang="en-US" sz="1250" dirty="0">
                <a:latin typeface="+mj-ea"/>
                <a:ea typeface="+mj-ea"/>
              </a:endParaRPr>
            </a:p>
          </p:txBody>
        </p:sp>
      </p:grpSp>
      <p:grpSp>
        <p:nvGrpSpPr>
          <p:cNvPr id="44" name="그룹 43"/>
          <p:cNvGrpSpPr/>
          <p:nvPr/>
        </p:nvGrpSpPr>
        <p:grpSpPr>
          <a:xfrm>
            <a:off x="2443574" y="1623639"/>
            <a:ext cx="2020777" cy="1080000"/>
            <a:chOff x="180998" y="2498484"/>
            <a:chExt cx="2020777" cy="1080000"/>
          </a:xfrm>
        </p:grpSpPr>
        <p:sp>
          <p:nvSpPr>
            <p:cNvPr id="12" name="Shape 10"/>
            <p:cNvSpPr/>
            <p:nvPr/>
          </p:nvSpPr>
          <p:spPr>
            <a:xfrm>
              <a:off x="180998" y="2498484"/>
              <a:ext cx="1980000" cy="1080000"/>
            </a:xfrm>
            <a:prstGeom prst="rect">
              <a:avLst/>
            </a:prstGeom>
            <a:solidFill>
              <a:srgbClr val="EEEEEE"/>
            </a:solidFill>
            <a:ln w="10160">
              <a:solidFill>
                <a:srgbClr val="BFBFBF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318158" y="2617356"/>
              <a:ext cx="4114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606060"/>
                  </a:solidFill>
                  <a:latin typeface="+mj-ea"/>
                  <a:ea typeface="+mj-ea"/>
                  <a:cs typeface="Noto Sans CJK KR" pitchFamily="34" charset="-120"/>
                </a:rPr>
                <a:t>02</a:t>
              </a:r>
              <a:endParaRPr lang="en-US" sz="1200" dirty="0">
                <a:latin typeface="+mj-ea"/>
                <a:ea typeface="+mj-ea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587946" y="2608580"/>
              <a:ext cx="1441369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650" b="1" dirty="0">
                  <a:solidFill>
                    <a:srgbClr val="161616"/>
                  </a:solidFill>
                  <a:latin typeface="+mj-ea"/>
                  <a:ea typeface="+mj-ea"/>
                  <a:cs typeface="Noto Sans CJK KR" pitchFamily="34" charset="-120"/>
                </a:rPr>
                <a:t>AGV → Rack</a:t>
              </a:r>
              <a:endParaRPr lang="en-US" sz="1650" dirty="0">
                <a:latin typeface="+mj-ea"/>
                <a:ea typeface="+mj-ea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318158" y="3001404"/>
              <a:ext cx="1883617" cy="50292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50" dirty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Nav2 / primitive route</a:t>
              </a:r>
              <a:endParaRPr lang="en-US" sz="1250" dirty="0">
                <a:latin typeface="+mj-ea"/>
                <a:ea typeface="+mj-ea"/>
              </a:endParaRPr>
            </a:p>
            <a:p>
              <a:pPr marL="0" indent="0" algn="l">
                <a:buNone/>
              </a:pPr>
              <a:r>
                <a:rPr lang="en-US" sz="1250" dirty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/primitive_route_cmd</a:t>
              </a:r>
              <a:endParaRPr lang="en-US" sz="1250" dirty="0">
                <a:latin typeface="+mj-ea"/>
                <a:ea typeface="+mj-ea"/>
              </a:endParaRPr>
            </a:p>
          </p:txBody>
        </p:sp>
      </p:grpSp>
      <p:grpSp>
        <p:nvGrpSpPr>
          <p:cNvPr id="57" name="그룹 56"/>
          <p:cNvGrpSpPr/>
          <p:nvPr/>
        </p:nvGrpSpPr>
        <p:grpSpPr>
          <a:xfrm>
            <a:off x="7981369" y="5210497"/>
            <a:ext cx="1769016" cy="1080000"/>
            <a:chOff x="1452014" y="-1389887"/>
            <a:chExt cx="1769016" cy="1080000"/>
          </a:xfrm>
        </p:grpSpPr>
        <p:sp>
          <p:nvSpPr>
            <p:cNvPr id="32" name="Shape 30"/>
            <p:cNvSpPr/>
            <p:nvPr/>
          </p:nvSpPr>
          <p:spPr>
            <a:xfrm>
              <a:off x="1452014" y="-1389887"/>
              <a:ext cx="1769016" cy="10800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BFBFBF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1589174" y="-1271015"/>
              <a:ext cx="4114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606060"/>
                  </a:solidFill>
                  <a:latin typeface="+mj-ea"/>
                  <a:ea typeface="+mj-ea"/>
                  <a:cs typeface="Noto Sans CJK KR" pitchFamily="34" charset="-120"/>
                </a:rPr>
                <a:t>07</a:t>
              </a:r>
              <a:endParaRPr lang="en-US" sz="1200" dirty="0">
                <a:latin typeface="+mj-ea"/>
                <a:ea typeface="+mj-ea"/>
              </a:endParaRPr>
            </a:p>
          </p:txBody>
        </p:sp>
        <p:sp>
          <p:nvSpPr>
            <p:cNvPr id="34" name="Text 32"/>
            <p:cNvSpPr/>
            <p:nvPr/>
          </p:nvSpPr>
          <p:spPr>
            <a:xfrm>
              <a:off x="1883651" y="-1290095"/>
              <a:ext cx="995519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650" b="1" smtClean="0">
                  <a:solidFill>
                    <a:srgbClr val="161616"/>
                  </a:solidFill>
                  <a:latin typeface="+mj-ea"/>
                  <a:ea typeface="+mj-ea"/>
                  <a:cs typeface="Noto Sans CJK KR" pitchFamily="34" charset="-120"/>
                </a:rPr>
                <a:t>Place</a:t>
              </a:r>
              <a:endParaRPr lang="en-US" sz="1650" dirty="0">
                <a:latin typeface="+mj-ea"/>
                <a:ea typeface="+mj-ea"/>
              </a:endParaRPr>
            </a:p>
          </p:txBody>
        </p:sp>
        <p:sp>
          <p:nvSpPr>
            <p:cNvPr id="35" name="Text 33"/>
            <p:cNvSpPr/>
            <p:nvPr/>
          </p:nvSpPr>
          <p:spPr>
            <a:xfrm>
              <a:off x="1589174" y="-886967"/>
              <a:ext cx="1478420" cy="50292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50" dirty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QR/ArUco verify</a:t>
              </a:r>
              <a:endParaRPr lang="en-US" sz="1250" dirty="0">
                <a:latin typeface="+mj-ea"/>
                <a:ea typeface="+mj-ea"/>
              </a:endParaRPr>
            </a:p>
            <a:p>
              <a:pPr marL="0" indent="0" algn="l">
                <a:buNone/>
              </a:pPr>
              <a:r>
                <a:rPr lang="en-US" sz="1250" dirty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/place_command</a:t>
              </a:r>
              <a:endParaRPr lang="en-US" sz="1250" dirty="0">
                <a:latin typeface="+mj-ea"/>
                <a:ea typeface="+mj-ea"/>
              </a:endParaRPr>
            </a:p>
          </p:txBody>
        </p:sp>
      </p:grpSp>
      <p:grpSp>
        <p:nvGrpSpPr>
          <p:cNvPr id="58" name="그룹 57"/>
          <p:cNvGrpSpPr/>
          <p:nvPr/>
        </p:nvGrpSpPr>
        <p:grpSpPr>
          <a:xfrm>
            <a:off x="10184441" y="4807369"/>
            <a:ext cx="1565599" cy="1080000"/>
            <a:chOff x="4268366" y="-1389887"/>
            <a:chExt cx="1565599" cy="1080000"/>
          </a:xfrm>
        </p:grpSpPr>
        <p:sp>
          <p:nvSpPr>
            <p:cNvPr id="36" name="Shape 34"/>
            <p:cNvSpPr/>
            <p:nvPr/>
          </p:nvSpPr>
          <p:spPr>
            <a:xfrm>
              <a:off x="4268366" y="-1389887"/>
              <a:ext cx="1565599" cy="1080000"/>
            </a:xfrm>
            <a:prstGeom prst="rect">
              <a:avLst/>
            </a:prstGeom>
            <a:solidFill>
              <a:srgbClr val="EEEEEE"/>
            </a:solidFill>
            <a:ln w="10160">
              <a:solidFill>
                <a:srgbClr val="BFBFBF"/>
              </a:solidFill>
              <a:prstDash val="solid"/>
            </a:ln>
          </p:spPr>
        </p:sp>
        <p:sp>
          <p:nvSpPr>
            <p:cNvPr id="37" name="Text 35"/>
            <p:cNvSpPr/>
            <p:nvPr/>
          </p:nvSpPr>
          <p:spPr>
            <a:xfrm>
              <a:off x="4405526" y="-1271015"/>
              <a:ext cx="4114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606060"/>
                  </a:solidFill>
                  <a:latin typeface="+mj-ea"/>
                  <a:ea typeface="+mj-ea"/>
                  <a:cs typeface="Noto Sans CJK KR" pitchFamily="34" charset="-120"/>
                </a:rPr>
                <a:t>08</a:t>
              </a:r>
              <a:endParaRPr lang="en-US" sz="1200" dirty="0">
                <a:latin typeface="+mj-ea"/>
                <a:ea typeface="+mj-ea"/>
              </a:endParaRPr>
            </a:p>
          </p:txBody>
        </p:sp>
        <p:sp>
          <p:nvSpPr>
            <p:cNvPr id="38" name="Text 36"/>
            <p:cNvSpPr/>
            <p:nvPr/>
          </p:nvSpPr>
          <p:spPr>
            <a:xfrm>
              <a:off x="4716574" y="-1280159"/>
              <a:ext cx="868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650" b="1" dirty="0">
                  <a:solidFill>
                    <a:srgbClr val="161616"/>
                  </a:solidFill>
                  <a:latin typeface="+mj-ea"/>
                  <a:ea typeface="+mj-ea"/>
                  <a:cs typeface="Noto Sans CJK KR" pitchFamily="34" charset="-120"/>
                </a:rPr>
                <a:t>Return</a:t>
              </a:r>
              <a:endParaRPr lang="en-US" sz="1650" dirty="0">
                <a:latin typeface="+mj-ea"/>
                <a:ea typeface="+mj-ea"/>
              </a:endParaRPr>
            </a:p>
          </p:txBody>
        </p:sp>
        <p:sp>
          <p:nvSpPr>
            <p:cNvPr id="39" name="Text 37"/>
            <p:cNvSpPr/>
            <p:nvPr/>
          </p:nvSpPr>
          <p:spPr>
            <a:xfrm>
              <a:off x="4405526" y="-886967"/>
              <a:ext cx="1164572" cy="50292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50" dirty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parking route</a:t>
              </a:r>
              <a:endParaRPr lang="en-US" sz="1250" dirty="0">
                <a:latin typeface="+mj-ea"/>
                <a:ea typeface="+mj-ea"/>
              </a:endParaRPr>
            </a:p>
            <a:p>
              <a:pPr marL="0" indent="0" algn="l">
                <a:buNone/>
              </a:pPr>
              <a:r>
                <a:rPr lang="en-US" sz="1250" dirty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/wms_update</a:t>
              </a:r>
              <a:endParaRPr lang="en-US" sz="1250" dirty="0">
                <a:latin typeface="+mj-ea"/>
                <a:ea typeface="+mj-ea"/>
              </a:endParaRPr>
            </a:p>
          </p:txBody>
        </p:sp>
      </p:grpSp>
      <p:grpSp>
        <p:nvGrpSpPr>
          <p:cNvPr id="54" name="그룹 53"/>
          <p:cNvGrpSpPr/>
          <p:nvPr/>
        </p:nvGrpSpPr>
        <p:grpSpPr>
          <a:xfrm>
            <a:off x="4804491" y="5864000"/>
            <a:ext cx="2377440" cy="943144"/>
            <a:chOff x="-1364338" y="-1389887"/>
            <a:chExt cx="2377440" cy="943144"/>
          </a:xfrm>
        </p:grpSpPr>
        <p:sp>
          <p:nvSpPr>
            <p:cNvPr id="28" name="Shape 26"/>
            <p:cNvSpPr/>
            <p:nvPr/>
          </p:nvSpPr>
          <p:spPr>
            <a:xfrm>
              <a:off x="-1364338" y="-1389887"/>
              <a:ext cx="2064668" cy="943144"/>
            </a:xfrm>
            <a:prstGeom prst="rect">
              <a:avLst/>
            </a:prstGeom>
            <a:solidFill>
              <a:srgbClr val="EEEEEE"/>
            </a:solidFill>
            <a:ln w="10160">
              <a:solidFill>
                <a:srgbClr val="BFBFBF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-1272003" y="-1271015"/>
              <a:ext cx="4114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606060"/>
                  </a:solidFill>
                  <a:latin typeface="+mj-ea"/>
                  <a:ea typeface="+mj-ea"/>
                  <a:cs typeface="Noto Sans CJK KR" pitchFamily="34" charset="-120"/>
                </a:rPr>
                <a:t>06</a:t>
              </a:r>
              <a:endParaRPr lang="en-US" sz="1200" dirty="0">
                <a:latin typeface="+mj-ea"/>
                <a:ea typeface="+mj-ea"/>
              </a:endParaRPr>
            </a:p>
          </p:txBody>
        </p:sp>
        <p:sp>
          <p:nvSpPr>
            <p:cNvPr id="30" name="Text 28"/>
            <p:cNvSpPr/>
            <p:nvPr/>
          </p:nvSpPr>
          <p:spPr>
            <a:xfrm>
              <a:off x="-1037030" y="-1246904"/>
              <a:ext cx="17373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85000" lnSpcReduction="10000"/>
            </a:bodyPr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61616"/>
                  </a:solidFill>
                  <a:latin typeface="+mj-ea"/>
                  <a:ea typeface="+mj-ea"/>
                  <a:cs typeface="Noto Sans CJK KR" pitchFamily="34" charset="-120"/>
                </a:rPr>
                <a:t>AGV </a:t>
              </a:r>
              <a:r>
                <a:rPr lang="en-US" sz="1600" b="1">
                  <a:solidFill>
                    <a:srgbClr val="161616"/>
                  </a:solidFill>
                  <a:latin typeface="+mj-ea"/>
                  <a:ea typeface="+mj-ea"/>
                  <a:cs typeface="Noto Sans CJK KR" pitchFamily="34" charset="-120"/>
                </a:rPr>
                <a:t>→ </a:t>
              </a:r>
              <a:r>
                <a:rPr lang="en-US" sz="1600" b="1" smtClean="0">
                  <a:solidFill>
                    <a:srgbClr val="161616"/>
                  </a:solidFill>
                  <a:latin typeface="+mj-ea"/>
                  <a:ea typeface="+mj-ea"/>
                  <a:cs typeface="Noto Sans CJK KR" pitchFamily="34" charset="-120"/>
                </a:rPr>
                <a:t>Destination</a:t>
              </a:r>
              <a:endParaRPr lang="en-US" sz="1600" dirty="0">
                <a:latin typeface="+mj-ea"/>
                <a:ea typeface="+mj-ea"/>
              </a:endParaRPr>
            </a:p>
          </p:txBody>
        </p:sp>
        <p:sp>
          <p:nvSpPr>
            <p:cNvPr id="31" name="Text 29"/>
            <p:cNvSpPr/>
            <p:nvPr/>
          </p:nvSpPr>
          <p:spPr>
            <a:xfrm>
              <a:off x="-1227178" y="-994937"/>
              <a:ext cx="2240280" cy="50292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50" dirty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route runner</a:t>
              </a:r>
              <a:endParaRPr lang="en-US" sz="1250" dirty="0">
                <a:latin typeface="+mj-ea"/>
                <a:ea typeface="+mj-ea"/>
              </a:endParaRPr>
            </a:p>
            <a:p>
              <a:pPr marL="0" indent="0" algn="l">
                <a:buNone/>
              </a:pPr>
              <a:r>
                <a:rPr lang="en-US" sz="1250" dirty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/nav_status</a:t>
              </a:r>
              <a:endParaRPr lang="en-US" sz="1250" dirty="0">
                <a:latin typeface="+mj-ea"/>
                <a:ea typeface="+mj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직사각형 3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 0"/>
          <p:cNvSpPr/>
          <p:nvPr/>
        </p:nvSpPr>
        <p:spPr>
          <a:xfrm>
            <a:off x="502920" y="256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6060"/>
                </a:solidFill>
                <a:latin typeface="+mj-ea"/>
                <a:ea typeface="+mj-ea"/>
              </a:rPr>
              <a:t>SYSTEM OVERVIEW</a:t>
            </a:r>
            <a:endParaRPr lang="en-US" sz="1050" dirty="0">
              <a:latin typeface="+mj-ea"/>
              <a:ea typeface="+mj-ea"/>
            </a:endParaRPr>
          </a:p>
        </p:txBody>
      </p:sp>
      <p:sp>
        <p:nvSpPr>
          <p:cNvPr id="21" name="Text 1"/>
          <p:cNvSpPr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ko-KR" altLang="en-US" sz="2800" b="1" smtClean="0">
                <a:solidFill>
                  <a:srgbClr val="161616"/>
                </a:solidFill>
                <a:latin typeface="+mj-ea"/>
                <a:ea typeface="+mj-ea"/>
              </a:rPr>
              <a:t>시스템 하드웨어 아키텍처</a:t>
            </a:r>
            <a:endParaRPr lang="en-US" sz="2800" dirty="0">
              <a:latin typeface="+mj-ea"/>
              <a:ea typeface="+mj-ea"/>
            </a:endParaRPr>
          </a:p>
        </p:txBody>
      </p:sp>
      <p:sp>
        <p:nvSpPr>
          <p:cNvPr id="22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grpSp>
        <p:nvGrpSpPr>
          <p:cNvPr id="43" name="그룹 42"/>
          <p:cNvGrpSpPr/>
          <p:nvPr/>
        </p:nvGrpSpPr>
        <p:grpSpPr>
          <a:xfrm>
            <a:off x="255640" y="1125962"/>
            <a:ext cx="11818374" cy="5714976"/>
            <a:chOff x="255640" y="1125962"/>
            <a:chExt cx="11818374" cy="5714976"/>
          </a:xfrm>
        </p:grpSpPr>
        <p:grpSp>
          <p:nvGrpSpPr>
            <p:cNvPr id="36" name="그룹 35"/>
            <p:cNvGrpSpPr/>
            <p:nvPr/>
          </p:nvGrpSpPr>
          <p:grpSpPr>
            <a:xfrm>
              <a:off x="255640" y="1125962"/>
              <a:ext cx="11818374" cy="5714976"/>
              <a:chOff x="8497115" y="914678"/>
              <a:chExt cx="11999761" cy="5802689"/>
            </a:xfrm>
          </p:grpSpPr>
          <p:grpSp>
            <p:nvGrpSpPr>
              <p:cNvPr id="31" name="그룹 30"/>
              <p:cNvGrpSpPr/>
              <p:nvPr/>
            </p:nvGrpSpPr>
            <p:grpSpPr>
              <a:xfrm>
                <a:off x="8497115" y="914678"/>
                <a:ext cx="11999761" cy="5802689"/>
                <a:chOff x="6817094" y="1015999"/>
                <a:chExt cx="11999761" cy="5802689"/>
              </a:xfrm>
            </p:grpSpPr>
            <p:sp>
              <p:nvSpPr>
                <p:cNvPr id="25" name="Text 4"/>
                <p:cNvSpPr/>
                <p:nvPr/>
              </p:nvSpPr>
              <p:spPr>
                <a:xfrm>
                  <a:off x="11201400" y="6519672"/>
                  <a:ext cx="548640" cy="22860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r">
                    <a:buNone/>
                  </a:pPr>
                  <a:r>
                    <a:rPr lang="en-US" sz="950" b="1" smtClean="0">
                      <a:solidFill>
                        <a:srgbClr val="737373"/>
                      </a:solidFill>
                      <a:latin typeface="+mj-ea"/>
                      <a:ea typeface="+mj-ea"/>
                      <a:cs typeface="Noto Sans CJK KR" pitchFamily="34" charset="-120"/>
                    </a:rPr>
                    <a:t>05</a:t>
                  </a:r>
                  <a:endParaRPr lang="en-US" sz="950" dirty="0">
                    <a:latin typeface="+mj-ea"/>
                    <a:ea typeface="+mj-ea"/>
                  </a:endParaRPr>
                </a:p>
              </p:txBody>
            </p:sp>
            <p:pic>
              <p:nvPicPr>
                <p:cNvPr id="26" name="그림 25"/>
                <p:cNvPicPr>
                  <a:picLocks noChangeAspect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42" t="14816" r="983" b="1412"/>
                <a:stretch/>
              </p:blipFill>
              <p:spPr>
                <a:xfrm>
                  <a:off x="6817094" y="1015999"/>
                  <a:ext cx="11999761" cy="5745138"/>
                </a:xfrm>
                <a:prstGeom prst="rect">
                  <a:avLst/>
                </a:prstGeom>
              </p:spPr>
            </p:pic>
            <p:sp>
              <p:nvSpPr>
                <p:cNvPr id="27" name="직사각형 26"/>
                <p:cNvSpPr/>
                <p:nvPr/>
              </p:nvSpPr>
              <p:spPr>
                <a:xfrm>
                  <a:off x="6842125" y="5047038"/>
                  <a:ext cx="3506561" cy="1771650"/>
                </a:xfrm>
                <a:prstGeom prst="rect">
                  <a:avLst/>
                </a:prstGeom>
                <a:solidFill>
                  <a:srgbClr val="FEFEF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28" name="직사각형 27"/>
                <p:cNvSpPr/>
                <p:nvPr/>
              </p:nvSpPr>
              <p:spPr>
                <a:xfrm>
                  <a:off x="9782512" y="4464553"/>
                  <a:ext cx="1830904" cy="738383"/>
                </a:xfrm>
                <a:prstGeom prst="rect">
                  <a:avLst/>
                </a:prstGeom>
                <a:solidFill>
                  <a:srgbClr val="FEFEF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29" name="직사각형 28"/>
                <p:cNvSpPr/>
                <p:nvPr/>
              </p:nvSpPr>
              <p:spPr>
                <a:xfrm>
                  <a:off x="14033746" y="4365141"/>
                  <a:ext cx="1907294" cy="979019"/>
                </a:xfrm>
                <a:prstGeom prst="rect">
                  <a:avLst/>
                </a:prstGeom>
                <a:solidFill>
                  <a:srgbClr val="FEFEF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30" name="직사각형 29"/>
                <p:cNvSpPr/>
                <p:nvPr/>
              </p:nvSpPr>
              <p:spPr>
                <a:xfrm>
                  <a:off x="15941040" y="5047038"/>
                  <a:ext cx="2811417" cy="1697125"/>
                </a:xfrm>
                <a:prstGeom prst="rect">
                  <a:avLst/>
                </a:prstGeom>
                <a:solidFill>
                  <a:srgbClr val="FEFEF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ysClr val="windowText" lastClr="000000"/>
                    </a:solidFill>
                  </a:endParaRPr>
                </a:p>
              </p:txBody>
            </p:sp>
          </p:grpSp>
          <p:sp>
            <p:nvSpPr>
              <p:cNvPr id="32" name="직사각형 31"/>
              <p:cNvSpPr/>
              <p:nvPr/>
            </p:nvSpPr>
            <p:spPr>
              <a:xfrm>
                <a:off x="12057452" y="2119435"/>
                <a:ext cx="1536700" cy="365662"/>
              </a:xfrm>
              <a:prstGeom prst="rect">
                <a:avLst/>
              </a:prstGeom>
              <a:solidFill>
                <a:srgbClr val="FEFE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850">
                    <a:solidFill>
                      <a:sysClr val="windowText" lastClr="000000"/>
                    </a:solidFill>
                    <a:latin typeface="+mn-ea"/>
                    <a:cs typeface="Malgun Gothic" pitchFamily="34" charset="-120"/>
                  </a:rPr>
                  <a:t>• Brain Node, Vision Node</a:t>
                </a:r>
                <a:endParaRPr lang="en-US" altLang="ko-KR" sz="850">
                  <a:solidFill>
                    <a:sysClr val="windowText" lastClr="000000"/>
                  </a:solidFill>
                  <a:latin typeface="+mn-ea"/>
                </a:endParaRPr>
              </a:p>
              <a:p>
                <a:r>
                  <a:rPr lang="en-US" altLang="ko-KR" sz="850">
                    <a:solidFill>
                      <a:sysClr val="windowText" lastClr="000000"/>
                    </a:solidFill>
                    <a:latin typeface="+mn-ea"/>
                    <a:cs typeface="Malgun Gothic" pitchFamily="34" charset="-120"/>
                  </a:rPr>
                  <a:t>• YOLO 추론, D435i 처리</a:t>
                </a:r>
                <a:endParaRPr lang="en-US" altLang="ko-KR" sz="850" dirty="0">
                  <a:solidFill>
                    <a:sysClr val="windowText" lastClr="000000"/>
                  </a:solidFill>
                  <a:latin typeface="+mn-ea"/>
                </a:endParaRPr>
              </a:p>
            </p:txBody>
          </p:sp>
          <p:sp>
            <p:nvSpPr>
              <p:cNvPr id="33" name="직사각형 32"/>
              <p:cNvSpPr/>
              <p:nvPr/>
            </p:nvSpPr>
            <p:spPr>
              <a:xfrm>
                <a:off x="13828017" y="2120696"/>
                <a:ext cx="1536700" cy="342900"/>
              </a:xfrm>
              <a:prstGeom prst="rect">
                <a:avLst/>
              </a:prstGeom>
              <a:solidFill>
                <a:srgbClr val="FEFE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850">
                    <a:solidFill>
                      <a:schemeClr val="tx1"/>
                    </a:solidFill>
                    <a:latin typeface="+mn-ea"/>
                    <a:cs typeface="Malgun Gothic" pitchFamily="34" charset="-120"/>
                  </a:rPr>
                  <a:t>• 모터 </a:t>
                </a:r>
                <a:r>
                  <a:rPr lang="ko-KR" altLang="en-US" sz="850">
                    <a:solidFill>
                      <a:schemeClr val="tx1"/>
                    </a:solidFill>
                    <a:latin typeface="+mn-ea"/>
                    <a:cs typeface="Malgun Gothic" pitchFamily="34" charset="-120"/>
                  </a:rPr>
                  <a:t>상위 </a:t>
                </a:r>
                <a:r>
                  <a:rPr lang="en-US" altLang="ko-KR" sz="850">
                    <a:solidFill>
                      <a:schemeClr val="tx1"/>
                    </a:solidFill>
                    <a:latin typeface="+mn-ea"/>
                    <a:cs typeface="Malgun Gothic" pitchFamily="34" charset="-120"/>
                  </a:rPr>
                  <a:t>제어</a:t>
                </a:r>
              </a:p>
              <a:p>
                <a:r>
                  <a:rPr lang="en-US" altLang="ko-KR" sz="850">
                    <a:solidFill>
                      <a:schemeClr val="tx1"/>
                    </a:solidFill>
                    <a:latin typeface="+mn-ea"/>
                    <a:cs typeface="Malgun Gothic" pitchFamily="34" charset="-120"/>
                  </a:rPr>
                  <a:t>• </a:t>
                </a:r>
                <a:r>
                  <a:rPr lang="ko-KR" altLang="en-US" sz="850">
                    <a:solidFill>
                      <a:schemeClr val="tx1"/>
                    </a:solidFill>
                    <a:latin typeface="+mn-ea"/>
                    <a:cs typeface="Malgun Gothic" pitchFamily="34" charset="-120"/>
                  </a:rPr>
                  <a:t>모바일</a:t>
                </a:r>
                <a:r>
                  <a:rPr lang="en-US" altLang="ko-KR" sz="850">
                    <a:solidFill>
                      <a:schemeClr val="tx1"/>
                    </a:solidFill>
                    <a:latin typeface="+mn-ea"/>
                    <a:cs typeface="Malgun Gothic" pitchFamily="34" charset="-120"/>
                  </a:rPr>
                  <a:t> 상태(</a:t>
                </a:r>
                <a:r>
                  <a:rPr lang="ko-KR" altLang="en-US" sz="850">
                    <a:solidFill>
                      <a:schemeClr val="tx1"/>
                    </a:solidFill>
                    <a:latin typeface="+mn-ea"/>
                    <a:cs typeface="Malgun Gothic" pitchFamily="34" charset="-120"/>
                  </a:rPr>
                  <a:t>위치</a:t>
                </a:r>
                <a:r>
                  <a:rPr lang="en-US" altLang="ko-KR" sz="850">
                    <a:solidFill>
                      <a:schemeClr val="tx1"/>
                    </a:solidFill>
                    <a:latin typeface="+mn-ea"/>
                    <a:cs typeface="Malgun Gothic" pitchFamily="34" charset="-120"/>
                  </a:rPr>
                  <a:t>) 발행</a:t>
                </a:r>
                <a:endParaRPr lang="en-US" altLang="ko-KR" sz="85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34" name="직사각형 33"/>
              <p:cNvSpPr/>
              <p:nvPr/>
            </p:nvSpPr>
            <p:spPr>
              <a:xfrm>
                <a:off x="15637512" y="2119435"/>
                <a:ext cx="1284858" cy="342900"/>
              </a:xfrm>
              <a:prstGeom prst="rect">
                <a:avLst/>
              </a:prstGeom>
              <a:solidFill>
                <a:srgbClr val="FEFE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850">
                    <a:solidFill>
                      <a:schemeClr val="tx1"/>
                    </a:solidFill>
                    <a:latin typeface="+mn-ea"/>
                    <a:cs typeface="Malgun Gothic" pitchFamily="34" charset="-120"/>
                  </a:rPr>
                  <a:t>• </a:t>
                </a:r>
                <a:r>
                  <a:rPr lang="ko-KR" altLang="en-US" sz="850">
                    <a:solidFill>
                      <a:schemeClr val="tx1"/>
                    </a:solidFill>
                    <a:latin typeface="+mn-ea"/>
                    <a:cs typeface="Malgun Gothic" pitchFamily="34" charset="-120"/>
                  </a:rPr>
                  <a:t>로봇팔 제어</a:t>
                </a:r>
                <a:endParaRPr lang="en-US" altLang="ko-KR" sz="850">
                  <a:solidFill>
                    <a:schemeClr val="tx1"/>
                  </a:solidFill>
                  <a:latin typeface="+mn-ea"/>
                </a:endParaRPr>
              </a:p>
              <a:p>
                <a:r>
                  <a:rPr lang="en-US" altLang="ko-KR" sz="850">
                    <a:solidFill>
                      <a:schemeClr val="tx1"/>
                    </a:solidFill>
                    <a:latin typeface="+mn-ea"/>
                    <a:cs typeface="Malgun Gothic" pitchFamily="34" charset="-120"/>
                  </a:rPr>
                  <a:t>• 로봇팔 </a:t>
                </a:r>
                <a:r>
                  <a:rPr lang="ko-KR" altLang="en-US" sz="850">
                    <a:solidFill>
                      <a:schemeClr val="tx1"/>
                    </a:solidFill>
                    <a:latin typeface="+mn-ea"/>
                    <a:cs typeface="Malgun Gothic" pitchFamily="34" charset="-120"/>
                  </a:rPr>
                  <a:t>상태 발행</a:t>
                </a:r>
                <a:endParaRPr lang="en-US" altLang="ko-KR" sz="85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35" name="직사각형 34"/>
              <p:cNvSpPr/>
              <p:nvPr/>
            </p:nvSpPr>
            <p:spPr>
              <a:xfrm>
                <a:off x="9373039" y="2722175"/>
                <a:ext cx="1798106" cy="342900"/>
              </a:xfrm>
              <a:prstGeom prst="rect">
                <a:avLst/>
              </a:prstGeom>
              <a:solidFill>
                <a:srgbClr val="FEFE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850">
                    <a:solidFill>
                      <a:schemeClr val="tx1"/>
                    </a:solidFill>
                    <a:latin typeface="+mn-ea"/>
                    <a:cs typeface="Malgun Gothic" pitchFamily="34" charset="-120"/>
                  </a:rPr>
                  <a:t>• RGB-D 카메라</a:t>
                </a:r>
                <a:endParaRPr lang="en-US" altLang="ko-KR" sz="850">
                  <a:solidFill>
                    <a:schemeClr val="tx1"/>
                  </a:solidFill>
                  <a:latin typeface="+mn-ea"/>
                </a:endParaRPr>
              </a:p>
              <a:p>
                <a:r>
                  <a:rPr lang="en-US" altLang="ko-KR" sz="850">
                    <a:solidFill>
                      <a:schemeClr val="tx1"/>
                    </a:solidFill>
                    <a:latin typeface="+mn-ea"/>
                    <a:cs typeface="Malgun Gothic" pitchFamily="34" charset="-120"/>
                  </a:rPr>
                  <a:t>• 블록 / QR code / Aruco </a:t>
                </a:r>
                <a:r>
                  <a:rPr lang="en-US" altLang="ko-KR" sz="850" smtClean="0">
                    <a:solidFill>
                      <a:schemeClr val="tx1"/>
                    </a:solidFill>
                    <a:latin typeface="+mn-ea"/>
                    <a:cs typeface="Malgun Gothic" pitchFamily="34" charset="-120"/>
                  </a:rPr>
                  <a:t>인식</a:t>
                </a:r>
                <a:endParaRPr lang="en-US" altLang="ko-KR" sz="850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  <p:sp>
          <p:nvSpPr>
            <p:cNvPr id="39" name="직사각형 38"/>
            <p:cNvSpPr/>
            <p:nvPr/>
          </p:nvSpPr>
          <p:spPr>
            <a:xfrm>
              <a:off x="1098898" y="4220643"/>
              <a:ext cx="1770926" cy="583132"/>
            </a:xfrm>
            <a:prstGeom prst="rect">
              <a:avLst/>
            </a:prstGeom>
            <a:solidFill>
              <a:srgbClr val="FEFE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50" smtClean="0">
                  <a:solidFill>
                    <a:schemeClr val="tx1"/>
                  </a:solidFill>
                  <a:latin typeface="+mn-ea"/>
                  <a:cs typeface="Malgun Gothic" pitchFamily="34" charset="-120"/>
                </a:rPr>
                <a:t>• LiDAR (RPLIDAR S2)</a:t>
              </a:r>
            </a:p>
            <a:p>
              <a:r>
                <a:rPr lang="en-US" altLang="ko-KR" sz="850" smtClean="0">
                  <a:solidFill>
                    <a:schemeClr val="tx1"/>
                  </a:solidFill>
                  <a:latin typeface="+mn-ea"/>
                  <a:cs typeface="Malgun Gothic" pitchFamily="34" charset="-120"/>
                </a:rPr>
                <a:t>• </a:t>
              </a:r>
              <a:r>
                <a:rPr lang="ko-KR" altLang="en-US" sz="850" smtClean="0">
                  <a:solidFill>
                    <a:schemeClr val="tx1"/>
                  </a:solidFill>
                  <a:latin typeface="+mn-ea"/>
                  <a:cs typeface="Malgun Gothic" pitchFamily="34" charset="-120"/>
                </a:rPr>
                <a:t>전방 카메라 </a:t>
              </a:r>
              <a:r>
                <a:rPr lang="en-US" altLang="ko-KR" sz="850" smtClean="0">
                  <a:solidFill>
                    <a:schemeClr val="tx1"/>
                  </a:solidFill>
                  <a:latin typeface="+mn-ea"/>
                  <a:cs typeface="Malgun Gothic" pitchFamily="34" charset="-120"/>
                </a:rPr>
                <a:t>(USB Camera)</a:t>
              </a:r>
            </a:p>
            <a:p>
              <a:r>
                <a:rPr lang="en-US" altLang="ko-KR" sz="850" smtClean="0">
                  <a:solidFill>
                    <a:schemeClr val="tx1"/>
                  </a:solidFill>
                  <a:latin typeface="+mn-ea"/>
                  <a:cs typeface="Malgun Gothic" pitchFamily="34" charset="-120"/>
                </a:rPr>
                <a:t>• </a:t>
              </a:r>
              <a:r>
                <a:rPr lang="ko-KR" altLang="en-US" sz="850" smtClean="0">
                  <a:solidFill>
                    <a:schemeClr val="tx1"/>
                  </a:solidFill>
                  <a:latin typeface="+mn-ea"/>
                  <a:cs typeface="Malgun Gothic" pitchFamily="34" charset="-120"/>
                </a:rPr>
                <a:t>장애물 감지 </a:t>
              </a:r>
              <a:r>
                <a:rPr lang="en-US" altLang="ko-KR" sz="850" smtClean="0">
                  <a:solidFill>
                    <a:schemeClr val="tx1"/>
                  </a:solidFill>
                  <a:latin typeface="+mn-ea"/>
                  <a:cs typeface="Malgun Gothic" pitchFamily="34" charset="-120"/>
                </a:rPr>
                <a:t>/ </a:t>
              </a:r>
              <a:r>
                <a:rPr lang="ko-KR" altLang="en-US" sz="850" smtClean="0">
                  <a:solidFill>
                    <a:schemeClr val="tx1"/>
                  </a:solidFill>
                  <a:latin typeface="+mn-ea"/>
                  <a:cs typeface="Malgun Gothic" pitchFamily="34" charset="-120"/>
                </a:rPr>
                <a:t>환경 인식</a:t>
              </a:r>
              <a:endParaRPr lang="en-US" altLang="ko-KR" sz="8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9561119" y="3072559"/>
              <a:ext cx="1278332" cy="328304"/>
            </a:xfrm>
            <a:prstGeom prst="rect">
              <a:avLst/>
            </a:prstGeom>
            <a:solidFill>
              <a:srgbClr val="FEFE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50" smtClean="0">
                  <a:solidFill>
                    <a:schemeClr val="tx1"/>
                  </a:solidFill>
                  <a:latin typeface="+mn-ea"/>
                  <a:cs typeface="Malgun Gothic" pitchFamily="34" charset="-120"/>
                </a:rPr>
                <a:t>• </a:t>
              </a:r>
              <a:r>
                <a:rPr lang="ko-KR" altLang="en-US" sz="850" smtClean="0">
                  <a:solidFill>
                    <a:schemeClr val="tx1"/>
                  </a:solidFill>
                  <a:latin typeface="+mn-ea"/>
                  <a:cs typeface="Malgun Gothic" pitchFamily="34" charset="-120"/>
                </a:rPr>
                <a:t>메카넘 휠 기반</a:t>
              </a:r>
              <a:endParaRPr lang="en-US" altLang="ko-KR" sz="850" smtClean="0">
                <a:solidFill>
                  <a:schemeClr val="tx1"/>
                </a:solidFill>
                <a:latin typeface="+mn-ea"/>
                <a:cs typeface="Malgun Gothic" pitchFamily="34" charset="-120"/>
              </a:endParaRPr>
            </a:p>
            <a:p>
              <a:r>
                <a:rPr lang="en-US" altLang="ko-KR" sz="850" smtClean="0">
                  <a:solidFill>
                    <a:schemeClr val="tx1"/>
                  </a:solidFill>
                  <a:latin typeface="+mn-ea"/>
                  <a:cs typeface="Malgun Gothic" pitchFamily="34" charset="-120"/>
                </a:rPr>
                <a:t>• </a:t>
              </a:r>
              <a:r>
                <a:rPr lang="ko-KR" altLang="en-US" sz="850" smtClean="0">
                  <a:solidFill>
                    <a:schemeClr val="tx1"/>
                  </a:solidFill>
                  <a:latin typeface="+mn-ea"/>
                  <a:cs typeface="Malgun Gothic" pitchFamily="34" charset="-120"/>
                </a:rPr>
                <a:t>모바일 베이스 구동</a:t>
              </a:r>
              <a:endParaRPr lang="en-US" altLang="ko-KR" sz="8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9561119" y="4581332"/>
              <a:ext cx="1424978" cy="218378"/>
            </a:xfrm>
            <a:prstGeom prst="rect">
              <a:avLst/>
            </a:prstGeom>
            <a:solidFill>
              <a:srgbClr val="FEFE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50" smtClean="0">
                  <a:solidFill>
                    <a:schemeClr val="tx1"/>
                  </a:solidFill>
                  <a:latin typeface="+mn-ea"/>
                  <a:cs typeface="Malgun Gothic" pitchFamily="34" charset="-120"/>
                </a:rPr>
                <a:t>• </a:t>
              </a:r>
              <a:r>
                <a:rPr lang="ko-KR" altLang="en-US" sz="850" smtClean="0">
                  <a:solidFill>
                    <a:schemeClr val="tx1"/>
                  </a:solidFill>
                  <a:latin typeface="+mn-ea"/>
                  <a:cs typeface="Malgun Gothic" pitchFamily="34" charset="-120"/>
                </a:rPr>
                <a:t>피킹 </a:t>
              </a:r>
              <a:r>
                <a:rPr lang="en-US" altLang="ko-KR" sz="850" smtClean="0">
                  <a:solidFill>
                    <a:schemeClr val="tx1"/>
                  </a:solidFill>
                  <a:latin typeface="+mn-ea"/>
                  <a:cs typeface="Malgun Gothic" pitchFamily="34" charset="-120"/>
                </a:rPr>
                <a:t>/ </a:t>
              </a:r>
              <a:r>
                <a:rPr lang="ko-KR" altLang="en-US" sz="850" smtClean="0">
                  <a:solidFill>
                    <a:schemeClr val="tx1"/>
                  </a:solidFill>
                  <a:latin typeface="+mn-ea"/>
                  <a:cs typeface="Malgun Gothic" pitchFamily="34" charset="-120"/>
                </a:rPr>
                <a:t>플레이싱 수행</a:t>
              </a:r>
              <a:endParaRPr lang="en-US" altLang="ko-KR" sz="850" dirty="0">
                <a:solidFill>
                  <a:schemeClr val="tx1"/>
                </a:solidFill>
                <a:latin typeface="+mn-ea"/>
              </a:endParaRPr>
            </a:p>
          </p:txBody>
        </p:sp>
      </p:grpSp>
      <p:sp>
        <p:nvSpPr>
          <p:cNvPr id="37" name="Text 4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smtClean="0">
                <a:solidFill>
                  <a:srgbClr val="737373"/>
                </a:solidFill>
                <a:latin typeface="+mj-ea"/>
                <a:ea typeface="+mj-ea"/>
                <a:cs typeface="Noto Sans CJK KR" pitchFamily="34" charset="-120"/>
              </a:rPr>
              <a:t>05</a:t>
            </a:r>
            <a:endParaRPr lang="en-US" sz="95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05841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"/>
          <p:cNvSpPr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ko-KR" altLang="en-US" sz="2800" b="1" smtClean="0">
                <a:solidFill>
                  <a:srgbClr val="161616"/>
                </a:solidFill>
                <a:latin typeface="+mj-ea"/>
                <a:ea typeface="+mj-ea"/>
              </a:rPr>
              <a:t>소프트웨어 아키텍처</a:t>
            </a:r>
            <a:endParaRPr lang="en-US" sz="2800" dirty="0">
              <a:latin typeface="+mj-ea"/>
              <a:ea typeface="+mj-ea"/>
            </a:endParaRPr>
          </a:p>
        </p:txBody>
      </p:sp>
      <p:sp>
        <p:nvSpPr>
          <p:cNvPr id="9" name="Text 4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smtClean="0">
                <a:solidFill>
                  <a:srgbClr val="737373"/>
                </a:solidFill>
                <a:latin typeface="+mj-ea"/>
                <a:ea typeface="+mj-ea"/>
                <a:cs typeface="Noto Sans CJK KR" pitchFamily="34" charset="-120"/>
              </a:rPr>
              <a:t>06</a:t>
            </a:r>
            <a:endParaRPr lang="en-US" sz="950" dirty="0">
              <a:latin typeface="+mj-ea"/>
              <a:ea typeface="+mj-ea"/>
            </a:endParaRPr>
          </a:p>
        </p:txBody>
      </p:sp>
      <p:sp>
        <p:nvSpPr>
          <p:cNvPr id="10" name="Text 5"/>
          <p:cNvSpPr/>
          <p:nvPr/>
        </p:nvSpPr>
        <p:spPr>
          <a:xfrm>
            <a:off x="502920" y="1197615"/>
            <a:ext cx="843153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smtClean="0">
                <a:latin typeface="+mj-ea"/>
                <a:ea typeface="+mj-ea"/>
              </a:rPr>
              <a:t>jetson orin nano</a:t>
            </a:r>
            <a:r>
              <a:rPr lang="ko-KR" altLang="en-US" sz="1800" smtClean="0">
                <a:latin typeface="+mj-ea"/>
                <a:ea typeface="+mj-ea"/>
              </a:rPr>
              <a:t>와 </a:t>
            </a:r>
            <a:r>
              <a:rPr lang="en-US" altLang="ko-KR" sz="1800" smtClean="0">
                <a:latin typeface="+mj-ea"/>
                <a:ea typeface="+mj-ea"/>
              </a:rPr>
              <a:t>jetson nano</a:t>
            </a:r>
            <a:r>
              <a:rPr lang="ko-KR" altLang="en-US" sz="1800" smtClean="0">
                <a:latin typeface="+mj-ea"/>
                <a:ea typeface="+mj-ea"/>
              </a:rPr>
              <a:t>의 역할 분리 </a:t>
            </a:r>
            <a:r>
              <a:rPr lang="en-US" altLang="ko-KR" sz="1800" smtClean="0">
                <a:latin typeface="+mj-ea"/>
                <a:ea typeface="+mj-ea"/>
                <a:sym typeface="Wingdings" panose="05000000000000000000" pitchFamily="2" charset="2"/>
              </a:rPr>
              <a:t> </a:t>
            </a:r>
            <a:r>
              <a:rPr lang="ko-KR" altLang="en-US" sz="1800" smtClean="0">
                <a:latin typeface="+mj-ea"/>
                <a:ea typeface="+mj-ea"/>
                <a:sym typeface="Wingdings" panose="05000000000000000000" pitchFamily="2" charset="2"/>
              </a:rPr>
              <a:t>로봇팔 연계와 </a:t>
            </a:r>
            <a:r>
              <a:rPr lang="en-US" altLang="ko-KR" sz="1800" smtClean="0">
                <a:latin typeface="+mj-ea"/>
                <a:ea typeface="+mj-ea"/>
                <a:sym typeface="Wingdings" panose="05000000000000000000" pitchFamily="2" charset="2"/>
              </a:rPr>
              <a:t>AGV </a:t>
            </a:r>
            <a:r>
              <a:rPr lang="ko-KR" altLang="en-US" sz="1800" smtClean="0">
                <a:latin typeface="+mj-ea"/>
                <a:ea typeface="+mj-ea"/>
                <a:sym typeface="Wingdings" panose="05000000000000000000" pitchFamily="2" charset="2"/>
              </a:rPr>
              <a:t>실행 제어를 독립적으로 구성</a:t>
            </a:r>
            <a:endParaRPr lang="en-US" sz="1800" dirty="0">
              <a:latin typeface="+mj-ea"/>
              <a:ea typeface="+mj-ea"/>
            </a:endParaRPr>
          </a:p>
        </p:txBody>
      </p:sp>
      <p:sp>
        <p:nvSpPr>
          <p:cNvPr id="59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grpSp>
        <p:nvGrpSpPr>
          <p:cNvPr id="63" name="그룹 62"/>
          <p:cNvGrpSpPr/>
          <p:nvPr/>
        </p:nvGrpSpPr>
        <p:grpSpPr>
          <a:xfrm>
            <a:off x="3129041" y="1696850"/>
            <a:ext cx="2039985" cy="1021976"/>
            <a:chOff x="1196969" y="1710018"/>
            <a:chExt cx="2039985" cy="1021976"/>
          </a:xfrm>
        </p:grpSpPr>
        <p:sp>
          <p:nvSpPr>
            <p:cNvPr id="60" name="모서리가 둥근 직사각형 59"/>
            <p:cNvSpPr/>
            <p:nvPr/>
          </p:nvSpPr>
          <p:spPr>
            <a:xfrm>
              <a:off x="1222328" y="1710018"/>
              <a:ext cx="1989268" cy="1021976"/>
            </a:xfrm>
            <a:prstGeom prst="roundRect">
              <a:avLst>
                <a:gd name="adj" fmla="val 12007"/>
              </a:avLst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1222328" y="1748118"/>
              <a:ext cx="181402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 smtClean="0">
                  <a:latin typeface="+mj-ea"/>
                  <a:ea typeface="+mj-ea"/>
                </a:rPr>
                <a:t>Orin Brain Node</a:t>
              </a:r>
              <a:endParaRPr lang="ko-KR" altLang="en-US" sz="1600" b="1">
                <a:latin typeface="+mj-ea"/>
                <a:ea typeface="+mj-ea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1196969" y="2086672"/>
              <a:ext cx="2039985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50" smtClean="0">
                  <a:latin typeface="+mj-ea"/>
                  <a:ea typeface="+mj-ea"/>
                </a:rPr>
                <a:t>로봇팔</a:t>
              </a:r>
              <a:r>
                <a:rPr lang="en-US" altLang="ko-KR" sz="950" smtClean="0">
                  <a:latin typeface="+mj-ea"/>
                  <a:ea typeface="+mj-ea"/>
                </a:rPr>
                <a:t>-</a:t>
              </a:r>
              <a:r>
                <a:rPr lang="ko-KR" altLang="en-US" sz="950" smtClean="0">
                  <a:latin typeface="+mj-ea"/>
                  <a:ea typeface="+mj-ea"/>
                </a:rPr>
                <a:t>모바일 연계 작업 요청 </a:t>
              </a:r>
              <a:r>
                <a:rPr lang="en-US" altLang="ko-KR" sz="950" smtClean="0">
                  <a:latin typeface="+mj-ea"/>
                  <a:ea typeface="+mj-ea"/>
                </a:rPr>
                <a:t>&amp; </a:t>
              </a:r>
              <a:r>
                <a:rPr lang="ko-KR" altLang="en-US" sz="950" smtClean="0">
                  <a:latin typeface="+mj-ea"/>
                  <a:ea typeface="+mj-ea"/>
                </a:rPr>
                <a:t>상태 토픽 발행</a:t>
              </a:r>
              <a:endParaRPr lang="ko-KR" altLang="en-US" sz="950">
                <a:latin typeface="+mj-ea"/>
                <a:ea typeface="+mj-ea"/>
              </a:endParaRPr>
            </a:p>
          </p:txBody>
        </p:sp>
      </p:grpSp>
      <p:grpSp>
        <p:nvGrpSpPr>
          <p:cNvPr id="64" name="그룹 63"/>
          <p:cNvGrpSpPr/>
          <p:nvPr/>
        </p:nvGrpSpPr>
        <p:grpSpPr>
          <a:xfrm>
            <a:off x="6602999" y="1738916"/>
            <a:ext cx="2039985" cy="1021976"/>
            <a:chOff x="1196969" y="1710018"/>
            <a:chExt cx="2039985" cy="1021976"/>
          </a:xfrm>
        </p:grpSpPr>
        <p:sp>
          <p:nvSpPr>
            <p:cNvPr id="65" name="모서리가 둥근 직사각형 64"/>
            <p:cNvSpPr/>
            <p:nvPr/>
          </p:nvSpPr>
          <p:spPr>
            <a:xfrm>
              <a:off x="1222328" y="1710018"/>
              <a:ext cx="1989268" cy="1021976"/>
            </a:xfrm>
            <a:prstGeom prst="roundRect">
              <a:avLst>
                <a:gd name="adj" fmla="val 12007"/>
              </a:avLst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1222328" y="1748118"/>
              <a:ext cx="18276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 smtClean="0">
                  <a:latin typeface="+mj-ea"/>
                  <a:ea typeface="+mj-ea"/>
                </a:rPr>
                <a:t>AGV Brain Node</a:t>
              </a:r>
              <a:endParaRPr lang="ko-KR" altLang="en-US" sz="1600" b="1">
                <a:latin typeface="+mj-ea"/>
                <a:ea typeface="+mj-ea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1196969" y="2086672"/>
              <a:ext cx="2039985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50" smtClean="0">
                  <a:latin typeface="+mj-ea"/>
                  <a:ea typeface="+mj-ea"/>
                </a:rPr>
                <a:t>Brain Node </a:t>
              </a:r>
              <a:r>
                <a:rPr lang="ko-KR" altLang="en-US" sz="950" smtClean="0">
                  <a:latin typeface="+mj-ea"/>
                  <a:ea typeface="+mj-ea"/>
                </a:rPr>
                <a:t>토픽 수신</a:t>
              </a:r>
              <a:endParaRPr lang="en-US" altLang="ko-KR" sz="950" smtClean="0">
                <a:latin typeface="+mj-ea"/>
                <a:ea typeface="+mj-ea"/>
              </a:endParaRPr>
            </a:p>
            <a:p>
              <a:r>
                <a:rPr lang="ko-KR" altLang="en-US" sz="950" smtClean="0">
                  <a:latin typeface="+mj-ea"/>
                  <a:ea typeface="+mj-ea"/>
                </a:rPr>
                <a:t>주행</a:t>
              </a:r>
              <a:r>
                <a:rPr lang="en-US" altLang="ko-KR" sz="95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 · </a:t>
              </a:r>
              <a:r>
                <a:rPr lang="ko-KR" altLang="en-US" sz="95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정렬 명령 발행</a:t>
              </a:r>
              <a:endParaRPr lang="ko-KR" altLang="en-US" sz="950">
                <a:latin typeface="+mj-ea"/>
                <a:ea typeface="+mj-ea"/>
              </a:endParaRPr>
            </a:p>
          </p:txBody>
        </p:sp>
      </p:grpSp>
      <p:cxnSp>
        <p:nvCxnSpPr>
          <p:cNvPr id="69" name="직선 화살표 연결선 68"/>
          <p:cNvCxnSpPr/>
          <p:nvPr/>
        </p:nvCxnSpPr>
        <p:spPr>
          <a:xfrm>
            <a:off x="5250214" y="2046346"/>
            <a:ext cx="1378144" cy="0"/>
          </a:xfrm>
          <a:prstGeom prst="straightConnector1">
            <a:avLst/>
          </a:prstGeom>
          <a:ln w="19050">
            <a:solidFill>
              <a:srgbClr val="2F52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69"/>
          <p:cNvCxnSpPr/>
          <p:nvPr/>
        </p:nvCxnSpPr>
        <p:spPr>
          <a:xfrm rot="5400000" flipV="1">
            <a:off x="7253455" y="3121274"/>
            <a:ext cx="739073" cy="13000"/>
          </a:xfrm>
          <a:prstGeom prst="straightConnector1">
            <a:avLst/>
          </a:prstGeom>
          <a:ln w="19050">
            <a:solidFill>
              <a:srgbClr val="2F52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그룹 70"/>
          <p:cNvGrpSpPr/>
          <p:nvPr/>
        </p:nvGrpSpPr>
        <p:grpSpPr>
          <a:xfrm>
            <a:off x="6603000" y="3515269"/>
            <a:ext cx="2039985" cy="1021976"/>
            <a:chOff x="1196969" y="1710018"/>
            <a:chExt cx="2039985" cy="1021976"/>
          </a:xfrm>
        </p:grpSpPr>
        <p:sp>
          <p:nvSpPr>
            <p:cNvPr id="72" name="모서리가 둥근 직사각형 71"/>
            <p:cNvSpPr/>
            <p:nvPr/>
          </p:nvSpPr>
          <p:spPr>
            <a:xfrm>
              <a:off x="1222328" y="1710018"/>
              <a:ext cx="1989268" cy="1021976"/>
            </a:xfrm>
            <a:prstGeom prst="roundRect">
              <a:avLst>
                <a:gd name="adj" fmla="val 12007"/>
              </a:avLst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1222328" y="1748118"/>
              <a:ext cx="1483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 smtClean="0">
                  <a:latin typeface="+mj-ea"/>
                  <a:ea typeface="+mj-ea"/>
                </a:rPr>
                <a:t>AGV Mobility</a:t>
              </a:r>
              <a:endParaRPr lang="ko-KR" altLang="en-US" sz="1600" b="1">
                <a:latin typeface="+mj-ea"/>
                <a:ea typeface="+mj-ea"/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1196969" y="2086672"/>
              <a:ext cx="2039985" cy="5309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50" smtClean="0">
                  <a:latin typeface="+mj-ea"/>
                  <a:ea typeface="+mj-ea"/>
                </a:rPr>
                <a:t>Primitive route runner</a:t>
              </a:r>
            </a:p>
            <a:p>
              <a:r>
                <a:rPr lang="en-US" altLang="ko-KR" sz="950" smtClean="0">
                  <a:latin typeface="+mj-ea"/>
                  <a:ea typeface="+mj-ea"/>
                </a:rPr>
                <a:t>Aruco Align</a:t>
              </a:r>
            </a:p>
            <a:p>
              <a:r>
                <a:rPr lang="en-US" altLang="ko-KR" sz="950" smtClean="0">
                  <a:latin typeface="+mj-ea"/>
                  <a:ea typeface="+mj-ea"/>
                </a:rPr>
                <a:t>Localization / Odomeytry</a:t>
              </a:r>
              <a:endParaRPr lang="ko-KR" altLang="en-US" sz="950">
                <a:latin typeface="+mj-ea"/>
                <a:ea typeface="+mj-ea"/>
              </a:endParaRPr>
            </a:p>
          </p:txBody>
        </p:sp>
      </p:grpSp>
      <p:grpSp>
        <p:nvGrpSpPr>
          <p:cNvPr id="75" name="그룹 74"/>
          <p:cNvGrpSpPr/>
          <p:nvPr/>
        </p:nvGrpSpPr>
        <p:grpSpPr>
          <a:xfrm>
            <a:off x="3078486" y="3555752"/>
            <a:ext cx="2090540" cy="1021976"/>
            <a:chOff x="1196969" y="1710018"/>
            <a:chExt cx="2090540" cy="1021976"/>
          </a:xfrm>
        </p:grpSpPr>
        <p:sp>
          <p:nvSpPr>
            <p:cNvPr id="76" name="모서리가 둥근 직사각형 75"/>
            <p:cNvSpPr/>
            <p:nvPr/>
          </p:nvSpPr>
          <p:spPr>
            <a:xfrm>
              <a:off x="1222328" y="1710018"/>
              <a:ext cx="1989268" cy="1021976"/>
            </a:xfrm>
            <a:prstGeom prst="roundRect">
              <a:avLst>
                <a:gd name="adj" fmla="val 12007"/>
              </a:avLst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1222328" y="1748118"/>
              <a:ext cx="206518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 smtClean="0">
                  <a:latin typeface="+mj-ea"/>
                  <a:ea typeface="+mj-ea"/>
                </a:rPr>
                <a:t>Perception/ Vision </a:t>
              </a:r>
              <a:endParaRPr lang="ko-KR" altLang="en-US" sz="1600" b="1">
                <a:latin typeface="+mj-ea"/>
                <a:ea typeface="+mj-ea"/>
              </a:endParaRP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1196969" y="2086672"/>
              <a:ext cx="2039985" cy="5309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50" smtClean="0">
                  <a:latin typeface="+mj-ea"/>
                  <a:ea typeface="+mj-ea"/>
                </a:rPr>
                <a:t>D435i RGB-D, YOLO/Depth</a:t>
              </a:r>
            </a:p>
            <a:p>
              <a:r>
                <a:rPr lang="en-US" altLang="ko-KR" sz="950" smtClean="0">
                  <a:latin typeface="+mj-ea"/>
                  <a:ea typeface="+mj-ea"/>
                </a:rPr>
                <a:t>Eye-in-hand </a:t>
              </a:r>
              <a:r>
                <a:rPr lang="ko-KR" altLang="en-US" sz="950" smtClean="0">
                  <a:latin typeface="+mj-ea"/>
                  <a:ea typeface="+mj-ea"/>
                </a:rPr>
                <a:t>관측</a:t>
              </a:r>
              <a:endParaRPr lang="en-US" altLang="ko-KR" sz="950" smtClean="0">
                <a:latin typeface="+mj-ea"/>
                <a:ea typeface="+mj-ea"/>
              </a:endParaRPr>
            </a:p>
            <a:p>
              <a:r>
                <a:rPr lang="en-US" altLang="ko-KR" sz="950" smtClean="0">
                  <a:latin typeface="+mj-ea"/>
                  <a:ea typeface="+mj-ea"/>
                </a:rPr>
                <a:t>/box_pose - /distance_status</a:t>
              </a:r>
              <a:endParaRPr lang="ko-KR" altLang="en-US" sz="950">
                <a:latin typeface="+mj-ea"/>
                <a:ea typeface="+mj-ea"/>
              </a:endParaRPr>
            </a:p>
          </p:txBody>
        </p:sp>
      </p:grpSp>
      <p:grpSp>
        <p:nvGrpSpPr>
          <p:cNvPr id="79" name="그룹 78"/>
          <p:cNvGrpSpPr/>
          <p:nvPr/>
        </p:nvGrpSpPr>
        <p:grpSpPr>
          <a:xfrm>
            <a:off x="9082380" y="3497311"/>
            <a:ext cx="2654661" cy="1021976"/>
            <a:chOff x="1196969" y="1710018"/>
            <a:chExt cx="2654661" cy="1021976"/>
          </a:xfrm>
        </p:grpSpPr>
        <p:sp>
          <p:nvSpPr>
            <p:cNvPr id="80" name="모서리가 둥근 직사각형 79"/>
            <p:cNvSpPr/>
            <p:nvPr/>
          </p:nvSpPr>
          <p:spPr>
            <a:xfrm>
              <a:off x="1222328" y="1710018"/>
              <a:ext cx="2629302" cy="1021976"/>
            </a:xfrm>
            <a:prstGeom prst="roundRect">
              <a:avLst>
                <a:gd name="adj" fmla="val 12007"/>
              </a:avLst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1222328" y="1748118"/>
              <a:ext cx="249401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 smtClean="0">
                  <a:latin typeface="+mj-ea"/>
                  <a:ea typeface="+mj-ea"/>
                </a:rPr>
                <a:t>Safety Command Layer</a:t>
              </a:r>
              <a:endParaRPr lang="ko-KR" altLang="en-US" sz="1600" b="1">
                <a:latin typeface="+mj-ea"/>
                <a:ea typeface="+mj-ea"/>
              </a:endParaRP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1196969" y="2086672"/>
              <a:ext cx="2039985" cy="5309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50" smtClean="0">
                  <a:latin typeface="+mj-ea"/>
                  <a:ea typeface="+mj-ea"/>
                </a:rPr>
                <a:t>cmd_vel_safety_filter</a:t>
              </a:r>
            </a:p>
            <a:p>
              <a:r>
                <a:rPr lang="ko-KR" altLang="en-US" sz="950" smtClean="0">
                  <a:latin typeface="+mj-ea"/>
                  <a:ea typeface="+mj-ea"/>
                </a:rPr>
                <a:t>속도 제한 </a:t>
              </a:r>
              <a:r>
                <a:rPr lang="en-US" altLang="ko-KR" sz="95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· </a:t>
              </a:r>
              <a:r>
                <a:rPr lang="ko-KR" altLang="en-US" sz="95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보정</a:t>
              </a:r>
              <a:endParaRPr lang="en-US" altLang="ko-KR" sz="95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endParaRPr>
            </a:p>
            <a:p>
              <a:r>
                <a:rPr lang="en-US" altLang="ko-KR" sz="950" smtClean="0">
                  <a:solidFill>
                    <a:srgbClr val="444444"/>
                  </a:solidFill>
                  <a:latin typeface="+mj-ea"/>
                  <a:ea typeface="+mj-ea"/>
                </a:rPr>
                <a:t>/cmd_vel_nav </a:t>
              </a:r>
              <a:r>
                <a:rPr lang="en-US" altLang="ko-KR" sz="950" smtClean="0">
                  <a:solidFill>
                    <a:srgbClr val="444444"/>
                  </a:solidFill>
                  <a:latin typeface="+mj-ea"/>
                  <a:ea typeface="+mj-ea"/>
                  <a:sym typeface="Wingdings" panose="05000000000000000000" pitchFamily="2" charset="2"/>
                </a:rPr>
                <a:t> /cmd_vel</a:t>
              </a:r>
              <a:endParaRPr lang="ko-KR" altLang="en-US" sz="950">
                <a:latin typeface="+mj-ea"/>
                <a:ea typeface="+mj-ea"/>
              </a:endParaRPr>
            </a:p>
          </p:txBody>
        </p:sp>
      </p:grpSp>
      <p:grpSp>
        <p:nvGrpSpPr>
          <p:cNvPr id="87" name="그룹 86"/>
          <p:cNvGrpSpPr/>
          <p:nvPr/>
        </p:nvGrpSpPr>
        <p:grpSpPr>
          <a:xfrm>
            <a:off x="346710" y="3550523"/>
            <a:ext cx="2039985" cy="1021976"/>
            <a:chOff x="1196969" y="1710018"/>
            <a:chExt cx="2039985" cy="1021976"/>
          </a:xfrm>
        </p:grpSpPr>
        <p:sp>
          <p:nvSpPr>
            <p:cNvPr id="88" name="모서리가 둥근 직사각형 87"/>
            <p:cNvSpPr/>
            <p:nvPr/>
          </p:nvSpPr>
          <p:spPr>
            <a:xfrm>
              <a:off x="1222328" y="1710018"/>
              <a:ext cx="1989268" cy="1021976"/>
            </a:xfrm>
            <a:prstGeom prst="roundRect">
              <a:avLst>
                <a:gd name="adj" fmla="val 12007"/>
              </a:avLst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1222328" y="1748118"/>
              <a:ext cx="148149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 smtClean="0">
                  <a:latin typeface="+mj-ea"/>
                  <a:ea typeface="+mj-ea"/>
                </a:rPr>
                <a:t>Manipulation</a:t>
              </a:r>
              <a:endParaRPr lang="ko-KR" altLang="en-US" sz="1600" b="1">
                <a:latin typeface="+mj-ea"/>
                <a:ea typeface="+mj-ea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1196969" y="2086672"/>
              <a:ext cx="2039985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smtClean="0">
                  <a:latin typeface="+mj-ea"/>
                  <a:ea typeface="+mj-ea"/>
                </a:rPr>
                <a:t>myCobot </a:t>
              </a:r>
              <a:r>
                <a:rPr lang="en-US" altLang="ko-KR" sz="950" smtClean="0">
                  <a:latin typeface="+mj-ea"/>
                  <a:ea typeface="+mj-ea"/>
                </a:rPr>
                <a:t>280Pi</a:t>
              </a:r>
              <a:r>
                <a:rPr lang="en-US" altLang="ko-KR" sz="1000" smtClean="0">
                  <a:latin typeface="+mj-ea"/>
                  <a:ea typeface="+mj-ea"/>
                </a:rPr>
                <a:t> + Gripper</a:t>
              </a:r>
            </a:p>
            <a:p>
              <a:r>
                <a:rPr lang="en-US" altLang="ko-KR" sz="1000" smtClean="0">
                  <a:latin typeface="+mj-ea"/>
                  <a:ea typeface="+mj-ea"/>
                </a:rPr>
                <a:t>Pick / Place </a:t>
              </a:r>
              <a:r>
                <a:rPr lang="ko-KR" altLang="en-US" sz="1000" smtClean="0">
                  <a:latin typeface="+mj-ea"/>
                  <a:ea typeface="+mj-ea"/>
                </a:rPr>
                <a:t>상태 발행</a:t>
              </a:r>
              <a:endParaRPr lang="en-US" altLang="ko-KR" sz="1000" smtClean="0">
                <a:latin typeface="+mj-ea"/>
                <a:ea typeface="+mj-ea"/>
              </a:endParaRPr>
            </a:p>
            <a:p>
              <a:r>
                <a:rPr lang="en-US" altLang="ko-KR" sz="1000" smtClean="0">
                  <a:latin typeface="+mj-ea"/>
                  <a:ea typeface="+mj-ea"/>
                </a:rPr>
                <a:t>/arm_status</a:t>
              </a:r>
              <a:endParaRPr lang="ko-KR" altLang="en-US" sz="1000">
                <a:latin typeface="+mj-ea"/>
                <a:ea typeface="+mj-ea"/>
              </a:endParaRPr>
            </a:p>
          </p:txBody>
        </p:sp>
      </p:grpSp>
      <p:cxnSp>
        <p:nvCxnSpPr>
          <p:cNvPr id="91" name="직선 화살표 연결선 90"/>
          <p:cNvCxnSpPr/>
          <p:nvPr/>
        </p:nvCxnSpPr>
        <p:spPr>
          <a:xfrm flipH="1" flipV="1">
            <a:off x="5250214" y="2272189"/>
            <a:ext cx="1327427" cy="2343"/>
          </a:xfrm>
          <a:prstGeom prst="straightConnector1">
            <a:avLst/>
          </a:prstGeom>
          <a:ln w="19050">
            <a:solidFill>
              <a:srgbClr val="2F52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5169028" y="1793892"/>
            <a:ext cx="1418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smtClean="0">
                <a:latin typeface="+mj-ea"/>
                <a:ea typeface="+mj-ea"/>
              </a:rPr>
              <a:t>/place_target </a:t>
            </a:r>
            <a:r>
              <a:rPr lang="en-US" altLang="ko-KR" sz="80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· /arm_status</a:t>
            </a:r>
            <a:endParaRPr lang="ko-KR" altLang="en-US" sz="800">
              <a:latin typeface="+mj-ea"/>
              <a:ea typeface="+mj-ea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5181706" y="2292664"/>
            <a:ext cx="13805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smtClean="0">
                <a:latin typeface="+mj-ea"/>
                <a:ea typeface="+mj-ea"/>
              </a:rPr>
              <a:t>/nav_status </a:t>
            </a:r>
            <a:r>
              <a:rPr lang="en-US" altLang="ko-KR" sz="80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· /align_status</a:t>
            </a:r>
            <a:endParaRPr lang="ko-KR" altLang="en-US" sz="800">
              <a:latin typeface="+mj-ea"/>
              <a:ea typeface="+mj-ea"/>
            </a:endParaRPr>
          </a:p>
        </p:txBody>
      </p:sp>
      <p:cxnSp>
        <p:nvCxnSpPr>
          <p:cNvPr id="97" name="직선 화살표 연결선 96"/>
          <p:cNvCxnSpPr/>
          <p:nvPr/>
        </p:nvCxnSpPr>
        <p:spPr>
          <a:xfrm>
            <a:off x="7616493" y="4529996"/>
            <a:ext cx="0" cy="549260"/>
          </a:xfrm>
          <a:prstGeom prst="straightConnector1">
            <a:avLst/>
          </a:prstGeom>
          <a:ln w="19050">
            <a:solidFill>
              <a:srgbClr val="2F52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5" name="그룹 104"/>
          <p:cNvGrpSpPr/>
          <p:nvPr/>
        </p:nvGrpSpPr>
        <p:grpSpPr>
          <a:xfrm>
            <a:off x="5828287" y="5147198"/>
            <a:ext cx="6202523" cy="1334461"/>
            <a:chOff x="2512199" y="5180036"/>
            <a:chExt cx="6202523" cy="1334461"/>
          </a:xfrm>
        </p:grpSpPr>
        <p:sp>
          <p:nvSpPr>
            <p:cNvPr id="99" name="모서리가 둥근 직사각형 98"/>
            <p:cNvSpPr/>
            <p:nvPr/>
          </p:nvSpPr>
          <p:spPr>
            <a:xfrm>
              <a:off x="2512199" y="5180036"/>
              <a:ext cx="5958933" cy="1334461"/>
            </a:xfrm>
            <a:prstGeom prst="roundRect">
              <a:avLst>
                <a:gd name="adj" fmla="val 9529"/>
              </a:avLst>
            </a:prstGeom>
            <a:solidFill>
              <a:schemeClr val="bg1">
                <a:lumMod val="85000"/>
              </a:schemeClr>
            </a:solidFill>
            <a:ln w="19050">
              <a:solidFill>
                <a:srgbClr val="2F528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100" name="직사각형 99"/>
            <p:cNvSpPr/>
            <p:nvPr/>
          </p:nvSpPr>
          <p:spPr>
            <a:xfrm>
              <a:off x="3961505" y="5237664"/>
              <a:ext cx="4753217" cy="9725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en-US" altLang="ko-KR" sz="1300" b="1">
                  <a:solidFill>
                    <a:srgbClr val="2A2A2A"/>
                  </a:solidFill>
                  <a:latin typeface="+mj-ea"/>
                  <a:ea typeface="+mj-ea"/>
                  <a:cs typeface="Noto Sans CJK KR" pitchFamily="34" charset="-120"/>
                </a:rPr>
                <a:t>Orin Nano</a:t>
              </a:r>
              <a:r>
                <a:rPr lang="en-US" altLang="ko-KR" sz="1300">
                  <a:solidFill>
                    <a:srgbClr val="2A2A2A"/>
                  </a:solidFill>
                  <a:latin typeface="+mj-ea"/>
                  <a:ea typeface="+mj-ea"/>
                  <a:cs typeface="Noto Sans CJK KR" pitchFamily="34" charset="-120"/>
                </a:rPr>
                <a:t>: Vision 처리  </a:t>
              </a:r>
              <a:endParaRPr lang="en-US" altLang="ko-KR" sz="1300" smtClean="0">
                <a:solidFill>
                  <a:srgbClr val="2A2A2A"/>
                </a:solidFill>
                <a:latin typeface="+mj-ea"/>
                <a:ea typeface="+mj-ea"/>
                <a:cs typeface="Noto Sans CJK KR" pitchFamily="34" charset="-120"/>
              </a:endParaRPr>
            </a:p>
            <a:p>
              <a:pPr>
                <a:lnSpc>
                  <a:spcPct val="110000"/>
                </a:lnSpc>
              </a:pPr>
              <a:r>
                <a:rPr lang="en-US" altLang="ko-KR" sz="1300" b="1" smtClean="0">
                  <a:solidFill>
                    <a:srgbClr val="2A2A2A"/>
                  </a:solidFill>
                  <a:latin typeface="+mj-ea"/>
                  <a:ea typeface="+mj-ea"/>
                  <a:cs typeface="Noto Sans CJK KR" pitchFamily="34" charset="-120"/>
                </a:rPr>
                <a:t>AGV </a:t>
              </a:r>
              <a:r>
                <a:rPr lang="en-US" altLang="ko-KR" sz="1300" b="1">
                  <a:solidFill>
                    <a:srgbClr val="2A2A2A"/>
                  </a:solidFill>
                  <a:latin typeface="+mj-ea"/>
                  <a:ea typeface="+mj-ea"/>
                  <a:cs typeface="Noto Sans CJK KR" pitchFamily="34" charset="-120"/>
                </a:rPr>
                <a:t>Jetson Nano</a:t>
              </a:r>
              <a:r>
                <a:rPr lang="en-US" altLang="ko-KR" sz="1300">
                  <a:solidFill>
                    <a:srgbClr val="2A2A2A"/>
                  </a:solidFill>
                  <a:latin typeface="+mj-ea"/>
                  <a:ea typeface="+mj-ea"/>
                  <a:cs typeface="Noto Sans CJK KR" pitchFamily="34" charset="-120"/>
                </a:rPr>
                <a:t>: Mission FSM·주행·정렬·Safety Filter  </a:t>
              </a:r>
              <a:endParaRPr lang="en-US" altLang="ko-KR" sz="1300" smtClean="0">
                <a:solidFill>
                  <a:srgbClr val="2A2A2A"/>
                </a:solidFill>
                <a:latin typeface="+mj-ea"/>
                <a:ea typeface="+mj-ea"/>
                <a:cs typeface="Noto Sans CJK KR" pitchFamily="34" charset="-120"/>
              </a:endParaRPr>
            </a:p>
            <a:p>
              <a:pPr>
                <a:lnSpc>
                  <a:spcPct val="110000"/>
                </a:lnSpc>
              </a:pPr>
              <a:r>
                <a:rPr lang="en-US" altLang="ko-KR" sz="1300" b="1" smtClean="0">
                  <a:solidFill>
                    <a:srgbClr val="2A2A2A"/>
                  </a:solidFill>
                  <a:latin typeface="+mj-ea"/>
                  <a:ea typeface="+mj-ea"/>
                  <a:cs typeface="Noto Sans CJK KR" pitchFamily="34" charset="-120"/>
                </a:rPr>
                <a:t>Raspberry </a:t>
              </a:r>
              <a:r>
                <a:rPr lang="en-US" altLang="ko-KR" sz="1300" b="1">
                  <a:solidFill>
                    <a:srgbClr val="2A2A2A"/>
                  </a:solidFill>
                  <a:latin typeface="+mj-ea"/>
                  <a:ea typeface="+mj-ea"/>
                  <a:cs typeface="Noto Sans CJK KR" pitchFamily="34" charset="-120"/>
                </a:rPr>
                <a:t>Pi</a:t>
              </a:r>
              <a:r>
                <a:rPr lang="en-US" altLang="ko-KR" sz="1300">
                  <a:solidFill>
                    <a:srgbClr val="2A2A2A"/>
                  </a:solidFill>
                  <a:latin typeface="+mj-ea"/>
                  <a:ea typeface="+mj-ea"/>
                  <a:cs typeface="Noto Sans CJK KR" pitchFamily="34" charset="-120"/>
                </a:rPr>
                <a:t>: 로봇팔 </a:t>
              </a:r>
              <a:r>
                <a:rPr lang="en-US" altLang="ko-KR" sz="1300" smtClean="0">
                  <a:solidFill>
                    <a:srgbClr val="2A2A2A"/>
                  </a:solidFill>
                  <a:latin typeface="+mj-ea"/>
                  <a:ea typeface="+mj-ea"/>
                  <a:cs typeface="Noto Sans CJK KR" pitchFamily="34" charset="-120"/>
                </a:rPr>
                <a:t>제어</a:t>
              </a:r>
            </a:p>
            <a:p>
              <a:pPr>
                <a:lnSpc>
                  <a:spcPct val="110000"/>
                </a:lnSpc>
              </a:pPr>
              <a:r>
                <a:rPr lang="en-US" altLang="ko-KR" sz="1300" smtClean="0">
                  <a:solidFill>
                    <a:srgbClr val="2A2A2A"/>
                  </a:solidFill>
                  <a:latin typeface="+mj-ea"/>
                  <a:ea typeface="+mj-ea"/>
                  <a:cs typeface="Noto Sans CJK KR" pitchFamily="34" charset="-120"/>
                </a:rPr>
                <a:t> </a:t>
              </a:r>
              <a:endParaRPr lang="en-US" altLang="ko-KR" sz="1300" dirty="0">
                <a:latin typeface="+mj-ea"/>
                <a:ea typeface="+mj-ea"/>
              </a:endParaRPr>
            </a:p>
          </p:txBody>
        </p:sp>
        <p:sp>
          <p:nvSpPr>
            <p:cNvPr id="101" name="Shape 2"/>
            <p:cNvSpPr/>
            <p:nvPr/>
          </p:nvSpPr>
          <p:spPr>
            <a:xfrm>
              <a:off x="2603446" y="5960523"/>
              <a:ext cx="5579396" cy="0"/>
            </a:xfrm>
            <a:prstGeom prst="line">
              <a:avLst/>
            </a:prstGeom>
            <a:noFill/>
            <a:ln w="10160">
              <a:solidFill>
                <a:schemeClr val="tx1"/>
              </a:solidFill>
              <a:prstDash val="solid"/>
            </a:ln>
          </p:spPr>
        </p:sp>
        <p:sp>
          <p:nvSpPr>
            <p:cNvPr id="102" name="TextBox 101"/>
            <p:cNvSpPr txBox="1"/>
            <p:nvPr/>
          </p:nvSpPr>
          <p:spPr>
            <a:xfrm>
              <a:off x="2744505" y="5460060"/>
              <a:ext cx="12474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smtClean="0">
                  <a:latin typeface="+mj-ea"/>
                  <a:ea typeface="+mj-ea"/>
                </a:rPr>
                <a:t>Deployment</a:t>
              </a:r>
              <a:endParaRPr lang="ko-KR" altLang="en-US" sz="1400" b="1">
                <a:latin typeface="+mj-ea"/>
                <a:ea typeface="+mj-ea"/>
              </a:endParaRP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2833718" y="6070859"/>
              <a:ext cx="102124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smtClean="0">
                  <a:latin typeface="+mj-ea"/>
                  <a:ea typeface="+mj-ea"/>
                </a:rPr>
                <a:t>Hardware</a:t>
              </a:r>
              <a:endParaRPr lang="ko-KR" altLang="en-US" sz="1400" b="1">
                <a:latin typeface="+mj-ea"/>
                <a:ea typeface="+mj-ea"/>
              </a:endParaRPr>
            </a:p>
          </p:txBody>
        </p:sp>
        <p:sp>
          <p:nvSpPr>
            <p:cNvPr id="104" name="직사각형 103"/>
            <p:cNvSpPr/>
            <p:nvPr/>
          </p:nvSpPr>
          <p:spPr>
            <a:xfrm>
              <a:off x="3985890" y="6070044"/>
              <a:ext cx="2870016" cy="31239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en-US" altLang="ko-KR" sz="1300">
                  <a:solidFill>
                    <a:srgbClr val="2A2A2A"/>
                  </a:solidFill>
                  <a:latin typeface="+mj-ea"/>
                  <a:ea typeface="+mj-ea"/>
                  <a:cs typeface="Noto Sans CJK KR" pitchFamily="34" charset="-120"/>
                </a:rPr>
                <a:t>myAGV / myCobot / D435i / LiDAR</a:t>
              </a:r>
              <a:endParaRPr lang="en-US" altLang="ko-KR" sz="1300" dirty="0">
                <a:latin typeface="+mj-ea"/>
                <a:ea typeface="+mj-ea"/>
              </a:endParaRPr>
            </a:p>
          </p:txBody>
        </p:sp>
      </p:grpSp>
      <p:cxnSp>
        <p:nvCxnSpPr>
          <p:cNvPr id="107" name="직선 연결선 106"/>
          <p:cNvCxnSpPr/>
          <p:nvPr/>
        </p:nvCxnSpPr>
        <p:spPr>
          <a:xfrm>
            <a:off x="8617626" y="4008299"/>
            <a:ext cx="490113" cy="0"/>
          </a:xfrm>
          <a:prstGeom prst="line">
            <a:avLst/>
          </a:prstGeom>
          <a:ln w="19050">
            <a:solidFill>
              <a:srgbClr val="2F52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화살표 연결선 107"/>
          <p:cNvCxnSpPr/>
          <p:nvPr/>
        </p:nvCxnSpPr>
        <p:spPr>
          <a:xfrm flipH="1">
            <a:off x="2364219" y="4071731"/>
            <a:ext cx="739626" cy="8445"/>
          </a:xfrm>
          <a:prstGeom prst="straightConnector1">
            <a:avLst/>
          </a:prstGeom>
          <a:ln w="19050">
            <a:solidFill>
              <a:srgbClr val="2F52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직사각형 111"/>
          <p:cNvSpPr/>
          <p:nvPr/>
        </p:nvSpPr>
        <p:spPr>
          <a:xfrm>
            <a:off x="842682" y="5261329"/>
            <a:ext cx="2572871" cy="98734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smtClean="0">
                <a:latin typeface="+mj-ea"/>
                <a:ea typeface="+mj-ea"/>
              </a:rPr>
              <a:t>궁님 여기 확인해서 화살표 추가할 거 추가해주세요</a:t>
            </a:r>
            <a:r>
              <a:rPr lang="en-US" altLang="ko-KR" sz="1600" smtClean="0">
                <a:latin typeface="+mj-ea"/>
                <a:ea typeface="+mj-ea"/>
              </a:rPr>
              <a:t>.</a:t>
            </a:r>
            <a:endParaRPr lang="ko-KR" altLang="en-US" sz="1600">
              <a:latin typeface="+mj-ea"/>
              <a:ea typeface="+mj-ea"/>
            </a:endParaRPr>
          </a:p>
        </p:txBody>
      </p:sp>
      <p:sp>
        <p:nvSpPr>
          <p:cNvPr id="113" name="Text 0"/>
          <p:cNvSpPr/>
          <p:nvPr/>
        </p:nvSpPr>
        <p:spPr>
          <a:xfrm>
            <a:off x="502920" y="256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6060"/>
                </a:solidFill>
                <a:latin typeface="+mj-ea"/>
                <a:ea typeface="+mj-ea"/>
              </a:rPr>
              <a:t>SYSTEM OVERVIEW</a:t>
            </a:r>
            <a:endParaRPr lang="en-US" sz="1050" dirty="0">
              <a:latin typeface="+mj-ea"/>
              <a:ea typeface="+mj-ea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9107739" y="726948"/>
            <a:ext cx="1438039" cy="7461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latin typeface="+mj-ea"/>
                <a:ea typeface="+mj-ea"/>
              </a:rPr>
              <a:t>기능 모듈</a:t>
            </a:r>
            <a:r>
              <a:rPr lang="en-US" altLang="ko-KR" smtClean="0">
                <a:latin typeface="+mj-ea"/>
                <a:ea typeface="+mj-ea"/>
              </a:rPr>
              <a:t>, </a:t>
            </a:r>
            <a:r>
              <a:rPr lang="ko-KR" altLang="en-US" smtClean="0">
                <a:latin typeface="+mj-ea"/>
                <a:ea typeface="+mj-ea"/>
              </a:rPr>
              <a:t>노드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488965" y="257175"/>
            <a:ext cx="3200400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ko-KR" altLang="en-US" smtClean="0">
                <a:latin typeface="+mj-ea"/>
                <a:ea typeface="+mj-ea"/>
              </a:rPr>
              <a:t>궁님 </a:t>
            </a:r>
            <a:r>
              <a:rPr lang="en-US" altLang="ko-KR" smtClean="0">
                <a:latin typeface="+mj-ea"/>
                <a:ea typeface="+mj-ea"/>
              </a:rPr>
              <a:t>PLZ</a:t>
            </a:r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15750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그림 17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2623" y="1663062"/>
            <a:ext cx="1700369" cy="4730246"/>
          </a:xfrm>
          <a:prstGeom prst="rect">
            <a:avLst/>
          </a:prstGeom>
          <a:ln>
            <a:noFill/>
          </a:ln>
        </p:spPr>
      </p:pic>
      <p:sp>
        <p:nvSpPr>
          <p:cNvPr id="7" name="Text 0"/>
          <p:cNvSpPr/>
          <p:nvPr/>
        </p:nvSpPr>
        <p:spPr>
          <a:xfrm>
            <a:off x="502920" y="256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6060"/>
                </a:solidFill>
                <a:latin typeface="+mj-ea"/>
                <a:ea typeface="+mj-ea"/>
              </a:rPr>
              <a:t>SYSTEM OVERVIEW</a:t>
            </a:r>
            <a:endParaRPr lang="en-US" sz="1050" dirty="0">
              <a:latin typeface="+mj-ea"/>
              <a:ea typeface="+mj-ea"/>
            </a:endParaRPr>
          </a:p>
        </p:txBody>
      </p:sp>
      <p:sp>
        <p:nvSpPr>
          <p:cNvPr id="8" name="Text 1"/>
          <p:cNvSpPr/>
          <p:nvPr/>
        </p:nvSpPr>
        <p:spPr>
          <a:xfrm>
            <a:off x="502920" y="566928"/>
            <a:ext cx="377876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ko-KR" altLang="en-US" sz="2800" b="1" smtClean="0">
                <a:solidFill>
                  <a:srgbClr val="161616"/>
                </a:solidFill>
                <a:latin typeface="+mj-ea"/>
                <a:ea typeface="+mj-ea"/>
              </a:rPr>
              <a:t>시나리오 흐름도</a:t>
            </a:r>
            <a:endParaRPr lang="en-US" sz="2800" dirty="0">
              <a:latin typeface="+mj-ea"/>
              <a:ea typeface="+mj-ea"/>
            </a:endParaRPr>
          </a:p>
        </p:txBody>
      </p:sp>
      <p:sp>
        <p:nvSpPr>
          <p:cNvPr id="59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grpSp>
        <p:nvGrpSpPr>
          <p:cNvPr id="82" name="그룹 81"/>
          <p:cNvGrpSpPr/>
          <p:nvPr/>
        </p:nvGrpSpPr>
        <p:grpSpPr>
          <a:xfrm>
            <a:off x="4431522" y="1541976"/>
            <a:ext cx="3778298" cy="5126462"/>
            <a:chOff x="1279042" y="1177531"/>
            <a:chExt cx="3365839" cy="4566830"/>
          </a:xfrm>
        </p:grpSpPr>
        <p:grpSp>
          <p:nvGrpSpPr>
            <p:cNvPr id="49" name="그룹 48"/>
            <p:cNvGrpSpPr/>
            <p:nvPr/>
          </p:nvGrpSpPr>
          <p:grpSpPr>
            <a:xfrm>
              <a:off x="1279042" y="1177531"/>
              <a:ext cx="2523656" cy="4353608"/>
              <a:chOff x="1659410" y="1237322"/>
              <a:chExt cx="2523656" cy="4353608"/>
            </a:xfrm>
          </p:grpSpPr>
          <p:grpSp>
            <p:nvGrpSpPr>
              <p:cNvPr id="38" name="그룹 37"/>
              <p:cNvGrpSpPr/>
              <p:nvPr/>
            </p:nvGrpSpPr>
            <p:grpSpPr>
              <a:xfrm>
                <a:off x="1668466" y="1263040"/>
                <a:ext cx="2514600" cy="4327890"/>
                <a:chOff x="1655445" y="1252729"/>
                <a:chExt cx="2514600" cy="4327890"/>
              </a:xfrm>
            </p:grpSpPr>
            <p:sp>
              <p:nvSpPr>
                <p:cNvPr id="23" name="모서리가 둥근 직사각형 22"/>
                <p:cNvSpPr/>
                <p:nvPr/>
              </p:nvSpPr>
              <p:spPr>
                <a:xfrm>
                  <a:off x="1655445" y="1252729"/>
                  <a:ext cx="2514600" cy="366521"/>
                </a:xfrm>
                <a:prstGeom prst="roundRect">
                  <a:avLst>
                    <a:gd name="adj" fmla="val 7571"/>
                  </a:avLst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635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altLang="ko-KR" sz="1600" smtClean="0">
                      <a:solidFill>
                        <a:schemeClr val="tx1"/>
                      </a:solidFill>
                      <a:latin typeface="Arial" panose="020B0604020202020204" pitchFamily="34" charset="0"/>
                      <a:ea typeface="+mj-ea"/>
                      <a:cs typeface="Arial" panose="020B0604020202020204" pitchFamily="34" charset="0"/>
                    </a:rPr>
                    <a:t>	[IDLE]</a:t>
                  </a:r>
                  <a:endParaRPr lang="ko-KR" altLang="en-US" sz="1600">
                    <a:solidFill>
                      <a:schemeClr val="tx1"/>
                    </a:solidFill>
                    <a:latin typeface="Arial" panose="020B0604020202020204" pitchFamily="34" charset="0"/>
                    <a:ea typeface="+mj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5" name="모서리가 둥근 직사각형 24"/>
                <p:cNvSpPr/>
                <p:nvPr/>
              </p:nvSpPr>
              <p:spPr>
                <a:xfrm>
                  <a:off x="1655445" y="1821180"/>
                  <a:ext cx="2514600" cy="366521"/>
                </a:xfrm>
                <a:prstGeom prst="roundRect">
                  <a:avLst>
                    <a:gd name="adj" fmla="val 7571"/>
                  </a:avLst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635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600" smtClean="0">
                      <a:solidFill>
                        <a:schemeClr val="tx1"/>
                      </a:solidFill>
                      <a:latin typeface="Arial" panose="020B0604020202020204" pitchFamily="34" charset="0"/>
                      <a:ea typeface="+mj-ea"/>
                      <a:cs typeface="Arial" panose="020B0604020202020204" pitchFamily="34" charset="0"/>
                    </a:rPr>
                    <a:t>[NAV_TO_RACK]</a:t>
                  </a:r>
                  <a:endParaRPr lang="ko-KR" altLang="en-US" sz="1600">
                    <a:solidFill>
                      <a:schemeClr val="tx1"/>
                    </a:solidFill>
                    <a:latin typeface="Arial" panose="020B0604020202020204" pitchFamily="34" charset="0"/>
                    <a:ea typeface="+mj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6" name="모서리가 둥근 직사각형 25"/>
                <p:cNvSpPr/>
                <p:nvPr/>
              </p:nvSpPr>
              <p:spPr>
                <a:xfrm>
                  <a:off x="1655445" y="2383536"/>
                  <a:ext cx="2514600" cy="366521"/>
                </a:xfrm>
                <a:prstGeom prst="roundRect">
                  <a:avLst>
                    <a:gd name="adj" fmla="val 7571"/>
                  </a:avLst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635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600" smtClean="0">
                      <a:solidFill>
                        <a:schemeClr val="tx1"/>
                      </a:solidFill>
                      <a:latin typeface="Arial" panose="020B0604020202020204" pitchFamily="34" charset="0"/>
                      <a:ea typeface="+mj-ea"/>
                      <a:cs typeface="Arial" panose="020B0604020202020204" pitchFamily="34" charset="0"/>
                    </a:rPr>
                    <a:t>[VISION]</a:t>
                  </a:r>
                  <a:endParaRPr lang="ko-KR" altLang="en-US" sz="1600">
                    <a:solidFill>
                      <a:schemeClr val="tx1"/>
                    </a:solidFill>
                    <a:latin typeface="Arial" panose="020B0604020202020204" pitchFamily="34" charset="0"/>
                    <a:ea typeface="+mj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" name="모서리가 둥근 직사각형 26"/>
                <p:cNvSpPr/>
                <p:nvPr/>
              </p:nvSpPr>
              <p:spPr>
                <a:xfrm>
                  <a:off x="1655445" y="2951987"/>
                  <a:ext cx="2514600" cy="366521"/>
                </a:xfrm>
                <a:prstGeom prst="roundRect">
                  <a:avLst>
                    <a:gd name="adj" fmla="val 7571"/>
                  </a:avLst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635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600" smtClean="0">
                      <a:solidFill>
                        <a:schemeClr val="tx1"/>
                      </a:solidFill>
                      <a:latin typeface="Arial" panose="020B0604020202020204" pitchFamily="34" charset="0"/>
                      <a:ea typeface="+mj-ea"/>
                      <a:cs typeface="Arial" panose="020B0604020202020204" pitchFamily="34" charset="0"/>
                    </a:rPr>
                    <a:t>[PICKING]</a:t>
                  </a:r>
                  <a:endParaRPr lang="ko-KR" altLang="en-US" sz="1600">
                    <a:solidFill>
                      <a:schemeClr val="tx1"/>
                    </a:solidFill>
                    <a:latin typeface="Arial" panose="020B0604020202020204" pitchFamily="34" charset="0"/>
                    <a:ea typeface="+mj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8" name="모서리가 둥근 직사각형 27"/>
                <p:cNvSpPr/>
                <p:nvPr/>
              </p:nvSpPr>
              <p:spPr>
                <a:xfrm>
                  <a:off x="1655445" y="3508745"/>
                  <a:ext cx="2514600" cy="366521"/>
                </a:xfrm>
                <a:prstGeom prst="roundRect">
                  <a:avLst>
                    <a:gd name="adj" fmla="val 7571"/>
                  </a:avLst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635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600" smtClean="0">
                      <a:solidFill>
                        <a:schemeClr val="tx1"/>
                      </a:solidFill>
                      <a:latin typeface="Arial" panose="020B0604020202020204" pitchFamily="34" charset="0"/>
                      <a:ea typeface="+mj-ea"/>
                      <a:cs typeface="Arial" panose="020B0604020202020204" pitchFamily="34" charset="0"/>
                    </a:rPr>
                    <a:t>[NAV_TO_DEST]</a:t>
                  </a:r>
                  <a:endParaRPr lang="ko-KR" altLang="en-US" sz="1600">
                    <a:solidFill>
                      <a:schemeClr val="tx1"/>
                    </a:solidFill>
                    <a:latin typeface="Arial" panose="020B0604020202020204" pitchFamily="34" charset="0"/>
                    <a:ea typeface="+mj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" name="모서리가 둥근 직사각형 28"/>
                <p:cNvSpPr/>
                <p:nvPr/>
              </p:nvSpPr>
              <p:spPr>
                <a:xfrm>
                  <a:off x="1655445" y="4077196"/>
                  <a:ext cx="2514600" cy="366521"/>
                </a:xfrm>
                <a:prstGeom prst="roundRect">
                  <a:avLst>
                    <a:gd name="adj" fmla="val 7571"/>
                  </a:avLst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635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600" smtClean="0">
                      <a:solidFill>
                        <a:schemeClr val="tx1"/>
                      </a:solidFill>
                      <a:latin typeface="Arial" panose="020B0604020202020204" pitchFamily="34" charset="0"/>
                      <a:ea typeface="+mj-ea"/>
                      <a:cs typeface="Arial" panose="020B0604020202020204" pitchFamily="34" charset="0"/>
                    </a:rPr>
                    <a:t>[VISION_PLACE]</a:t>
                  </a:r>
                  <a:endParaRPr lang="ko-KR" altLang="en-US" sz="1600">
                    <a:solidFill>
                      <a:schemeClr val="tx1"/>
                    </a:solidFill>
                    <a:latin typeface="Arial" panose="020B0604020202020204" pitchFamily="34" charset="0"/>
                    <a:ea typeface="+mj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0" name="모서리가 둥근 직사각형 29"/>
                <p:cNvSpPr/>
                <p:nvPr/>
              </p:nvSpPr>
              <p:spPr>
                <a:xfrm>
                  <a:off x="1655445" y="4645647"/>
                  <a:ext cx="2514600" cy="366521"/>
                </a:xfrm>
                <a:prstGeom prst="roundRect">
                  <a:avLst>
                    <a:gd name="adj" fmla="val 7571"/>
                  </a:avLst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635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600" smtClean="0">
                      <a:solidFill>
                        <a:schemeClr val="tx1"/>
                      </a:solidFill>
                      <a:latin typeface="Arial" panose="020B0604020202020204" pitchFamily="34" charset="0"/>
                      <a:ea typeface="+mj-ea"/>
                      <a:cs typeface="Arial" panose="020B0604020202020204" pitchFamily="34" charset="0"/>
                    </a:rPr>
                    <a:t>[PLACING]</a:t>
                  </a:r>
                  <a:endParaRPr lang="ko-KR" altLang="en-US" sz="1600">
                    <a:solidFill>
                      <a:schemeClr val="tx1"/>
                    </a:solidFill>
                    <a:latin typeface="Arial" panose="020B0604020202020204" pitchFamily="34" charset="0"/>
                    <a:ea typeface="+mj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1" name="모서리가 둥근 직사각형 30"/>
                <p:cNvSpPr/>
                <p:nvPr/>
              </p:nvSpPr>
              <p:spPr>
                <a:xfrm>
                  <a:off x="1655445" y="5214098"/>
                  <a:ext cx="2514600" cy="366521"/>
                </a:xfrm>
                <a:prstGeom prst="roundRect">
                  <a:avLst>
                    <a:gd name="adj" fmla="val 7571"/>
                  </a:avLst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635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600" smtClean="0">
                      <a:solidFill>
                        <a:schemeClr val="tx1"/>
                      </a:solidFill>
                      <a:latin typeface="Arial" panose="020B0604020202020204" pitchFamily="34" charset="0"/>
                      <a:ea typeface="+mj-ea"/>
                      <a:cs typeface="Arial" panose="020B0604020202020204" pitchFamily="34" charset="0"/>
                    </a:rPr>
                    <a:t>[GO_PARKING]</a:t>
                  </a:r>
                  <a:endParaRPr lang="ko-KR" altLang="en-US" sz="1600">
                    <a:solidFill>
                      <a:schemeClr val="tx1"/>
                    </a:solidFill>
                    <a:latin typeface="Arial" panose="020B0604020202020204" pitchFamily="34" charset="0"/>
                    <a:ea typeface="+mj-ea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36" name="직선 화살표 연결선 35"/>
                <p:cNvCxnSpPr/>
                <p:nvPr/>
              </p:nvCxnSpPr>
              <p:spPr>
                <a:xfrm>
                  <a:off x="2921000" y="1631155"/>
                  <a:ext cx="0" cy="173831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직선 화살표 연결선 38"/>
                <p:cNvCxnSpPr/>
                <p:nvPr/>
              </p:nvCxnSpPr>
              <p:spPr>
                <a:xfrm>
                  <a:off x="2920206" y="2197225"/>
                  <a:ext cx="0" cy="173831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직선 화살표 연결선 39"/>
                <p:cNvCxnSpPr/>
                <p:nvPr/>
              </p:nvCxnSpPr>
              <p:spPr>
                <a:xfrm>
                  <a:off x="2920206" y="2762757"/>
                  <a:ext cx="0" cy="173831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직선 화살표 연결선 40"/>
                <p:cNvCxnSpPr/>
                <p:nvPr/>
              </p:nvCxnSpPr>
              <p:spPr>
                <a:xfrm>
                  <a:off x="2918248" y="3334914"/>
                  <a:ext cx="0" cy="173831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직선 화살표 연결선 41"/>
                <p:cNvCxnSpPr/>
                <p:nvPr/>
              </p:nvCxnSpPr>
              <p:spPr>
                <a:xfrm>
                  <a:off x="2921000" y="3900984"/>
                  <a:ext cx="0" cy="173831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직선 화살표 연결선 42"/>
                <p:cNvCxnSpPr/>
                <p:nvPr/>
              </p:nvCxnSpPr>
              <p:spPr>
                <a:xfrm>
                  <a:off x="2921000" y="4466516"/>
                  <a:ext cx="0" cy="173831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직선 화살표 연결선 43"/>
                <p:cNvCxnSpPr/>
                <p:nvPr/>
              </p:nvCxnSpPr>
              <p:spPr>
                <a:xfrm>
                  <a:off x="2918415" y="5033124"/>
                  <a:ext cx="0" cy="173831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5" name="직사각형 44"/>
              <p:cNvSpPr/>
              <p:nvPr/>
            </p:nvSpPr>
            <p:spPr>
              <a:xfrm>
                <a:off x="1668466" y="1807705"/>
                <a:ext cx="497252" cy="3564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ko-KR" sz="2000" b="1">
                    <a:latin typeface="+mj-ea"/>
                    <a:ea typeface="+mj-ea"/>
                  </a:rPr>
                  <a:t>② </a:t>
                </a:r>
                <a:endParaRPr lang="ko-KR" altLang="en-US" sz="2000">
                  <a:latin typeface="+mj-ea"/>
                  <a:ea typeface="+mj-ea"/>
                </a:endParaRPr>
              </a:p>
            </p:txBody>
          </p:sp>
          <p:sp>
            <p:nvSpPr>
              <p:cNvPr id="48" name="직사각형 47"/>
              <p:cNvSpPr/>
              <p:nvPr/>
            </p:nvSpPr>
            <p:spPr>
              <a:xfrm>
                <a:off x="1668466" y="2372961"/>
                <a:ext cx="497252" cy="3564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ko-KR" sz="2000" b="1" smtClean="0">
                    <a:latin typeface="+mj-ea"/>
                    <a:ea typeface="+mj-ea"/>
                  </a:rPr>
                  <a:t>③ </a:t>
                </a:r>
                <a:endParaRPr lang="ko-KR" altLang="en-US" sz="2000">
                  <a:latin typeface="+mj-ea"/>
                  <a:ea typeface="+mj-ea"/>
                </a:endParaRPr>
              </a:p>
            </p:txBody>
          </p:sp>
          <p:sp>
            <p:nvSpPr>
              <p:cNvPr id="46" name="직사각형 45"/>
              <p:cNvSpPr/>
              <p:nvPr/>
            </p:nvSpPr>
            <p:spPr>
              <a:xfrm>
                <a:off x="1664828" y="1237322"/>
                <a:ext cx="392988" cy="3564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2000" b="1">
                    <a:latin typeface="+mj-ea"/>
                    <a:ea typeface="+mj-ea"/>
                  </a:rPr>
                  <a:t>①</a:t>
                </a:r>
                <a:endParaRPr lang="ko-KR" altLang="en-US" sz="2000">
                  <a:latin typeface="+mj-ea"/>
                  <a:ea typeface="+mj-ea"/>
                </a:endParaRPr>
              </a:p>
            </p:txBody>
          </p:sp>
          <p:sp>
            <p:nvSpPr>
              <p:cNvPr id="50" name="직사각형 49"/>
              <p:cNvSpPr/>
              <p:nvPr/>
            </p:nvSpPr>
            <p:spPr>
              <a:xfrm>
                <a:off x="1668466" y="2930398"/>
                <a:ext cx="497252" cy="3564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ko-KR" sz="2000" b="1">
                    <a:latin typeface="+mj-ea"/>
                    <a:ea typeface="+mj-ea"/>
                  </a:rPr>
                  <a:t>④</a:t>
                </a:r>
                <a:r>
                  <a:rPr lang="en-US" altLang="ko-KR" sz="2000" b="1" smtClean="0">
                    <a:latin typeface="+mj-ea"/>
                    <a:ea typeface="+mj-ea"/>
                  </a:rPr>
                  <a:t> </a:t>
                </a:r>
                <a:endParaRPr lang="ko-KR" altLang="en-US" sz="2000">
                  <a:latin typeface="+mj-ea"/>
                  <a:ea typeface="+mj-ea"/>
                </a:endParaRPr>
              </a:p>
            </p:txBody>
          </p:sp>
          <p:sp>
            <p:nvSpPr>
              <p:cNvPr id="68" name="직사각형 67"/>
              <p:cNvSpPr/>
              <p:nvPr/>
            </p:nvSpPr>
            <p:spPr>
              <a:xfrm>
                <a:off x="1663048" y="4075811"/>
                <a:ext cx="497252" cy="3564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ko-KR" sz="2000" b="1" smtClean="0">
                    <a:latin typeface="+mj-ea"/>
                    <a:ea typeface="+mj-ea"/>
                  </a:rPr>
                  <a:t>⑥ </a:t>
                </a:r>
                <a:endParaRPr lang="ko-KR" altLang="en-US" sz="2000">
                  <a:latin typeface="+mj-ea"/>
                  <a:ea typeface="+mj-ea"/>
                </a:endParaRPr>
              </a:p>
            </p:txBody>
          </p:sp>
          <p:sp>
            <p:nvSpPr>
              <p:cNvPr id="69" name="직사각형 68"/>
              <p:cNvSpPr/>
              <p:nvPr/>
            </p:nvSpPr>
            <p:spPr>
              <a:xfrm>
                <a:off x="1663048" y="4641067"/>
                <a:ext cx="497252" cy="3564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ko-KR" sz="2000" b="1">
                    <a:latin typeface="+mj-ea"/>
                    <a:ea typeface="+mj-ea"/>
                  </a:rPr>
                  <a:t>⑦</a:t>
                </a:r>
                <a:r>
                  <a:rPr lang="en-US" altLang="ko-KR" sz="2000" b="1" smtClean="0">
                    <a:latin typeface="+mj-ea"/>
                    <a:ea typeface="+mj-ea"/>
                  </a:rPr>
                  <a:t> </a:t>
                </a:r>
                <a:endParaRPr lang="ko-KR" altLang="en-US" sz="2000">
                  <a:latin typeface="+mj-ea"/>
                  <a:ea typeface="+mj-ea"/>
                </a:endParaRPr>
              </a:p>
            </p:txBody>
          </p:sp>
          <p:sp>
            <p:nvSpPr>
              <p:cNvPr id="70" name="직사각형 69"/>
              <p:cNvSpPr/>
              <p:nvPr/>
            </p:nvSpPr>
            <p:spPr>
              <a:xfrm>
                <a:off x="1659410" y="3505428"/>
                <a:ext cx="392988" cy="3564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2000" b="1" smtClean="0">
                    <a:latin typeface="+mj-ea"/>
                    <a:ea typeface="+mj-ea"/>
                  </a:rPr>
                  <a:t>⑤</a:t>
                </a:r>
                <a:endParaRPr lang="ko-KR" altLang="en-US" sz="2000">
                  <a:latin typeface="+mj-ea"/>
                  <a:ea typeface="+mj-ea"/>
                </a:endParaRPr>
              </a:p>
            </p:txBody>
          </p:sp>
          <p:sp>
            <p:nvSpPr>
              <p:cNvPr id="71" name="직사각형 70"/>
              <p:cNvSpPr/>
              <p:nvPr/>
            </p:nvSpPr>
            <p:spPr>
              <a:xfrm>
                <a:off x="1663048" y="5198504"/>
                <a:ext cx="497252" cy="3564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ko-KR" sz="2000" b="1" smtClean="0">
                    <a:latin typeface="+mj-ea"/>
                    <a:ea typeface="+mj-ea"/>
                  </a:rPr>
                  <a:t>⑧ </a:t>
                </a:r>
                <a:endParaRPr lang="ko-KR" altLang="en-US" sz="2000">
                  <a:latin typeface="+mj-ea"/>
                  <a:ea typeface="+mj-ea"/>
                </a:endParaRPr>
              </a:p>
            </p:txBody>
          </p:sp>
        </p:grpSp>
        <p:sp>
          <p:nvSpPr>
            <p:cNvPr id="72" name="TextBox 71"/>
            <p:cNvSpPr txBox="1"/>
            <p:nvPr/>
          </p:nvSpPr>
          <p:spPr>
            <a:xfrm>
              <a:off x="2647879" y="1546863"/>
              <a:ext cx="1552533" cy="2261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smtClean="0">
                  <a:latin typeface="+mj-ea"/>
                  <a:ea typeface="+mj-ea"/>
                </a:rPr>
                <a:t>주문 수신</a:t>
              </a:r>
              <a:r>
                <a:rPr lang="en-US" altLang="ko-KR" sz="1050" smtClean="0">
                  <a:latin typeface="+mj-ea"/>
                  <a:ea typeface="+mj-ea"/>
                </a:rPr>
                <a:t>( /place_target)</a:t>
              </a:r>
              <a:endParaRPr lang="ko-KR" altLang="en-US" sz="1050">
                <a:latin typeface="+mj-ea"/>
                <a:ea typeface="+mj-ea"/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2648474" y="2134489"/>
              <a:ext cx="1578237" cy="2261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smtClean="0">
                  <a:latin typeface="+mj-ea"/>
                  <a:ea typeface="+mj-ea"/>
                </a:rPr>
                <a:t>랙 도착</a:t>
              </a:r>
              <a:r>
                <a:rPr lang="en-US" altLang="ko-KR" sz="1050" smtClean="0">
                  <a:latin typeface="+mj-ea"/>
                  <a:ea typeface="+mj-ea"/>
                </a:rPr>
                <a:t>( /arrived_objects)</a:t>
              </a:r>
              <a:endParaRPr lang="ko-KR" altLang="en-US" sz="1050">
                <a:latin typeface="+mj-ea"/>
                <a:ea typeface="+mj-ea"/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2649069" y="3250058"/>
              <a:ext cx="1231231" cy="2261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smtClean="0">
                  <a:latin typeface="+mj-ea"/>
                  <a:ea typeface="+mj-ea"/>
                </a:rPr>
                <a:t>피킹 완료</a:t>
              </a:r>
              <a:r>
                <a:rPr lang="en-US" altLang="ko-KR" sz="1050" smtClean="0">
                  <a:latin typeface="+mj-ea"/>
                  <a:ea typeface="+mj-ea"/>
                </a:rPr>
                <a:t>( /picked)</a:t>
              </a:r>
              <a:endParaRPr lang="ko-KR" altLang="en-US" sz="1050">
                <a:latin typeface="+mj-ea"/>
                <a:ea typeface="+mj-ea"/>
              </a:endParaRP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2649069" y="3814969"/>
              <a:ext cx="1239799" cy="2261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smtClean="0">
                  <a:latin typeface="+mj-ea"/>
                  <a:ea typeface="+mj-ea"/>
                </a:rPr>
                <a:t>구역 도착</a:t>
              </a:r>
              <a:r>
                <a:rPr lang="en-US" altLang="ko-KR" sz="1050" smtClean="0">
                  <a:latin typeface="+mj-ea"/>
                  <a:ea typeface="+mj-ea"/>
                </a:rPr>
                <a:t>( /arrived)</a:t>
              </a:r>
              <a:endParaRPr lang="ko-KR" altLang="en-US" sz="1050">
                <a:latin typeface="+mj-ea"/>
                <a:ea typeface="+mj-ea"/>
              </a:endParaRP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2649664" y="4376736"/>
              <a:ext cx="1995217" cy="2261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smtClean="0">
                  <a:latin typeface="+mj-ea"/>
                  <a:ea typeface="+mj-ea"/>
                </a:rPr>
                <a:t>QR </a:t>
              </a:r>
              <a:r>
                <a:rPr lang="ko-KR" altLang="en-US" sz="1050" smtClean="0">
                  <a:latin typeface="+mj-ea"/>
                  <a:ea typeface="+mj-ea"/>
                </a:rPr>
                <a:t>기반 좌표 수신</a:t>
              </a:r>
              <a:r>
                <a:rPr lang="en-US" altLang="ko-KR" sz="1050" smtClean="0">
                  <a:latin typeface="+mj-ea"/>
                  <a:ea typeface="+mj-ea"/>
                </a:rPr>
                <a:t>( /place_pose)</a:t>
              </a:r>
              <a:endParaRPr lang="ko-KR" altLang="en-US" sz="1050">
                <a:latin typeface="+mj-ea"/>
                <a:ea typeface="+mj-ea"/>
              </a:endParaRP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2649664" y="4956397"/>
              <a:ext cx="1234088" cy="2261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1050" smtClean="0">
                  <a:latin typeface="+mj-ea"/>
                  <a:ea typeface="+mj-ea"/>
                </a:rPr>
                <a:t>배치 완료</a:t>
              </a:r>
              <a:r>
                <a:rPr lang="en-US" altLang="ko-KR" sz="1050" smtClean="0">
                  <a:latin typeface="+mj-ea"/>
                  <a:ea typeface="+mj-ea"/>
                </a:rPr>
                <a:t>( /placed)</a:t>
              </a:r>
              <a:endParaRPr lang="ko-KR" altLang="en-US" sz="1050">
                <a:latin typeface="+mj-ea"/>
                <a:ea typeface="+mj-ea"/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2650259" y="5518164"/>
              <a:ext cx="1246939" cy="2261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smtClean="0">
                  <a:latin typeface="+mj-ea"/>
                  <a:ea typeface="+mj-ea"/>
                </a:rPr>
                <a:t>주차</a:t>
              </a:r>
              <a:r>
                <a:rPr lang="en-US" altLang="ko-KR" sz="1050" smtClean="0">
                  <a:latin typeface="+mj-ea"/>
                  <a:ea typeface="+mj-ea"/>
                </a:rPr>
                <a:t> </a:t>
              </a:r>
              <a:r>
                <a:rPr lang="ko-KR" altLang="en-US" sz="1050" smtClean="0">
                  <a:latin typeface="+mj-ea"/>
                  <a:ea typeface="+mj-ea"/>
                </a:rPr>
                <a:t>완료</a:t>
              </a:r>
              <a:r>
                <a:rPr lang="en-US" altLang="ko-KR" sz="1050" smtClean="0">
                  <a:latin typeface="+mj-ea"/>
                  <a:ea typeface="+mj-ea"/>
                </a:rPr>
                <a:t>( /parked)</a:t>
              </a:r>
              <a:endParaRPr lang="ko-KR" altLang="en-US" sz="1050">
                <a:latin typeface="+mj-ea"/>
                <a:ea typeface="+mj-ea"/>
              </a:endParaRP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2648474" y="2688291"/>
              <a:ext cx="1669630" cy="2261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smtClean="0">
                  <a:latin typeface="+mj-ea"/>
                  <a:ea typeface="+mj-ea"/>
                </a:rPr>
                <a:t>블록 좌표 수신</a:t>
              </a:r>
              <a:r>
                <a:rPr lang="en-US" altLang="ko-KR" sz="1050" smtClean="0">
                  <a:latin typeface="+mj-ea"/>
                  <a:ea typeface="+mj-ea"/>
                </a:rPr>
                <a:t>( /box_pose)</a:t>
              </a:r>
              <a:endParaRPr lang="ko-KR" altLang="en-US" sz="1050">
                <a:latin typeface="+mj-ea"/>
                <a:ea typeface="+mj-ea"/>
              </a:endParaRPr>
            </a:p>
          </p:txBody>
        </p:sp>
      </p:grpSp>
      <p:grpSp>
        <p:nvGrpSpPr>
          <p:cNvPr id="112" name="그룹 111"/>
          <p:cNvGrpSpPr/>
          <p:nvPr/>
        </p:nvGrpSpPr>
        <p:grpSpPr>
          <a:xfrm>
            <a:off x="223214" y="2216673"/>
            <a:ext cx="2557500" cy="1361770"/>
            <a:chOff x="380370" y="2778430"/>
            <a:chExt cx="2557500" cy="1361770"/>
          </a:xfrm>
        </p:grpSpPr>
        <p:sp>
          <p:nvSpPr>
            <p:cNvPr id="104" name="모서리가 둥근 직사각형 103"/>
            <p:cNvSpPr/>
            <p:nvPr/>
          </p:nvSpPr>
          <p:spPr>
            <a:xfrm>
              <a:off x="380370" y="2778430"/>
              <a:ext cx="2557500" cy="1361770"/>
            </a:xfrm>
            <a:prstGeom prst="roundRect">
              <a:avLst>
                <a:gd name="adj" fmla="val 7571"/>
              </a:avLst>
            </a:prstGeom>
            <a:solidFill>
              <a:srgbClr val="150910"/>
            </a:solidFill>
            <a:ln w="19050">
              <a:solidFill>
                <a:srgbClr val="EF3A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1400" b="1">
                <a:latin typeface="+mj-ea"/>
                <a:ea typeface="+mj-ea"/>
              </a:endParaRP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802431" y="2878608"/>
              <a:ext cx="205165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 smtClean="0">
                  <a:solidFill>
                    <a:srgbClr val="EF3A34"/>
                  </a:solidFill>
                  <a:latin typeface="+mj-ea"/>
                  <a:ea typeface="+mj-ea"/>
                </a:rPr>
                <a:t>EMERGENCY_STOP</a:t>
              </a:r>
              <a:endParaRPr lang="ko-KR" altLang="en-US" sz="1600" b="1">
                <a:solidFill>
                  <a:srgbClr val="EF3A34"/>
                </a:solidFill>
                <a:latin typeface="+mj-ea"/>
                <a:ea typeface="+mj-ea"/>
              </a:endParaRPr>
            </a:p>
          </p:txBody>
        </p:sp>
        <p:cxnSp>
          <p:nvCxnSpPr>
            <p:cNvPr id="108" name="직선 연결선 107"/>
            <p:cNvCxnSpPr/>
            <p:nvPr/>
          </p:nvCxnSpPr>
          <p:spPr>
            <a:xfrm>
              <a:off x="802431" y="3246843"/>
              <a:ext cx="1979667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/>
            <p:cNvSpPr txBox="1"/>
            <p:nvPr/>
          </p:nvSpPr>
          <p:spPr>
            <a:xfrm>
              <a:off x="468272" y="3327035"/>
              <a:ext cx="2350016" cy="7232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1200" smtClean="0">
                  <a:solidFill>
                    <a:schemeClr val="bg1"/>
                  </a:solidFill>
                  <a:latin typeface="+mj-ea"/>
                  <a:ea typeface="+mj-ea"/>
                </a:rPr>
                <a:t>모든 콜백은 처리 전 비상정지 여부 먼저 확인</a:t>
              </a:r>
              <a:endParaRPr lang="en-US" altLang="ko-KR" sz="1200" smtClean="0">
                <a:solidFill>
                  <a:schemeClr val="bg1"/>
                </a:solidFill>
                <a:latin typeface="+mj-ea"/>
                <a:ea typeface="+mj-ea"/>
              </a:endParaRPr>
            </a:p>
            <a:p>
              <a:endParaRPr lang="en-US" altLang="ko-KR" sz="500" smtClean="0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200" smtClean="0">
                  <a:solidFill>
                    <a:schemeClr val="bg1"/>
                  </a:solidFill>
                  <a:latin typeface="+mj-ea"/>
                  <a:ea typeface="+mj-ea"/>
                </a:rPr>
                <a:t>reset </a:t>
              </a:r>
              <a:r>
                <a:rPr lang="ko-KR" altLang="en-US" sz="1200" smtClean="0">
                  <a:solidFill>
                    <a:schemeClr val="bg1"/>
                  </a:solidFill>
                  <a:latin typeface="+mj-ea"/>
                  <a:ea typeface="+mj-ea"/>
                </a:rPr>
                <a:t>수신 시 </a:t>
              </a:r>
              <a:r>
                <a:rPr lang="en-US" altLang="ko-KR" sz="1200" smtClean="0">
                  <a:solidFill>
                    <a:schemeClr val="bg1"/>
                  </a:solidFill>
                  <a:latin typeface="+mj-ea"/>
                  <a:ea typeface="+mj-ea"/>
                </a:rPr>
                <a:t>IDLE</a:t>
              </a:r>
              <a:r>
                <a:rPr lang="ko-KR" altLang="en-US" sz="1200" smtClean="0">
                  <a:solidFill>
                    <a:schemeClr val="bg1"/>
                  </a:solidFill>
                  <a:latin typeface="+mj-ea"/>
                  <a:ea typeface="+mj-ea"/>
                </a:rPr>
                <a:t>로 복귀</a:t>
              </a:r>
              <a:endParaRPr lang="ko-KR" altLang="en-US" sz="120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pic>
          <p:nvPicPr>
            <p:cNvPr id="111" name="그림 110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53" t="38254" r="91137" b="52791"/>
            <a:stretch/>
          </p:blipFill>
          <p:spPr>
            <a:xfrm>
              <a:off x="494178" y="2860478"/>
              <a:ext cx="364700" cy="352125"/>
            </a:xfrm>
            <a:prstGeom prst="rect">
              <a:avLst/>
            </a:prstGeom>
            <a:solidFill>
              <a:srgbClr val="081A30"/>
            </a:solidFill>
          </p:spPr>
        </p:pic>
      </p:grpSp>
      <p:cxnSp>
        <p:nvCxnSpPr>
          <p:cNvPr id="114" name="직선 화살표 연결선 113"/>
          <p:cNvCxnSpPr>
            <a:endCxn id="23" idx="3"/>
          </p:cNvCxnSpPr>
          <p:nvPr/>
        </p:nvCxnSpPr>
        <p:spPr>
          <a:xfrm flipH="1">
            <a:off x="7264434" y="1765702"/>
            <a:ext cx="1389857" cy="1086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9" name="그룹 128"/>
          <p:cNvGrpSpPr/>
          <p:nvPr/>
        </p:nvGrpSpPr>
        <p:grpSpPr>
          <a:xfrm>
            <a:off x="8584349" y="1519833"/>
            <a:ext cx="2931802" cy="1056723"/>
            <a:chOff x="8699171" y="1296312"/>
            <a:chExt cx="2931802" cy="1056723"/>
          </a:xfrm>
        </p:grpSpPr>
        <p:grpSp>
          <p:nvGrpSpPr>
            <p:cNvPr id="117" name="그룹 116"/>
            <p:cNvGrpSpPr/>
            <p:nvPr/>
          </p:nvGrpSpPr>
          <p:grpSpPr>
            <a:xfrm>
              <a:off x="8699171" y="1296312"/>
              <a:ext cx="2931802" cy="1056723"/>
              <a:chOff x="380370" y="2778430"/>
              <a:chExt cx="2931802" cy="1056723"/>
            </a:xfrm>
          </p:grpSpPr>
          <p:sp>
            <p:nvSpPr>
              <p:cNvPr id="118" name="모서리가 둥근 직사각형 117"/>
              <p:cNvSpPr/>
              <p:nvPr/>
            </p:nvSpPr>
            <p:spPr>
              <a:xfrm>
                <a:off x="380370" y="2778430"/>
                <a:ext cx="2842622" cy="1056723"/>
              </a:xfrm>
              <a:prstGeom prst="roundRect">
                <a:avLst>
                  <a:gd name="adj" fmla="val 7571"/>
                </a:avLst>
              </a:prstGeom>
              <a:solidFill>
                <a:srgbClr val="09182C"/>
              </a:solidFill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sz="1400" b="1">
                  <a:latin typeface="+mj-ea"/>
                  <a:ea typeface="+mj-ea"/>
                </a:endParaRPr>
              </a:p>
            </p:txBody>
          </p:sp>
          <p:sp>
            <p:nvSpPr>
              <p:cNvPr id="119" name="TextBox 118"/>
              <p:cNvSpPr txBox="1"/>
              <p:nvPr/>
            </p:nvSpPr>
            <p:spPr>
              <a:xfrm>
                <a:off x="1415820" y="2850918"/>
                <a:ext cx="145802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600" b="1" smtClean="0">
                    <a:solidFill>
                      <a:schemeClr val="accent5">
                        <a:lumMod val="75000"/>
                      </a:schemeClr>
                    </a:solidFill>
                    <a:latin typeface="+mj-ea"/>
                    <a:ea typeface="+mj-ea"/>
                  </a:rPr>
                  <a:t>Order Queue</a:t>
                </a:r>
                <a:endParaRPr lang="ko-KR" altLang="en-US" sz="1600" b="1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1" name="TextBox 120"/>
              <p:cNvSpPr txBox="1"/>
              <p:nvPr/>
            </p:nvSpPr>
            <p:spPr>
              <a:xfrm>
                <a:off x="1415820" y="3235385"/>
                <a:ext cx="189635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200" smtClean="0">
                    <a:solidFill>
                      <a:schemeClr val="bg1"/>
                    </a:solidFill>
                    <a:latin typeface="+mj-ea"/>
                    <a:ea typeface="+mj-ea"/>
                  </a:rPr>
                  <a:t>작업 중 들어온 주문은</a:t>
                </a:r>
                <a:endParaRPr lang="en-US" altLang="ko-KR" sz="1200" smtClean="0">
                  <a:solidFill>
                    <a:schemeClr val="bg1"/>
                  </a:solidFill>
                  <a:latin typeface="+mj-ea"/>
                  <a:ea typeface="+mj-ea"/>
                </a:endParaRPr>
              </a:p>
              <a:p>
                <a:endParaRPr lang="en-US" altLang="ko-KR" sz="400" smtClean="0">
                  <a:solidFill>
                    <a:schemeClr val="bg1"/>
                  </a:solidFill>
                  <a:latin typeface="+mj-ea"/>
                  <a:ea typeface="+mj-ea"/>
                </a:endParaRPr>
              </a:p>
              <a:p>
                <a:r>
                  <a:rPr lang="ko-KR" altLang="en-US" sz="1200" smtClean="0">
                    <a:solidFill>
                      <a:schemeClr val="bg1"/>
                    </a:solidFill>
                    <a:latin typeface="+mj-ea"/>
                    <a:ea typeface="+mj-ea"/>
                  </a:rPr>
                  <a:t>큐에 저장 후 순차 처리</a:t>
                </a:r>
                <a:endParaRPr lang="en-US" altLang="ko-KR" sz="1200" smtClean="0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cxnSp>
          <p:nvCxnSpPr>
            <p:cNvPr id="124" name="직선 연결선 123"/>
            <p:cNvCxnSpPr/>
            <p:nvPr/>
          </p:nvCxnSpPr>
          <p:spPr>
            <a:xfrm>
              <a:off x="9620321" y="1378360"/>
              <a:ext cx="0" cy="9076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8" name="그림 127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524" t="13209" r="21278" b="74957"/>
            <a:stretch/>
          </p:blipFill>
          <p:spPr>
            <a:xfrm>
              <a:off x="8831478" y="1492306"/>
              <a:ext cx="657225" cy="704850"/>
            </a:xfrm>
            <a:prstGeom prst="rect">
              <a:avLst/>
            </a:prstGeom>
            <a:solidFill>
              <a:srgbClr val="081A30"/>
            </a:solidFill>
          </p:spPr>
        </p:pic>
      </p:grpSp>
      <p:grpSp>
        <p:nvGrpSpPr>
          <p:cNvPr id="142" name="그룹 141"/>
          <p:cNvGrpSpPr/>
          <p:nvPr/>
        </p:nvGrpSpPr>
        <p:grpSpPr>
          <a:xfrm>
            <a:off x="8725722" y="3258513"/>
            <a:ext cx="2842622" cy="1131008"/>
            <a:chOff x="8059879" y="2704493"/>
            <a:chExt cx="2842622" cy="1131008"/>
          </a:xfrm>
        </p:grpSpPr>
        <p:grpSp>
          <p:nvGrpSpPr>
            <p:cNvPr id="130" name="그룹 129"/>
            <p:cNvGrpSpPr/>
            <p:nvPr/>
          </p:nvGrpSpPr>
          <p:grpSpPr>
            <a:xfrm>
              <a:off x="8059879" y="2704493"/>
              <a:ext cx="2842622" cy="1131008"/>
              <a:chOff x="8699171" y="1296312"/>
              <a:chExt cx="2842622" cy="1131008"/>
            </a:xfrm>
          </p:grpSpPr>
          <p:grpSp>
            <p:nvGrpSpPr>
              <p:cNvPr id="131" name="그룹 130"/>
              <p:cNvGrpSpPr/>
              <p:nvPr/>
            </p:nvGrpSpPr>
            <p:grpSpPr>
              <a:xfrm>
                <a:off x="8699171" y="1296312"/>
                <a:ext cx="2842622" cy="1131008"/>
                <a:chOff x="380370" y="2778430"/>
                <a:chExt cx="2842622" cy="1131008"/>
              </a:xfrm>
            </p:grpSpPr>
            <p:sp>
              <p:nvSpPr>
                <p:cNvPr id="134" name="모서리가 둥근 직사각형 133"/>
                <p:cNvSpPr/>
                <p:nvPr/>
              </p:nvSpPr>
              <p:spPr>
                <a:xfrm>
                  <a:off x="380370" y="2778430"/>
                  <a:ext cx="2842622" cy="1131008"/>
                </a:xfrm>
                <a:prstGeom prst="roundRect">
                  <a:avLst>
                    <a:gd name="adj" fmla="val 7571"/>
                  </a:avLst>
                </a:prstGeom>
                <a:solidFill>
                  <a:srgbClr val="1D0F0F"/>
                </a:solidFill>
                <a:ln w="19050">
                  <a:solidFill>
                    <a:srgbClr val="F8934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sz="1400" b="1">
                    <a:latin typeface="+mj-ea"/>
                    <a:ea typeface="+mj-ea"/>
                  </a:endParaRPr>
                </a:p>
              </p:txBody>
            </p:sp>
            <p:sp>
              <p:nvSpPr>
                <p:cNvPr id="135" name="TextBox 134"/>
                <p:cNvSpPr txBox="1"/>
                <p:nvPr/>
              </p:nvSpPr>
              <p:spPr>
                <a:xfrm>
                  <a:off x="1212826" y="2850918"/>
                  <a:ext cx="183646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600" b="1" smtClean="0">
                      <a:solidFill>
                        <a:srgbClr val="F89345"/>
                      </a:solidFill>
                      <a:latin typeface="+mj-ea"/>
                      <a:ea typeface="+mj-ea"/>
                    </a:rPr>
                    <a:t>Timeout / RETRY</a:t>
                  </a:r>
                  <a:endParaRPr lang="ko-KR" altLang="en-US" sz="1600" b="1">
                    <a:solidFill>
                      <a:srgbClr val="F89345"/>
                    </a:solidFill>
                    <a:latin typeface="+mj-ea"/>
                    <a:ea typeface="+mj-ea"/>
                  </a:endParaRPr>
                </a:p>
              </p:txBody>
            </p:sp>
            <p:sp>
              <p:nvSpPr>
                <p:cNvPr id="136" name="TextBox 135"/>
                <p:cNvSpPr txBox="1"/>
                <p:nvPr/>
              </p:nvSpPr>
              <p:spPr>
                <a:xfrm>
                  <a:off x="1225560" y="3228720"/>
                  <a:ext cx="189635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1200" smtClean="0">
                      <a:solidFill>
                        <a:schemeClr val="bg1"/>
                      </a:solidFill>
                      <a:latin typeface="+mj-ea"/>
                      <a:ea typeface="+mj-ea"/>
                    </a:rPr>
                    <a:t>로봇팔의 </a:t>
                  </a:r>
                  <a:r>
                    <a:rPr lang="en-US" altLang="ko-KR" sz="1200" smtClean="0">
                      <a:solidFill>
                        <a:schemeClr val="bg1"/>
                      </a:solidFill>
                      <a:latin typeface="+mj-ea"/>
                      <a:ea typeface="+mj-ea"/>
                    </a:rPr>
                    <a:t>/pick_failed</a:t>
                  </a:r>
                  <a:r>
                    <a:rPr lang="ko-KR" altLang="en-US" sz="1200" smtClean="0">
                      <a:solidFill>
                        <a:schemeClr val="bg1"/>
                      </a:solidFill>
                      <a:latin typeface="+mj-ea"/>
                      <a:ea typeface="+mj-ea"/>
                    </a:rPr>
                    <a:t>를 받으면 </a:t>
                  </a:r>
                  <a:r>
                    <a:rPr lang="en-US" altLang="ko-KR" sz="1200" smtClean="0">
                      <a:solidFill>
                        <a:schemeClr val="bg1"/>
                      </a:solidFill>
                      <a:latin typeface="+mj-ea"/>
                      <a:ea typeface="+mj-ea"/>
                    </a:rPr>
                    <a:t>3</a:t>
                  </a:r>
                  <a:r>
                    <a:rPr lang="ko-KR" altLang="en-US" sz="1200" smtClean="0">
                      <a:solidFill>
                        <a:schemeClr val="bg1"/>
                      </a:solidFill>
                      <a:latin typeface="+mj-ea"/>
                      <a:ea typeface="+mj-ea"/>
                    </a:rPr>
                    <a:t>번 파지 재시도</a:t>
                  </a:r>
                  <a:endParaRPr lang="en-US" altLang="ko-KR" sz="1200" smtClean="0">
                    <a:solidFill>
                      <a:schemeClr val="bg1"/>
                    </a:solidFill>
                    <a:latin typeface="+mj-ea"/>
                    <a:ea typeface="+mj-ea"/>
                  </a:endParaRPr>
                </a:p>
              </p:txBody>
            </p:sp>
          </p:grpSp>
          <p:cxnSp>
            <p:nvCxnSpPr>
              <p:cNvPr id="132" name="직선 연결선 131"/>
              <p:cNvCxnSpPr/>
              <p:nvPr/>
            </p:nvCxnSpPr>
            <p:spPr>
              <a:xfrm flipH="1">
                <a:off x="9604508" y="1707354"/>
                <a:ext cx="1763584" cy="0"/>
              </a:xfrm>
              <a:prstGeom prst="line">
                <a:avLst/>
              </a:prstGeom>
              <a:ln>
                <a:solidFill>
                  <a:srgbClr val="F8934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38" name="그림 137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651" t="39616" r="20600" b="50683"/>
            <a:stretch/>
          </p:blipFill>
          <p:spPr>
            <a:xfrm>
              <a:off x="8143698" y="2830555"/>
              <a:ext cx="659372" cy="625029"/>
            </a:xfrm>
            <a:prstGeom prst="rect">
              <a:avLst/>
            </a:prstGeom>
            <a:solidFill>
              <a:srgbClr val="081A30"/>
            </a:solidFill>
          </p:spPr>
        </p:pic>
      </p:grpSp>
      <p:grpSp>
        <p:nvGrpSpPr>
          <p:cNvPr id="159" name="그룹 158"/>
          <p:cNvGrpSpPr/>
          <p:nvPr/>
        </p:nvGrpSpPr>
        <p:grpSpPr>
          <a:xfrm>
            <a:off x="8209820" y="4947148"/>
            <a:ext cx="3903606" cy="1176709"/>
            <a:chOff x="7727367" y="4469084"/>
            <a:chExt cx="3903606" cy="1176709"/>
          </a:xfrm>
        </p:grpSpPr>
        <p:grpSp>
          <p:nvGrpSpPr>
            <p:cNvPr id="152" name="그룹 151"/>
            <p:cNvGrpSpPr/>
            <p:nvPr/>
          </p:nvGrpSpPr>
          <p:grpSpPr>
            <a:xfrm>
              <a:off x="7727367" y="4469084"/>
              <a:ext cx="3903606" cy="1176709"/>
              <a:chOff x="8790199" y="1296312"/>
              <a:chExt cx="3903606" cy="1176709"/>
            </a:xfrm>
          </p:grpSpPr>
          <p:grpSp>
            <p:nvGrpSpPr>
              <p:cNvPr id="153" name="그룹 152"/>
              <p:cNvGrpSpPr/>
              <p:nvPr/>
            </p:nvGrpSpPr>
            <p:grpSpPr>
              <a:xfrm>
                <a:off x="8790199" y="1296312"/>
                <a:ext cx="3903606" cy="1176709"/>
                <a:chOff x="471398" y="2778430"/>
                <a:chExt cx="3903606" cy="1176709"/>
              </a:xfrm>
            </p:grpSpPr>
            <p:sp>
              <p:nvSpPr>
                <p:cNvPr id="156" name="모서리가 둥근 직사각형 155"/>
                <p:cNvSpPr/>
                <p:nvPr/>
              </p:nvSpPr>
              <p:spPr>
                <a:xfrm>
                  <a:off x="471398" y="2778430"/>
                  <a:ext cx="3814425" cy="1176709"/>
                </a:xfrm>
                <a:prstGeom prst="roundRect">
                  <a:avLst>
                    <a:gd name="adj" fmla="val 7571"/>
                  </a:avLst>
                </a:prstGeom>
                <a:solidFill>
                  <a:srgbClr val="09182C"/>
                </a:solidFill>
                <a:ln w="1905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sz="1400" b="1">
                    <a:latin typeface="+mj-ea"/>
                    <a:ea typeface="+mj-ea"/>
                  </a:endParaRPr>
                </a:p>
              </p:txBody>
            </p:sp>
            <p:sp>
              <p:nvSpPr>
                <p:cNvPr id="157" name="TextBox 156"/>
                <p:cNvSpPr txBox="1"/>
                <p:nvPr/>
              </p:nvSpPr>
              <p:spPr>
                <a:xfrm>
                  <a:off x="1415820" y="2850918"/>
                  <a:ext cx="135524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600" b="1" smtClean="0">
                      <a:solidFill>
                        <a:schemeClr val="accent5"/>
                      </a:solidFill>
                      <a:latin typeface="+mj-ea"/>
                      <a:ea typeface="+mj-ea"/>
                    </a:rPr>
                    <a:t>State Guard</a:t>
                  </a:r>
                  <a:endParaRPr lang="ko-KR" altLang="en-US" sz="1600" b="1">
                    <a:solidFill>
                      <a:schemeClr val="accent5"/>
                    </a:solidFill>
                    <a:latin typeface="+mj-ea"/>
                    <a:ea typeface="+mj-ea"/>
                  </a:endParaRPr>
                </a:p>
              </p:txBody>
            </p:sp>
            <p:sp>
              <p:nvSpPr>
                <p:cNvPr id="158" name="TextBox 157"/>
                <p:cNvSpPr txBox="1"/>
                <p:nvPr/>
              </p:nvSpPr>
              <p:spPr>
                <a:xfrm>
                  <a:off x="1415820" y="3235385"/>
                  <a:ext cx="2959184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71450" indent="-171450">
                    <a:buFont typeface="Arial" panose="020B0604020202020204" pitchFamily="34" charset="0"/>
                    <a:buChar char="•"/>
                  </a:pPr>
                  <a:r>
                    <a:rPr lang="ko-KR" altLang="en-US" sz="1200" smtClean="0">
                      <a:solidFill>
                        <a:schemeClr val="bg1"/>
                      </a:solidFill>
                      <a:latin typeface="+mj-ea"/>
                      <a:ea typeface="+mj-ea"/>
                    </a:rPr>
                    <a:t>현재 상태에서 허용된 </a:t>
                  </a:r>
                  <a:r>
                    <a:rPr lang="en-US" altLang="ko-KR" sz="1200" smtClean="0">
                      <a:solidFill>
                        <a:schemeClr val="bg1"/>
                      </a:solidFill>
                      <a:latin typeface="+mj-ea"/>
                      <a:ea typeface="+mj-ea"/>
                    </a:rPr>
                    <a:t>Topic</a:t>
                  </a:r>
                  <a:r>
                    <a:rPr lang="ko-KR" altLang="en-US" sz="1200" smtClean="0">
                      <a:solidFill>
                        <a:schemeClr val="bg1"/>
                      </a:solidFill>
                      <a:latin typeface="+mj-ea"/>
                      <a:ea typeface="+mj-ea"/>
                    </a:rPr>
                    <a:t>만 수신</a:t>
                  </a:r>
                  <a:endParaRPr lang="en-US" altLang="ko-KR" sz="1200" smtClean="0">
                    <a:solidFill>
                      <a:schemeClr val="bg1"/>
                    </a:solidFill>
                    <a:latin typeface="+mj-ea"/>
                    <a:ea typeface="+mj-ea"/>
                  </a:endParaRPr>
                </a:p>
                <a:p>
                  <a:endParaRPr lang="en-US" altLang="ko-KR" sz="400" smtClean="0">
                    <a:solidFill>
                      <a:schemeClr val="bg1"/>
                    </a:solidFill>
                    <a:latin typeface="+mj-ea"/>
                    <a:ea typeface="+mj-ea"/>
                  </a:endParaRPr>
                </a:p>
                <a:p>
                  <a:pPr marL="171450" indent="-171450">
                    <a:buFont typeface="Arial" panose="020B0604020202020204" pitchFamily="34" charset="0"/>
                    <a:buChar char="•"/>
                  </a:pPr>
                  <a:r>
                    <a:rPr lang="ko-KR" altLang="en-US" sz="1200" smtClean="0">
                      <a:solidFill>
                        <a:schemeClr val="bg1"/>
                      </a:solidFill>
                      <a:latin typeface="+mj-ea"/>
                      <a:ea typeface="+mj-ea"/>
                    </a:rPr>
                    <a:t>그 외 신호는 경고 로그 후 폐기</a:t>
                  </a:r>
                  <a:endParaRPr lang="en-US" altLang="ko-KR" sz="1200" smtClean="0">
                    <a:solidFill>
                      <a:schemeClr val="bg1"/>
                    </a:solidFill>
                    <a:latin typeface="+mj-ea"/>
                    <a:ea typeface="+mj-ea"/>
                  </a:endParaRPr>
                </a:p>
              </p:txBody>
            </p:sp>
          </p:grpSp>
          <p:cxnSp>
            <p:nvCxnSpPr>
              <p:cNvPr id="154" name="직선 연결선 153"/>
              <p:cNvCxnSpPr/>
              <p:nvPr/>
            </p:nvCxnSpPr>
            <p:spPr>
              <a:xfrm>
                <a:off x="9620321" y="1378360"/>
                <a:ext cx="0" cy="9076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43" name="그림 142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9047" t="63677" r="25204" b="22678"/>
            <a:stretch/>
          </p:blipFill>
          <p:spPr>
            <a:xfrm>
              <a:off x="7791329" y="4591045"/>
              <a:ext cx="609600" cy="812800"/>
            </a:xfrm>
            <a:prstGeom prst="rect">
              <a:avLst/>
            </a:prstGeom>
            <a:solidFill>
              <a:srgbClr val="081A30"/>
            </a:solidFill>
          </p:spPr>
        </p:pic>
      </p:grpSp>
      <p:cxnSp>
        <p:nvCxnSpPr>
          <p:cNvPr id="160" name="직선 화살표 연결선 159"/>
          <p:cNvCxnSpPr>
            <a:stCxn id="27" idx="3"/>
          </p:cNvCxnSpPr>
          <p:nvPr/>
        </p:nvCxnSpPr>
        <p:spPr>
          <a:xfrm flipV="1">
            <a:off x="7264434" y="3682577"/>
            <a:ext cx="1312265" cy="1477"/>
          </a:xfrm>
          <a:prstGeom prst="straightConnector1">
            <a:avLst/>
          </a:prstGeom>
          <a:ln w="28575">
            <a:solidFill>
              <a:srgbClr val="F8934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직사각형 162"/>
          <p:cNvSpPr/>
          <p:nvPr/>
        </p:nvSpPr>
        <p:spPr>
          <a:xfrm>
            <a:off x="6921071" y="3628351"/>
            <a:ext cx="1466485" cy="406603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smtClean="0">
                <a:solidFill>
                  <a:schemeClr val="tx1"/>
                </a:solidFill>
                <a:latin typeface="+mj-ea"/>
                <a:ea typeface="+mj-ea"/>
              </a:rPr>
              <a:t>         /pick_failed</a:t>
            </a:r>
            <a:endParaRPr lang="ko-KR" altLang="en-US" sz="1200">
              <a:solidFill>
                <a:schemeClr val="tx1"/>
              </a:solidFill>
              <a:latin typeface="+mj-ea"/>
              <a:ea typeface="+mj-ea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206707" y="3770571"/>
            <a:ext cx="2597982" cy="1361770"/>
            <a:chOff x="195071" y="3960306"/>
            <a:chExt cx="2597982" cy="1361770"/>
          </a:xfrm>
        </p:grpSpPr>
        <p:grpSp>
          <p:nvGrpSpPr>
            <p:cNvPr id="75" name="그룹 74"/>
            <p:cNvGrpSpPr/>
            <p:nvPr/>
          </p:nvGrpSpPr>
          <p:grpSpPr>
            <a:xfrm>
              <a:off x="195071" y="3960306"/>
              <a:ext cx="2597982" cy="1361770"/>
              <a:chOff x="380370" y="2778430"/>
              <a:chExt cx="2597982" cy="1361770"/>
            </a:xfrm>
          </p:grpSpPr>
          <p:sp>
            <p:nvSpPr>
              <p:cNvPr id="83" name="모서리가 둥근 직사각형 82"/>
              <p:cNvSpPr/>
              <p:nvPr/>
            </p:nvSpPr>
            <p:spPr>
              <a:xfrm>
                <a:off x="380370" y="2778430"/>
                <a:ext cx="2557500" cy="1361770"/>
              </a:xfrm>
              <a:prstGeom prst="roundRect">
                <a:avLst>
                  <a:gd name="adj" fmla="val 7571"/>
                </a:avLst>
              </a:prstGeom>
              <a:solidFill>
                <a:srgbClr val="EDF3E6"/>
              </a:solid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sz="1400" b="1">
                  <a:latin typeface="+mj-ea"/>
                  <a:ea typeface="+mj-ea"/>
                </a:endParaRPr>
              </a:p>
            </p:txBody>
          </p:sp>
          <p:sp>
            <p:nvSpPr>
              <p:cNvPr id="84" name="TextBox 83"/>
              <p:cNvSpPr txBox="1"/>
              <p:nvPr/>
            </p:nvSpPr>
            <p:spPr>
              <a:xfrm>
                <a:off x="802431" y="2878608"/>
                <a:ext cx="1208985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600" b="1" smtClean="0">
                    <a:latin typeface="+mj-ea"/>
                    <a:ea typeface="+mj-ea"/>
                  </a:rPr>
                  <a:t>GO_HOME</a:t>
                </a:r>
                <a:endParaRPr lang="ko-KR" altLang="en-US" sz="1600" b="1">
                  <a:latin typeface="+mj-ea"/>
                  <a:ea typeface="+mj-ea"/>
                </a:endParaRPr>
              </a:p>
            </p:txBody>
          </p:sp>
          <p:cxnSp>
            <p:nvCxnSpPr>
              <p:cNvPr id="85" name="직선 연결선 84"/>
              <p:cNvCxnSpPr/>
              <p:nvPr/>
            </p:nvCxnSpPr>
            <p:spPr>
              <a:xfrm>
                <a:off x="802431" y="3246843"/>
                <a:ext cx="1979667" cy="0"/>
              </a:xfrm>
              <a:prstGeom prst="line">
                <a:avLst/>
              </a:prstGeom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TextBox 85"/>
              <p:cNvSpPr txBox="1"/>
              <p:nvPr/>
            </p:nvSpPr>
            <p:spPr>
              <a:xfrm>
                <a:off x="424967" y="3356063"/>
                <a:ext cx="2553385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altLang="ko-KR" sz="500" smtClean="0">
                  <a:latin typeface="+mj-ea"/>
                  <a:ea typeface="+mj-ea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smtClean="0">
                    <a:latin typeface="+mj-ea"/>
                    <a:ea typeface="+mj-ea"/>
                  </a:rPr>
                  <a:t>수신 시 정지 후 주차 구역 이동</a:t>
                </a:r>
                <a:endParaRPr lang="en-US" altLang="ko-KR" sz="1200" smtClean="0">
                  <a:latin typeface="+mj-ea"/>
                  <a:ea typeface="+mj-ea"/>
                </a:endParaRPr>
              </a:p>
              <a:p>
                <a:endParaRPr lang="en-US" altLang="ko-KR" sz="500" smtClean="0">
                  <a:latin typeface="+mj-ea"/>
                  <a:ea typeface="+mj-ea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200" smtClean="0">
                    <a:latin typeface="+mj-ea"/>
                    <a:ea typeface="+mj-ea"/>
                  </a:rPr>
                  <a:t>주차 구역 도착 시 </a:t>
                </a:r>
                <a:r>
                  <a:rPr lang="en-US" altLang="ko-KR" sz="1200" smtClean="0">
                    <a:latin typeface="+mj-ea"/>
                    <a:ea typeface="+mj-ea"/>
                  </a:rPr>
                  <a:t>IDLE</a:t>
                </a:r>
                <a:r>
                  <a:rPr lang="ko-KR" altLang="en-US" sz="1200" smtClean="0">
                    <a:latin typeface="+mj-ea"/>
                    <a:ea typeface="+mj-ea"/>
                  </a:rPr>
                  <a:t>로 복귀</a:t>
                </a:r>
                <a:endParaRPr lang="ko-KR" altLang="en-US" sz="1200">
                  <a:latin typeface="+mj-ea"/>
                  <a:ea typeface="+mj-ea"/>
                </a:endParaRPr>
              </a:p>
            </p:txBody>
          </p:sp>
        </p:grpSp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>
                          <a14:foregroundMark x1="53846" y1="55660" x2="53846" y2="55660"/>
                          <a14:foregroundMark x1="50962" y1="43396" x2="50962" y2="43396"/>
                          <a14:foregroundMark x1="50000" y1="33962" x2="36538" y2="41509"/>
                          <a14:foregroundMark x1="43269" y1="41509" x2="43269" y2="41509"/>
                          <a14:foregroundMark x1="50000" y1="43396" x2="50000" y2="43396"/>
                          <a14:foregroundMark x1="50962" y1="53774" x2="50962" y2="53774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39668" y="4052427"/>
              <a:ext cx="379155" cy="386446"/>
            </a:xfrm>
            <a:prstGeom prst="rect">
              <a:avLst/>
            </a:prstGeom>
          </p:spPr>
        </p:pic>
      </p:grpSp>
      <p:sp>
        <p:nvSpPr>
          <p:cNvPr id="6" name="직사각형 5"/>
          <p:cNvSpPr/>
          <p:nvPr/>
        </p:nvSpPr>
        <p:spPr>
          <a:xfrm>
            <a:off x="2933996" y="3123415"/>
            <a:ext cx="1347691" cy="522320"/>
          </a:xfrm>
          <a:prstGeom prst="rect">
            <a:avLst/>
          </a:prstGeom>
          <a:solidFill>
            <a:srgbClr val="F4F4F4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2792426" y="3059634"/>
            <a:ext cx="167245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C00000"/>
                </a:solidFill>
                <a:latin typeface="+mj-ea"/>
                <a:ea typeface="+mj-ea"/>
              </a:rPr>
              <a:t>/emergency_stop, /go_home</a:t>
            </a:r>
          </a:p>
          <a:p>
            <a:pPr algn="ctr"/>
            <a:r>
              <a:rPr lang="ko-KR" altLang="en-US" sz="1100" b="1" smtClean="0">
                <a:solidFill>
                  <a:srgbClr val="C00000"/>
                </a:solidFill>
                <a:latin typeface="+mj-ea"/>
                <a:ea typeface="+mj-ea"/>
              </a:rPr>
              <a:t>수신 시</a:t>
            </a:r>
            <a:r>
              <a:rPr lang="en-US" altLang="ko-KR" sz="1100" b="1">
                <a:solidFill>
                  <a:srgbClr val="C00000"/>
                </a:solidFill>
                <a:latin typeface="+mj-ea"/>
                <a:ea typeface="+mj-ea"/>
              </a:rPr>
              <a:t> </a:t>
            </a:r>
            <a:r>
              <a:rPr lang="ko-KR" altLang="en-US" sz="1100" b="1" smtClean="0">
                <a:solidFill>
                  <a:srgbClr val="C00000"/>
                </a:solidFill>
                <a:latin typeface="+mj-ea"/>
                <a:ea typeface="+mj-ea"/>
              </a:rPr>
              <a:t>즉시 전환</a:t>
            </a:r>
            <a:endParaRPr lang="ko-KR" altLang="en-US" sz="1100" b="1">
              <a:solidFill>
                <a:srgbClr val="C00000"/>
              </a:solidFill>
              <a:latin typeface="+mj-ea"/>
              <a:ea typeface="+mj-ea"/>
            </a:endParaRPr>
          </a:p>
        </p:txBody>
      </p:sp>
      <p:sp>
        <p:nvSpPr>
          <p:cNvPr id="93" name="Text 4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smtClean="0">
                <a:solidFill>
                  <a:srgbClr val="737373"/>
                </a:solidFill>
                <a:latin typeface="+mj-ea"/>
                <a:ea typeface="+mj-ea"/>
                <a:cs typeface="Noto Sans CJK KR" pitchFamily="34" charset="-120"/>
              </a:rPr>
              <a:t>07</a:t>
            </a:r>
            <a:endParaRPr lang="en-US" sz="95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129927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6060"/>
                </a:solidFill>
                <a:latin typeface="+mj-ea"/>
                <a:ea typeface="+mj-ea"/>
              </a:rPr>
              <a:t>CORE ENGINEERING</a:t>
            </a:r>
            <a:endParaRPr lang="en-US" sz="1050" dirty="0">
              <a:latin typeface="+mj-ea"/>
              <a:ea typeface="+mj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414528"/>
            <a:ext cx="10698480" cy="6977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smtClean="0">
                <a:solidFill>
                  <a:srgbClr val="161616"/>
                </a:solidFill>
                <a:latin typeface="+mj-ea"/>
                <a:ea typeface="+mj-ea"/>
              </a:rPr>
              <a:t>주행 전략 </a:t>
            </a:r>
            <a:r>
              <a:rPr lang="ko-KR" altLang="en-US" sz="2800" b="1" smtClean="0">
                <a:solidFill>
                  <a:srgbClr val="161616"/>
                </a:solidFill>
                <a:latin typeface="+mj-ea"/>
                <a:ea typeface="+mj-ea"/>
              </a:rPr>
              <a:t>전환</a:t>
            </a:r>
            <a:r>
              <a:rPr lang="en-US" altLang="ko-KR" sz="2800" b="1" smtClean="0">
                <a:solidFill>
                  <a:srgbClr val="161616"/>
                </a:solidFill>
                <a:latin typeface="+mj-ea"/>
                <a:ea typeface="+mj-ea"/>
              </a:rPr>
              <a:t>: Nav2 </a:t>
            </a:r>
            <a:r>
              <a:rPr lang="en-US" altLang="ko-KR" sz="2800" b="1" smtClean="0">
                <a:solidFill>
                  <a:srgbClr val="161616"/>
                </a:solidFill>
                <a:latin typeface="+mj-ea"/>
                <a:ea typeface="+mj-ea"/>
                <a:sym typeface="Wingdings" panose="05000000000000000000" pitchFamily="2" charset="2"/>
              </a:rPr>
              <a:t> Motion Primitive</a:t>
            </a:r>
            <a:endParaRPr lang="en-US" sz="2800" dirty="0">
              <a:latin typeface="+mj-ea"/>
              <a:ea typeface="+mj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37373"/>
                </a:solidFill>
                <a:latin typeface="+mj-ea"/>
                <a:ea typeface="+mj-ea"/>
                <a:cs typeface="Noto Sans CJK KR" pitchFamily="34" charset="-120"/>
              </a:rPr>
              <a:t>08</a:t>
            </a:r>
            <a:endParaRPr lang="en-US" sz="950" dirty="0">
              <a:latin typeface="+mj-ea"/>
              <a:ea typeface="+mj-ea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22391" y="583336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설계 의미</a:t>
            </a:r>
            <a:endParaRPr lang="en-US" sz="1520" dirty="0">
              <a:latin typeface="+mj-ea"/>
              <a:ea typeface="+mj-ea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22391" y="6162552"/>
            <a:ext cx="539496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grpSp>
        <p:nvGrpSpPr>
          <p:cNvPr id="5" name="그룹 4"/>
          <p:cNvGrpSpPr/>
          <p:nvPr/>
        </p:nvGrpSpPr>
        <p:grpSpPr>
          <a:xfrm>
            <a:off x="6513889" y="1726069"/>
            <a:ext cx="5445569" cy="3483891"/>
            <a:chOff x="368594" y="3273489"/>
            <a:chExt cx="5445569" cy="3483891"/>
          </a:xfrm>
        </p:grpSpPr>
        <p:sp>
          <p:nvSpPr>
            <p:cNvPr id="40" name="Text 38"/>
            <p:cNvSpPr/>
            <p:nvPr/>
          </p:nvSpPr>
          <p:spPr>
            <a:xfrm>
              <a:off x="419203" y="3273489"/>
              <a:ext cx="53949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520" b="1" dirty="0">
                  <a:solidFill>
                    <a:srgbClr val="161616"/>
                  </a:solidFill>
                  <a:latin typeface="+mj-ea"/>
                  <a:ea typeface="+mj-ea"/>
                  <a:cs typeface="Noto Sans CJK KR" pitchFamily="34" charset="-120"/>
                </a:rPr>
                <a:t>Primitive Route 4단계</a:t>
              </a:r>
              <a:endParaRPr lang="en-US" sz="1520" dirty="0">
                <a:latin typeface="+mj-ea"/>
                <a:ea typeface="+mj-ea"/>
              </a:endParaRPr>
            </a:p>
          </p:txBody>
        </p:sp>
        <p:sp>
          <p:nvSpPr>
            <p:cNvPr id="41" name="Shape 39"/>
            <p:cNvSpPr/>
            <p:nvPr/>
          </p:nvSpPr>
          <p:spPr>
            <a:xfrm>
              <a:off x="419203" y="3602673"/>
              <a:ext cx="4270841" cy="0"/>
            </a:xfrm>
            <a:prstGeom prst="line">
              <a:avLst/>
            </a:prstGeom>
            <a:noFill/>
            <a:ln w="9525">
              <a:solidFill>
                <a:srgbClr val="BFBFBF"/>
              </a:solidFill>
              <a:prstDash val="solid"/>
            </a:ln>
          </p:spPr>
        </p:sp>
        <p:grpSp>
          <p:nvGrpSpPr>
            <p:cNvPr id="53" name="그룹 52"/>
            <p:cNvGrpSpPr/>
            <p:nvPr/>
          </p:nvGrpSpPr>
          <p:grpSpPr>
            <a:xfrm>
              <a:off x="368594" y="3742908"/>
              <a:ext cx="4383451" cy="3014472"/>
              <a:chOff x="158069" y="3733800"/>
              <a:chExt cx="4383451" cy="3014472"/>
            </a:xfrm>
          </p:grpSpPr>
          <p:grpSp>
            <p:nvGrpSpPr>
              <p:cNvPr id="72" name="그룹 71"/>
              <p:cNvGrpSpPr/>
              <p:nvPr/>
            </p:nvGrpSpPr>
            <p:grpSpPr>
              <a:xfrm>
                <a:off x="158069" y="3733800"/>
                <a:ext cx="4383451" cy="3014472"/>
                <a:chOff x="11939462" y="388925"/>
                <a:chExt cx="4383451" cy="3014472"/>
              </a:xfrm>
            </p:grpSpPr>
            <p:sp>
              <p:nvSpPr>
                <p:cNvPr id="71" name="직사각형 70"/>
                <p:cNvSpPr/>
                <p:nvPr/>
              </p:nvSpPr>
              <p:spPr>
                <a:xfrm>
                  <a:off x="11990071" y="388925"/>
                  <a:ext cx="4332842" cy="3014472"/>
                </a:xfrm>
                <a:prstGeom prst="rect">
                  <a:avLst/>
                </a:prstGeom>
                <a:solidFill>
                  <a:schemeClr val="accent1">
                    <a:alpha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70" name="그룹 69"/>
                <p:cNvGrpSpPr/>
                <p:nvPr/>
              </p:nvGrpSpPr>
              <p:grpSpPr>
                <a:xfrm>
                  <a:off x="11939462" y="549196"/>
                  <a:ext cx="3936296" cy="2678256"/>
                  <a:chOff x="2152080" y="3851614"/>
                  <a:chExt cx="3936296" cy="2678256"/>
                </a:xfrm>
              </p:grpSpPr>
              <p:sp>
                <p:nvSpPr>
                  <p:cNvPr id="50" name="모서리가 둥근 직사각형 49"/>
                  <p:cNvSpPr/>
                  <p:nvPr/>
                </p:nvSpPr>
                <p:spPr>
                  <a:xfrm>
                    <a:off x="3183845" y="5793778"/>
                    <a:ext cx="506994" cy="736092"/>
                  </a:xfrm>
                  <a:prstGeom prst="roundRect">
                    <a:avLst/>
                  </a:prstGeom>
                  <a:solidFill>
                    <a:schemeClr val="accent1">
                      <a:alpha val="50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54" name="모서리가 둥근 직사각형 53"/>
                  <p:cNvSpPr/>
                  <p:nvPr/>
                </p:nvSpPr>
                <p:spPr>
                  <a:xfrm rot="2262662">
                    <a:off x="3203696" y="5793778"/>
                    <a:ext cx="506994" cy="736092"/>
                  </a:xfrm>
                  <a:prstGeom prst="roundRect">
                    <a:avLst/>
                  </a:prstGeom>
                  <a:solidFill>
                    <a:schemeClr val="accent6">
                      <a:lumMod val="75000"/>
                      <a:alpha val="50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57" name="모서리가 둥근 직사각형 56"/>
                  <p:cNvSpPr/>
                  <p:nvPr/>
                </p:nvSpPr>
                <p:spPr>
                  <a:xfrm>
                    <a:off x="4244493" y="4271077"/>
                    <a:ext cx="506994" cy="736092"/>
                  </a:xfrm>
                  <a:prstGeom prst="roundRect">
                    <a:avLst/>
                  </a:prstGeom>
                  <a:solidFill>
                    <a:schemeClr val="accent1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+mj-ea"/>
                      <a:ea typeface="+mj-ea"/>
                    </a:endParaRPr>
                  </a:p>
                </p:txBody>
              </p:sp>
              <p:cxnSp>
                <p:nvCxnSpPr>
                  <p:cNvPr id="49" name="직선 화살표 연결선 48"/>
                  <p:cNvCxnSpPr/>
                  <p:nvPr/>
                </p:nvCxnSpPr>
                <p:spPr>
                  <a:xfrm flipV="1">
                    <a:off x="3457194" y="5061913"/>
                    <a:ext cx="787299" cy="1099914"/>
                  </a:xfrm>
                  <a:prstGeom prst="straightConnector1">
                    <a:avLst/>
                  </a:prstGeom>
                  <a:ln w="12700">
                    <a:solidFill>
                      <a:schemeClr val="bg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1" name="모서리가 둥근 직사각형 50"/>
                  <p:cNvSpPr/>
                  <p:nvPr/>
                </p:nvSpPr>
                <p:spPr>
                  <a:xfrm rot="2074124">
                    <a:off x="4275861" y="4276527"/>
                    <a:ext cx="506994" cy="736092"/>
                  </a:xfrm>
                  <a:prstGeom prst="roundRect">
                    <a:avLst/>
                  </a:prstGeom>
                  <a:solidFill>
                    <a:schemeClr val="accent6">
                      <a:lumMod val="75000"/>
                      <a:alpha val="50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60" name="직사각형 59"/>
                  <p:cNvSpPr/>
                  <p:nvPr/>
                </p:nvSpPr>
                <p:spPr>
                  <a:xfrm>
                    <a:off x="4106274" y="5229471"/>
                    <a:ext cx="1662635" cy="27699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altLang="ko-KR" sz="1200" b="1">
                        <a:solidFill>
                          <a:srgbClr val="444444"/>
                        </a:solidFill>
                        <a:latin typeface="+mj-ea"/>
                        <a:ea typeface="+mj-ea"/>
                        <a:cs typeface="Noto Sans CJK KR" pitchFamily="34" charset="-120"/>
                      </a:rPr>
                      <a:t>② DRIVE_STRAIGHT</a:t>
                    </a:r>
                    <a:endParaRPr lang="en-US" altLang="ko-KR" sz="1200" b="1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61" name="직사각형 60"/>
                  <p:cNvSpPr/>
                  <p:nvPr/>
                </p:nvSpPr>
                <p:spPr>
                  <a:xfrm>
                    <a:off x="2152080" y="5321213"/>
                    <a:ext cx="2000291" cy="27699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altLang="ko-KR" sz="1200" b="1">
                        <a:solidFill>
                          <a:srgbClr val="444444"/>
                        </a:solidFill>
                        <a:latin typeface="+mj-ea"/>
                        <a:ea typeface="+mj-ea"/>
                        <a:cs typeface="Noto Sans CJK KR" pitchFamily="34" charset="-120"/>
                      </a:rPr>
                      <a:t>① ROTATE_TO_HEADING</a:t>
                    </a:r>
                    <a:endParaRPr lang="en-US" altLang="ko-KR" sz="1200" b="1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62" name="직사각형 61"/>
                  <p:cNvSpPr/>
                  <p:nvPr/>
                </p:nvSpPr>
                <p:spPr>
                  <a:xfrm>
                    <a:off x="3977734" y="3851614"/>
                    <a:ext cx="2110642" cy="27699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altLang="ko-KR" sz="1200" b="1">
                        <a:solidFill>
                          <a:srgbClr val="444444"/>
                        </a:solidFill>
                        <a:latin typeface="+mj-ea"/>
                        <a:ea typeface="+mj-ea"/>
                        <a:cs typeface="Noto Sans CJK KR" pitchFamily="34" charset="-120"/>
                      </a:rPr>
                      <a:t>③ ROTATE_TO_GOAL_YAW</a:t>
                    </a:r>
                    <a:endParaRPr lang="en-US" altLang="ko-KR" sz="1200" b="1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65" name="U자형 화살표 64"/>
                  <p:cNvSpPr/>
                  <p:nvPr/>
                </p:nvSpPr>
                <p:spPr>
                  <a:xfrm rot="21329867">
                    <a:off x="3435154" y="5641907"/>
                    <a:ext cx="418378" cy="359977"/>
                  </a:xfrm>
                  <a:custGeom>
                    <a:avLst/>
                    <a:gdLst>
                      <a:gd name="connsiteX0" fmla="*/ 0 w 1800000"/>
                      <a:gd name="connsiteY0" fmla="*/ 1800000 h 1800000"/>
                      <a:gd name="connsiteX1" fmla="*/ 0 w 1800000"/>
                      <a:gd name="connsiteY1" fmla="*/ 787500 h 1800000"/>
                      <a:gd name="connsiteX2" fmla="*/ 787500 w 1800000"/>
                      <a:gd name="connsiteY2" fmla="*/ 0 h 1800000"/>
                      <a:gd name="connsiteX3" fmla="*/ 926262 w 1800000"/>
                      <a:gd name="connsiteY3" fmla="*/ 0 h 1800000"/>
                      <a:gd name="connsiteX4" fmla="*/ 1713762 w 1800000"/>
                      <a:gd name="connsiteY4" fmla="*/ 787500 h 1800000"/>
                      <a:gd name="connsiteX5" fmla="*/ 1713762 w 1800000"/>
                      <a:gd name="connsiteY5" fmla="*/ 1214334 h 1800000"/>
                      <a:gd name="connsiteX6" fmla="*/ 1800000 w 1800000"/>
                      <a:gd name="connsiteY6" fmla="*/ 1214334 h 1800000"/>
                      <a:gd name="connsiteX7" fmla="*/ 1685754 w 1800000"/>
                      <a:gd name="connsiteY7" fmla="*/ 1350000 h 1800000"/>
                      <a:gd name="connsiteX8" fmla="*/ 1571508 w 1800000"/>
                      <a:gd name="connsiteY8" fmla="*/ 1214334 h 1800000"/>
                      <a:gd name="connsiteX9" fmla="*/ 1657746 w 1800000"/>
                      <a:gd name="connsiteY9" fmla="*/ 1214334 h 1800000"/>
                      <a:gd name="connsiteX10" fmla="*/ 1657746 w 1800000"/>
                      <a:gd name="connsiteY10" fmla="*/ 787500 h 1800000"/>
                      <a:gd name="connsiteX11" fmla="*/ 926262 w 1800000"/>
                      <a:gd name="connsiteY11" fmla="*/ 56016 h 1800000"/>
                      <a:gd name="connsiteX12" fmla="*/ 787500 w 1800000"/>
                      <a:gd name="connsiteY12" fmla="*/ 56016 h 1800000"/>
                      <a:gd name="connsiteX13" fmla="*/ 56016 w 1800000"/>
                      <a:gd name="connsiteY13" fmla="*/ 787500 h 1800000"/>
                      <a:gd name="connsiteX14" fmla="*/ 56016 w 1800000"/>
                      <a:gd name="connsiteY14" fmla="*/ 1800000 h 1800000"/>
                      <a:gd name="connsiteX15" fmla="*/ 0 w 1800000"/>
                      <a:gd name="connsiteY15" fmla="*/ 1800000 h 1800000"/>
                      <a:gd name="connsiteX0" fmla="*/ 0 w 1800000"/>
                      <a:gd name="connsiteY0" fmla="*/ 1800000 h 1800000"/>
                      <a:gd name="connsiteX1" fmla="*/ 0 w 1800000"/>
                      <a:gd name="connsiteY1" fmla="*/ 787500 h 1800000"/>
                      <a:gd name="connsiteX2" fmla="*/ 787500 w 1800000"/>
                      <a:gd name="connsiteY2" fmla="*/ 0 h 1800000"/>
                      <a:gd name="connsiteX3" fmla="*/ 926262 w 1800000"/>
                      <a:gd name="connsiteY3" fmla="*/ 0 h 1800000"/>
                      <a:gd name="connsiteX4" fmla="*/ 1713762 w 1800000"/>
                      <a:gd name="connsiteY4" fmla="*/ 787500 h 1800000"/>
                      <a:gd name="connsiteX5" fmla="*/ 1713762 w 1800000"/>
                      <a:gd name="connsiteY5" fmla="*/ 1214334 h 1800000"/>
                      <a:gd name="connsiteX6" fmla="*/ 1800000 w 1800000"/>
                      <a:gd name="connsiteY6" fmla="*/ 1214334 h 1800000"/>
                      <a:gd name="connsiteX7" fmla="*/ 1685754 w 1800000"/>
                      <a:gd name="connsiteY7" fmla="*/ 1350000 h 1800000"/>
                      <a:gd name="connsiteX8" fmla="*/ 1571508 w 1800000"/>
                      <a:gd name="connsiteY8" fmla="*/ 1214334 h 1800000"/>
                      <a:gd name="connsiteX9" fmla="*/ 1657746 w 1800000"/>
                      <a:gd name="connsiteY9" fmla="*/ 1214334 h 1800000"/>
                      <a:gd name="connsiteX10" fmla="*/ 1657746 w 1800000"/>
                      <a:gd name="connsiteY10" fmla="*/ 787500 h 1800000"/>
                      <a:gd name="connsiteX11" fmla="*/ 926262 w 1800000"/>
                      <a:gd name="connsiteY11" fmla="*/ 56016 h 1800000"/>
                      <a:gd name="connsiteX12" fmla="*/ 787500 w 1800000"/>
                      <a:gd name="connsiteY12" fmla="*/ 56016 h 1800000"/>
                      <a:gd name="connsiteX13" fmla="*/ 56016 w 1800000"/>
                      <a:gd name="connsiteY13" fmla="*/ 787500 h 1800000"/>
                      <a:gd name="connsiteX14" fmla="*/ 272710 w 1800000"/>
                      <a:gd name="connsiteY14" fmla="*/ 264094 h 1800000"/>
                      <a:gd name="connsiteX15" fmla="*/ 0 w 1800000"/>
                      <a:gd name="connsiteY15" fmla="*/ 1800000 h 1800000"/>
                      <a:gd name="connsiteX0" fmla="*/ 230982 w 1800000"/>
                      <a:gd name="connsiteY0" fmla="*/ 209325 h 1350000"/>
                      <a:gd name="connsiteX1" fmla="*/ 0 w 1800000"/>
                      <a:gd name="connsiteY1" fmla="*/ 787500 h 1350000"/>
                      <a:gd name="connsiteX2" fmla="*/ 787500 w 1800000"/>
                      <a:gd name="connsiteY2" fmla="*/ 0 h 1350000"/>
                      <a:gd name="connsiteX3" fmla="*/ 926262 w 1800000"/>
                      <a:gd name="connsiteY3" fmla="*/ 0 h 1350000"/>
                      <a:gd name="connsiteX4" fmla="*/ 1713762 w 1800000"/>
                      <a:gd name="connsiteY4" fmla="*/ 787500 h 1350000"/>
                      <a:gd name="connsiteX5" fmla="*/ 1713762 w 1800000"/>
                      <a:gd name="connsiteY5" fmla="*/ 1214334 h 1350000"/>
                      <a:gd name="connsiteX6" fmla="*/ 1800000 w 1800000"/>
                      <a:gd name="connsiteY6" fmla="*/ 1214334 h 1350000"/>
                      <a:gd name="connsiteX7" fmla="*/ 1685754 w 1800000"/>
                      <a:gd name="connsiteY7" fmla="*/ 1350000 h 1350000"/>
                      <a:gd name="connsiteX8" fmla="*/ 1571508 w 1800000"/>
                      <a:gd name="connsiteY8" fmla="*/ 1214334 h 1350000"/>
                      <a:gd name="connsiteX9" fmla="*/ 1657746 w 1800000"/>
                      <a:gd name="connsiteY9" fmla="*/ 1214334 h 1350000"/>
                      <a:gd name="connsiteX10" fmla="*/ 1657746 w 1800000"/>
                      <a:gd name="connsiteY10" fmla="*/ 787500 h 1350000"/>
                      <a:gd name="connsiteX11" fmla="*/ 926262 w 1800000"/>
                      <a:gd name="connsiteY11" fmla="*/ 56016 h 1350000"/>
                      <a:gd name="connsiteX12" fmla="*/ 787500 w 1800000"/>
                      <a:gd name="connsiteY12" fmla="*/ 56016 h 1350000"/>
                      <a:gd name="connsiteX13" fmla="*/ 56016 w 1800000"/>
                      <a:gd name="connsiteY13" fmla="*/ 787500 h 1350000"/>
                      <a:gd name="connsiteX14" fmla="*/ 272710 w 1800000"/>
                      <a:gd name="connsiteY14" fmla="*/ 264094 h 1350000"/>
                      <a:gd name="connsiteX15" fmla="*/ 230982 w 1800000"/>
                      <a:gd name="connsiteY15" fmla="*/ 209325 h 1350000"/>
                      <a:gd name="connsiteX0" fmla="*/ 230982 w 1800000"/>
                      <a:gd name="connsiteY0" fmla="*/ 209325 h 1350000"/>
                      <a:gd name="connsiteX1" fmla="*/ 0 w 1800000"/>
                      <a:gd name="connsiteY1" fmla="*/ 787500 h 1350000"/>
                      <a:gd name="connsiteX2" fmla="*/ 787500 w 1800000"/>
                      <a:gd name="connsiteY2" fmla="*/ 0 h 1350000"/>
                      <a:gd name="connsiteX3" fmla="*/ 926262 w 1800000"/>
                      <a:gd name="connsiteY3" fmla="*/ 0 h 1350000"/>
                      <a:gd name="connsiteX4" fmla="*/ 1713762 w 1800000"/>
                      <a:gd name="connsiteY4" fmla="*/ 787500 h 1350000"/>
                      <a:gd name="connsiteX5" fmla="*/ 1713762 w 1800000"/>
                      <a:gd name="connsiteY5" fmla="*/ 1214334 h 1350000"/>
                      <a:gd name="connsiteX6" fmla="*/ 1800000 w 1800000"/>
                      <a:gd name="connsiteY6" fmla="*/ 1214334 h 1350000"/>
                      <a:gd name="connsiteX7" fmla="*/ 1685754 w 1800000"/>
                      <a:gd name="connsiteY7" fmla="*/ 1350000 h 1350000"/>
                      <a:gd name="connsiteX8" fmla="*/ 1571508 w 1800000"/>
                      <a:gd name="connsiteY8" fmla="*/ 1214334 h 1350000"/>
                      <a:gd name="connsiteX9" fmla="*/ 1657746 w 1800000"/>
                      <a:gd name="connsiteY9" fmla="*/ 1214334 h 1350000"/>
                      <a:gd name="connsiteX10" fmla="*/ 1657746 w 1800000"/>
                      <a:gd name="connsiteY10" fmla="*/ 787500 h 1350000"/>
                      <a:gd name="connsiteX11" fmla="*/ 926262 w 1800000"/>
                      <a:gd name="connsiteY11" fmla="*/ 56016 h 1350000"/>
                      <a:gd name="connsiteX12" fmla="*/ 787500 w 1800000"/>
                      <a:gd name="connsiteY12" fmla="*/ 56016 h 1350000"/>
                      <a:gd name="connsiteX13" fmla="*/ 272710 w 1800000"/>
                      <a:gd name="connsiteY13" fmla="*/ 264094 h 1350000"/>
                      <a:gd name="connsiteX14" fmla="*/ 230982 w 1800000"/>
                      <a:gd name="connsiteY14" fmla="*/ 209325 h 1350000"/>
                      <a:gd name="connsiteX0" fmla="*/ 0 w 1569018"/>
                      <a:gd name="connsiteY0" fmla="*/ 209325 h 1350000"/>
                      <a:gd name="connsiteX1" fmla="*/ 556518 w 1569018"/>
                      <a:gd name="connsiteY1" fmla="*/ 0 h 1350000"/>
                      <a:gd name="connsiteX2" fmla="*/ 695280 w 1569018"/>
                      <a:gd name="connsiteY2" fmla="*/ 0 h 1350000"/>
                      <a:gd name="connsiteX3" fmla="*/ 1482780 w 1569018"/>
                      <a:gd name="connsiteY3" fmla="*/ 787500 h 1350000"/>
                      <a:gd name="connsiteX4" fmla="*/ 1482780 w 1569018"/>
                      <a:gd name="connsiteY4" fmla="*/ 1214334 h 1350000"/>
                      <a:gd name="connsiteX5" fmla="*/ 1569018 w 1569018"/>
                      <a:gd name="connsiteY5" fmla="*/ 1214334 h 1350000"/>
                      <a:gd name="connsiteX6" fmla="*/ 1454772 w 1569018"/>
                      <a:gd name="connsiteY6" fmla="*/ 1350000 h 1350000"/>
                      <a:gd name="connsiteX7" fmla="*/ 1340526 w 1569018"/>
                      <a:gd name="connsiteY7" fmla="*/ 1214334 h 1350000"/>
                      <a:gd name="connsiteX8" fmla="*/ 1426764 w 1569018"/>
                      <a:gd name="connsiteY8" fmla="*/ 1214334 h 1350000"/>
                      <a:gd name="connsiteX9" fmla="*/ 1426764 w 1569018"/>
                      <a:gd name="connsiteY9" fmla="*/ 787500 h 1350000"/>
                      <a:gd name="connsiteX10" fmla="*/ 695280 w 1569018"/>
                      <a:gd name="connsiteY10" fmla="*/ 56016 h 1350000"/>
                      <a:gd name="connsiteX11" fmla="*/ 556518 w 1569018"/>
                      <a:gd name="connsiteY11" fmla="*/ 56016 h 1350000"/>
                      <a:gd name="connsiteX12" fmla="*/ 41728 w 1569018"/>
                      <a:gd name="connsiteY12" fmla="*/ 264094 h 1350000"/>
                      <a:gd name="connsiteX13" fmla="*/ 0 w 1569018"/>
                      <a:gd name="connsiteY13" fmla="*/ 209325 h 1350000"/>
                      <a:gd name="connsiteX0" fmla="*/ 0 w 1569018"/>
                      <a:gd name="connsiteY0" fmla="*/ 209325 h 1350000"/>
                      <a:gd name="connsiteX1" fmla="*/ 556518 w 1569018"/>
                      <a:gd name="connsiteY1" fmla="*/ 0 h 1350000"/>
                      <a:gd name="connsiteX2" fmla="*/ 695280 w 1569018"/>
                      <a:gd name="connsiteY2" fmla="*/ 0 h 1350000"/>
                      <a:gd name="connsiteX3" fmla="*/ 1482780 w 1569018"/>
                      <a:gd name="connsiteY3" fmla="*/ 787500 h 1350000"/>
                      <a:gd name="connsiteX4" fmla="*/ 1482780 w 1569018"/>
                      <a:gd name="connsiteY4" fmla="*/ 1214334 h 1350000"/>
                      <a:gd name="connsiteX5" fmla="*/ 1569018 w 1569018"/>
                      <a:gd name="connsiteY5" fmla="*/ 1214334 h 1350000"/>
                      <a:gd name="connsiteX6" fmla="*/ 1454772 w 1569018"/>
                      <a:gd name="connsiteY6" fmla="*/ 1350000 h 1350000"/>
                      <a:gd name="connsiteX7" fmla="*/ 1340526 w 1569018"/>
                      <a:gd name="connsiteY7" fmla="*/ 1214334 h 1350000"/>
                      <a:gd name="connsiteX8" fmla="*/ 1426764 w 1569018"/>
                      <a:gd name="connsiteY8" fmla="*/ 1214334 h 1350000"/>
                      <a:gd name="connsiteX9" fmla="*/ 1426764 w 1569018"/>
                      <a:gd name="connsiteY9" fmla="*/ 787500 h 1350000"/>
                      <a:gd name="connsiteX10" fmla="*/ 695280 w 1569018"/>
                      <a:gd name="connsiteY10" fmla="*/ 56016 h 1350000"/>
                      <a:gd name="connsiteX11" fmla="*/ 556518 w 1569018"/>
                      <a:gd name="connsiteY11" fmla="*/ 56016 h 1350000"/>
                      <a:gd name="connsiteX12" fmla="*/ 41728 w 1569018"/>
                      <a:gd name="connsiteY12" fmla="*/ 264094 h 1350000"/>
                      <a:gd name="connsiteX13" fmla="*/ 0 w 1569018"/>
                      <a:gd name="connsiteY13" fmla="*/ 209325 h 1350000"/>
                      <a:gd name="connsiteX0" fmla="*/ 0 w 1569018"/>
                      <a:gd name="connsiteY0" fmla="*/ 209325 h 1350000"/>
                      <a:gd name="connsiteX1" fmla="*/ 556518 w 1569018"/>
                      <a:gd name="connsiteY1" fmla="*/ 0 h 1350000"/>
                      <a:gd name="connsiteX2" fmla="*/ 695280 w 1569018"/>
                      <a:gd name="connsiteY2" fmla="*/ 0 h 1350000"/>
                      <a:gd name="connsiteX3" fmla="*/ 1482780 w 1569018"/>
                      <a:gd name="connsiteY3" fmla="*/ 787500 h 1350000"/>
                      <a:gd name="connsiteX4" fmla="*/ 1482780 w 1569018"/>
                      <a:gd name="connsiteY4" fmla="*/ 1214334 h 1350000"/>
                      <a:gd name="connsiteX5" fmla="*/ 1569018 w 1569018"/>
                      <a:gd name="connsiteY5" fmla="*/ 1214334 h 1350000"/>
                      <a:gd name="connsiteX6" fmla="*/ 1454772 w 1569018"/>
                      <a:gd name="connsiteY6" fmla="*/ 1350000 h 1350000"/>
                      <a:gd name="connsiteX7" fmla="*/ 1340526 w 1569018"/>
                      <a:gd name="connsiteY7" fmla="*/ 1214334 h 1350000"/>
                      <a:gd name="connsiteX8" fmla="*/ 1426764 w 1569018"/>
                      <a:gd name="connsiteY8" fmla="*/ 1214334 h 1350000"/>
                      <a:gd name="connsiteX9" fmla="*/ 1426764 w 1569018"/>
                      <a:gd name="connsiteY9" fmla="*/ 787500 h 1350000"/>
                      <a:gd name="connsiteX10" fmla="*/ 695280 w 1569018"/>
                      <a:gd name="connsiteY10" fmla="*/ 56016 h 1350000"/>
                      <a:gd name="connsiteX11" fmla="*/ 556518 w 1569018"/>
                      <a:gd name="connsiteY11" fmla="*/ 56016 h 1350000"/>
                      <a:gd name="connsiteX12" fmla="*/ 41728 w 1569018"/>
                      <a:gd name="connsiteY12" fmla="*/ 264094 h 1350000"/>
                      <a:gd name="connsiteX13" fmla="*/ 0 w 1569018"/>
                      <a:gd name="connsiteY13" fmla="*/ 209325 h 1350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1569018" h="1350000">
                        <a:moveTo>
                          <a:pt x="0" y="209325"/>
                        </a:moveTo>
                        <a:cubicBezTo>
                          <a:pt x="185506" y="139550"/>
                          <a:pt x="244806" y="60250"/>
                          <a:pt x="556518" y="0"/>
                        </a:cubicBezTo>
                        <a:lnTo>
                          <a:pt x="695280" y="0"/>
                        </a:lnTo>
                        <a:cubicBezTo>
                          <a:pt x="1130204" y="0"/>
                          <a:pt x="1482780" y="352576"/>
                          <a:pt x="1482780" y="787500"/>
                        </a:cubicBezTo>
                        <a:lnTo>
                          <a:pt x="1482780" y="1214334"/>
                        </a:lnTo>
                        <a:lnTo>
                          <a:pt x="1569018" y="1214334"/>
                        </a:lnTo>
                        <a:lnTo>
                          <a:pt x="1454772" y="1350000"/>
                        </a:lnTo>
                        <a:lnTo>
                          <a:pt x="1340526" y="1214334"/>
                        </a:lnTo>
                        <a:lnTo>
                          <a:pt x="1426764" y="1214334"/>
                        </a:lnTo>
                        <a:lnTo>
                          <a:pt x="1426764" y="787500"/>
                        </a:lnTo>
                        <a:cubicBezTo>
                          <a:pt x="1426764" y="383513"/>
                          <a:pt x="1099267" y="56016"/>
                          <a:pt x="695280" y="56016"/>
                        </a:cubicBezTo>
                        <a:lnTo>
                          <a:pt x="556518" y="56016"/>
                        </a:lnTo>
                        <a:cubicBezTo>
                          <a:pt x="280906" y="121652"/>
                          <a:pt x="134481" y="238542"/>
                          <a:pt x="41728" y="264094"/>
                        </a:cubicBezTo>
                        <a:lnTo>
                          <a:pt x="0" y="209325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n w="0"/>
                      <a:solidFill>
                        <a:schemeClr val="tx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68" name="U자형 화살표 64"/>
                  <p:cNvSpPr/>
                  <p:nvPr/>
                </p:nvSpPr>
                <p:spPr>
                  <a:xfrm rot="5142278" flipH="1">
                    <a:off x="4526514" y="4173558"/>
                    <a:ext cx="418378" cy="359977"/>
                  </a:xfrm>
                  <a:custGeom>
                    <a:avLst/>
                    <a:gdLst>
                      <a:gd name="connsiteX0" fmla="*/ 0 w 1800000"/>
                      <a:gd name="connsiteY0" fmla="*/ 1800000 h 1800000"/>
                      <a:gd name="connsiteX1" fmla="*/ 0 w 1800000"/>
                      <a:gd name="connsiteY1" fmla="*/ 787500 h 1800000"/>
                      <a:gd name="connsiteX2" fmla="*/ 787500 w 1800000"/>
                      <a:gd name="connsiteY2" fmla="*/ 0 h 1800000"/>
                      <a:gd name="connsiteX3" fmla="*/ 926262 w 1800000"/>
                      <a:gd name="connsiteY3" fmla="*/ 0 h 1800000"/>
                      <a:gd name="connsiteX4" fmla="*/ 1713762 w 1800000"/>
                      <a:gd name="connsiteY4" fmla="*/ 787500 h 1800000"/>
                      <a:gd name="connsiteX5" fmla="*/ 1713762 w 1800000"/>
                      <a:gd name="connsiteY5" fmla="*/ 1214334 h 1800000"/>
                      <a:gd name="connsiteX6" fmla="*/ 1800000 w 1800000"/>
                      <a:gd name="connsiteY6" fmla="*/ 1214334 h 1800000"/>
                      <a:gd name="connsiteX7" fmla="*/ 1685754 w 1800000"/>
                      <a:gd name="connsiteY7" fmla="*/ 1350000 h 1800000"/>
                      <a:gd name="connsiteX8" fmla="*/ 1571508 w 1800000"/>
                      <a:gd name="connsiteY8" fmla="*/ 1214334 h 1800000"/>
                      <a:gd name="connsiteX9" fmla="*/ 1657746 w 1800000"/>
                      <a:gd name="connsiteY9" fmla="*/ 1214334 h 1800000"/>
                      <a:gd name="connsiteX10" fmla="*/ 1657746 w 1800000"/>
                      <a:gd name="connsiteY10" fmla="*/ 787500 h 1800000"/>
                      <a:gd name="connsiteX11" fmla="*/ 926262 w 1800000"/>
                      <a:gd name="connsiteY11" fmla="*/ 56016 h 1800000"/>
                      <a:gd name="connsiteX12" fmla="*/ 787500 w 1800000"/>
                      <a:gd name="connsiteY12" fmla="*/ 56016 h 1800000"/>
                      <a:gd name="connsiteX13" fmla="*/ 56016 w 1800000"/>
                      <a:gd name="connsiteY13" fmla="*/ 787500 h 1800000"/>
                      <a:gd name="connsiteX14" fmla="*/ 56016 w 1800000"/>
                      <a:gd name="connsiteY14" fmla="*/ 1800000 h 1800000"/>
                      <a:gd name="connsiteX15" fmla="*/ 0 w 1800000"/>
                      <a:gd name="connsiteY15" fmla="*/ 1800000 h 1800000"/>
                      <a:gd name="connsiteX0" fmla="*/ 0 w 1800000"/>
                      <a:gd name="connsiteY0" fmla="*/ 1800000 h 1800000"/>
                      <a:gd name="connsiteX1" fmla="*/ 0 w 1800000"/>
                      <a:gd name="connsiteY1" fmla="*/ 787500 h 1800000"/>
                      <a:gd name="connsiteX2" fmla="*/ 787500 w 1800000"/>
                      <a:gd name="connsiteY2" fmla="*/ 0 h 1800000"/>
                      <a:gd name="connsiteX3" fmla="*/ 926262 w 1800000"/>
                      <a:gd name="connsiteY3" fmla="*/ 0 h 1800000"/>
                      <a:gd name="connsiteX4" fmla="*/ 1713762 w 1800000"/>
                      <a:gd name="connsiteY4" fmla="*/ 787500 h 1800000"/>
                      <a:gd name="connsiteX5" fmla="*/ 1713762 w 1800000"/>
                      <a:gd name="connsiteY5" fmla="*/ 1214334 h 1800000"/>
                      <a:gd name="connsiteX6" fmla="*/ 1800000 w 1800000"/>
                      <a:gd name="connsiteY6" fmla="*/ 1214334 h 1800000"/>
                      <a:gd name="connsiteX7" fmla="*/ 1685754 w 1800000"/>
                      <a:gd name="connsiteY7" fmla="*/ 1350000 h 1800000"/>
                      <a:gd name="connsiteX8" fmla="*/ 1571508 w 1800000"/>
                      <a:gd name="connsiteY8" fmla="*/ 1214334 h 1800000"/>
                      <a:gd name="connsiteX9" fmla="*/ 1657746 w 1800000"/>
                      <a:gd name="connsiteY9" fmla="*/ 1214334 h 1800000"/>
                      <a:gd name="connsiteX10" fmla="*/ 1657746 w 1800000"/>
                      <a:gd name="connsiteY10" fmla="*/ 787500 h 1800000"/>
                      <a:gd name="connsiteX11" fmla="*/ 926262 w 1800000"/>
                      <a:gd name="connsiteY11" fmla="*/ 56016 h 1800000"/>
                      <a:gd name="connsiteX12" fmla="*/ 787500 w 1800000"/>
                      <a:gd name="connsiteY12" fmla="*/ 56016 h 1800000"/>
                      <a:gd name="connsiteX13" fmla="*/ 56016 w 1800000"/>
                      <a:gd name="connsiteY13" fmla="*/ 787500 h 1800000"/>
                      <a:gd name="connsiteX14" fmla="*/ 272710 w 1800000"/>
                      <a:gd name="connsiteY14" fmla="*/ 264094 h 1800000"/>
                      <a:gd name="connsiteX15" fmla="*/ 0 w 1800000"/>
                      <a:gd name="connsiteY15" fmla="*/ 1800000 h 1800000"/>
                      <a:gd name="connsiteX0" fmla="*/ 230982 w 1800000"/>
                      <a:gd name="connsiteY0" fmla="*/ 209325 h 1350000"/>
                      <a:gd name="connsiteX1" fmla="*/ 0 w 1800000"/>
                      <a:gd name="connsiteY1" fmla="*/ 787500 h 1350000"/>
                      <a:gd name="connsiteX2" fmla="*/ 787500 w 1800000"/>
                      <a:gd name="connsiteY2" fmla="*/ 0 h 1350000"/>
                      <a:gd name="connsiteX3" fmla="*/ 926262 w 1800000"/>
                      <a:gd name="connsiteY3" fmla="*/ 0 h 1350000"/>
                      <a:gd name="connsiteX4" fmla="*/ 1713762 w 1800000"/>
                      <a:gd name="connsiteY4" fmla="*/ 787500 h 1350000"/>
                      <a:gd name="connsiteX5" fmla="*/ 1713762 w 1800000"/>
                      <a:gd name="connsiteY5" fmla="*/ 1214334 h 1350000"/>
                      <a:gd name="connsiteX6" fmla="*/ 1800000 w 1800000"/>
                      <a:gd name="connsiteY6" fmla="*/ 1214334 h 1350000"/>
                      <a:gd name="connsiteX7" fmla="*/ 1685754 w 1800000"/>
                      <a:gd name="connsiteY7" fmla="*/ 1350000 h 1350000"/>
                      <a:gd name="connsiteX8" fmla="*/ 1571508 w 1800000"/>
                      <a:gd name="connsiteY8" fmla="*/ 1214334 h 1350000"/>
                      <a:gd name="connsiteX9" fmla="*/ 1657746 w 1800000"/>
                      <a:gd name="connsiteY9" fmla="*/ 1214334 h 1350000"/>
                      <a:gd name="connsiteX10" fmla="*/ 1657746 w 1800000"/>
                      <a:gd name="connsiteY10" fmla="*/ 787500 h 1350000"/>
                      <a:gd name="connsiteX11" fmla="*/ 926262 w 1800000"/>
                      <a:gd name="connsiteY11" fmla="*/ 56016 h 1350000"/>
                      <a:gd name="connsiteX12" fmla="*/ 787500 w 1800000"/>
                      <a:gd name="connsiteY12" fmla="*/ 56016 h 1350000"/>
                      <a:gd name="connsiteX13" fmla="*/ 56016 w 1800000"/>
                      <a:gd name="connsiteY13" fmla="*/ 787500 h 1350000"/>
                      <a:gd name="connsiteX14" fmla="*/ 272710 w 1800000"/>
                      <a:gd name="connsiteY14" fmla="*/ 264094 h 1350000"/>
                      <a:gd name="connsiteX15" fmla="*/ 230982 w 1800000"/>
                      <a:gd name="connsiteY15" fmla="*/ 209325 h 1350000"/>
                      <a:gd name="connsiteX0" fmla="*/ 230982 w 1800000"/>
                      <a:gd name="connsiteY0" fmla="*/ 209325 h 1350000"/>
                      <a:gd name="connsiteX1" fmla="*/ 0 w 1800000"/>
                      <a:gd name="connsiteY1" fmla="*/ 787500 h 1350000"/>
                      <a:gd name="connsiteX2" fmla="*/ 787500 w 1800000"/>
                      <a:gd name="connsiteY2" fmla="*/ 0 h 1350000"/>
                      <a:gd name="connsiteX3" fmla="*/ 926262 w 1800000"/>
                      <a:gd name="connsiteY3" fmla="*/ 0 h 1350000"/>
                      <a:gd name="connsiteX4" fmla="*/ 1713762 w 1800000"/>
                      <a:gd name="connsiteY4" fmla="*/ 787500 h 1350000"/>
                      <a:gd name="connsiteX5" fmla="*/ 1713762 w 1800000"/>
                      <a:gd name="connsiteY5" fmla="*/ 1214334 h 1350000"/>
                      <a:gd name="connsiteX6" fmla="*/ 1800000 w 1800000"/>
                      <a:gd name="connsiteY6" fmla="*/ 1214334 h 1350000"/>
                      <a:gd name="connsiteX7" fmla="*/ 1685754 w 1800000"/>
                      <a:gd name="connsiteY7" fmla="*/ 1350000 h 1350000"/>
                      <a:gd name="connsiteX8" fmla="*/ 1571508 w 1800000"/>
                      <a:gd name="connsiteY8" fmla="*/ 1214334 h 1350000"/>
                      <a:gd name="connsiteX9" fmla="*/ 1657746 w 1800000"/>
                      <a:gd name="connsiteY9" fmla="*/ 1214334 h 1350000"/>
                      <a:gd name="connsiteX10" fmla="*/ 1657746 w 1800000"/>
                      <a:gd name="connsiteY10" fmla="*/ 787500 h 1350000"/>
                      <a:gd name="connsiteX11" fmla="*/ 926262 w 1800000"/>
                      <a:gd name="connsiteY11" fmla="*/ 56016 h 1350000"/>
                      <a:gd name="connsiteX12" fmla="*/ 787500 w 1800000"/>
                      <a:gd name="connsiteY12" fmla="*/ 56016 h 1350000"/>
                      <a:gd name="connsiteX13" fmla="*/ 272710 w 1800000"/>
                      <a:gd name="connsiteY13" fmla="*/ 264094 h 1350000"/>
                      <a:gd name="connsiteX14" fmla="*/ 230982 w 1800000"/>
                      <a:gd name="connsiteY14" fmla="*/ 209325 h 1350000"/>
                      <a:gd name="connsiteX0" fmla="*/ 0 w 1569018"/>
                      <a:gd name="connsiteY0" fmla="*/ 209325 h 1350000"/>
                      <a:gd name="connsiteX1" fmla="*/ 556518 w 1569018"/>
                      <a:gd name="connsiteY1" fmla="*/ 0 h 1350000"/>
                      <a:gd name="connsiteX2" fmla="*/ 695280 w 1569018"/>
                      <a:gd name="connsiteY2" fmla="*/ 0 h 1350000"/>
                      <a:gd name="connsiteX3" fmla="*/ 1482780 w 1569018"/>
                      <a:gd name="connsiteY3" fmla="*/ 787500 h 1350000"/>
                      <a:gd name="connsiteX4" fmla="*/ 1482780 w 1569018"/>
                      <a:gd name="connsiteY4" fmla="*/ 1214334 h 1350000"/>
                      <a:gd name="connsiteX5" fmla="*/ 1569018 w 1569018"/>
                      <a:gd name="connsiteY5" fmla="*/ 1214334 h 1350000"/>
                      <a:gd name="connsiteX6" fmla="*/ 1454772 w 1569018"/>
                      <a:gd name="connsiteY6" fmla="*/ 1350000 h 1350000"/>
                      <a:gd name="connsiteX7" fmla="*/ 1340526 w 1569018"/>
                      <a:gd name="connsiteY7" fmla="*/ 1214334 h 1350000"/>
                      <a:gd name="connsiteX8" fmla="*/ 1426764 w 1569018"/>
                      <a:gd name="connsiteY8" fmla="*/ 1214334 h 1350000"/>
                      <a:gd name="connsiteX9" fmla="*/ 1426764 w 1569018"/>
                      <a:gd name="connsiteY9" fmla="*/ 787500 h 1350000"/>
                      <a:gd name="connsiteX10" fmla="*/ 695280 w 1569018"/>
                      <a:gd name="connsiteY10" fmla="*/ 56016 h 1350000"/>
                      <a:gd name="connsiteX11" fmla="*/ 556518 w 1569018"/>
                      <a:gd name="connsiteY11" fmla="*/ 56016 h 1350000"/>
                      <a:gd name="connsiteX12" fmla="*/ 41728 w 1569018"/>
                      <a:gd name="connsiteY12" fmla="*/ 264094 h 1350000"/>
                      <a:gd name="connsiteX13" fmla="*/ 0 w 1569018"/>
                      <a:gd name="connsiteY13" fmla="*/ 209325 h 1350000"/>
                      <a:gd name="connsiteX0" fmla="*/ 0 w 1569018"/>
                      <a:gd name="connsiteY0" fmla="*/ 209325 h 1350000"/>
                      <a:gd name="connsiteX1" fmla="*/ 556518 w 1569018"/>
                      <a:gd name="connsiteY1" fmla="*/ 0 h 1350000"/>
                      <a:gd name="connsiteX2" fmla="*/ 695280 w 1569018"/>
                      <a:gd name="connsiteY2" fmla="*/ 0 h 1350000"/>
                      <a:gd name="connsiteX3" fmla="*/ 1482780 w 1569018"/>
                      <a:gd name="connsiteY3" fmla="*/ 787500 h 1350000"/>
                      <a:gd name="connsiteX4" fmla="*/ 1482780 w 1569018"/>
                      <a:gd name="connsiteY4" fmla="*/ 1214334 h 1350000"/>
                      <a:gd name="connsiteX5" fmla="*/ 1569018 w 1569018"/>
                      <a:gd name="connsiteY5" fmla="*/ 1214334 h 1350000"/>
                      <a:gd name="connsiteX6" fmla="*/ 1454772 w 1569018"/>
                      <a:gd name="connsiteY6" fmla="*/ 1350000 h 1350000"/>
                      <a:gd name="connsiteX7" fmla="*/ 1340526 w 1569018"/>
                      <a:gd name="connsiteY7" fmla="*/ 1214334 h 1350000"/>
                      <a:gd name="connsiteX8" fmla="*/ 1426764 w 1569018"/>
                      <a:gd name="connsiteY8" fmla="*/ 1214334 h 1350000"/>
                      <a:gd name="connsiteX9" fmla="*/ 1426764 w 1569018"/>
                      <a:gd name="connsiteY9" fmla="*/ 787500 h 1350000"/>
                      <a:gd name="connsiteX10" fmla="*/ 695280 w 1569018"/>
                      <a:gd name="connsiteY10" fmla="*/ 56016 h 1350000"/>
                      <a:gd name="connsiteX11" fmla="*/ 556518 w 1569018"/>
                      <a:gd name="connsiteY11" fmla="*/ 56016 h 1350000"/>
                      <a:gd name="connsiteX12" fmla="*/ 41728 w 1569018"/>
                      <a:gd name="connsiteY12" fmla="*/ 264094 h 1350000"/>
                      <a:gd name="connsiteX13" fmla="*/ 0 w 1569018"/>
                      <a:gd name="connsiteY13" fmla="*/ 209325 h 1350000"/>
                      <a:gd name="connsiteX0" fmla="*/ 0 w 1569018"/>
                      <a:gd name="connsiteY0" fmla="*/ 209325 h 1350000"/>
                      <a:gd name="connsiteX1" fmla="*/ 556518 w 1569018"/>
                      <a:gd name="connsiteY1" fmla="*/ 0 h 1350000"/>
                      <a:gd name="connsiteX2" fmla="*/ 695280 w 1569018"/>
                      <a:gd name="connsiteY2" fmla="*/ 0 h 1350000"/>
                      <a:gd name="connsiteX3" fmla="*/ 1482780 w 1569018"/>
                      <a:gd name="connsiteY3" fmla="*/ 787500 h 1350000"/>
                      <a:gd name="connsiteX4" fmla="*/ 1482780 w 1569018"/>
                      <a:gd name="connsiteY4" fmla="*/ 1214334 h 1350000"/>
                      <a:gd name="connsiteX5" fmla="*/ 1569018 w 1569018"/>
                      <a:gd name="connsiteY5" fmla="*/ 1214334 h 1350000"/>
                      <a:gd name="connsiteX6" fmla="*/ 1454772 w 1569018"/>
                      <a:gd name="connsiteY6" fmla="*/ 1350000 h 1350000"/>
                      <a:gd name="connsiteX7" fmla="*/ 1340526 w 1569018"/>
                      <a:gd name="connsiteY7" fmla="*/ 1214334 h 1350000"/>
                      <a:gd name="connsiteX8" fmla="*/ 1426764 w 1569018"/>
                      <a:gd name="connsiteY8" fmla="*/ 1214334 h 1350000"/>
                      <a:gd name="connsiteX9" fmla="*/ 1426764 w 1569018"/>
                      <a:gd name="connsiteY9" fmla="*/ 787500 h 1350000"/>
                      <a:gd name="connsiteX10" fmla="*/ 695280 w 1569018"/>
                      <a:gd name="connsiteY10" fmla="*/ 56016 h 1350000"/>
                      <a:gd name="connsiteX11" fmla="*/ 556518 w 1569018"/>
                      <a:gd name="connsiteY11" fmla="*/ 56016 h 1350000"/>
                      <a:gd name="connsiteX12" fmla="*/ 41728 w 1569018"/>
                      <a:gd name="connsiteY12" fmla="*/ 264094 h 1350000"/>
                      <a:gd name="connsiteX13" fmla="*/ 0 w 1569018"/>
                      <a:gd name="connsiteY13" fmla="*/ 209325 h 1350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1569018" h="1350000">
                        <a:moveTo>
                          <a:pt x="0" y="209325"/>
                        </a:moveTo>
                        <a:cubicBezTo>
                          <a:pt x="185506" y="139550"/>
                          <a:pt x="244806" y="60250"/>
                          <a:pt x="556518" y="0"/>
                        </a:cubicBezTo>
                        <a:lnTo>
                          <a:pt x="695280" y="0"/>
                        </a:lnTo>
                        <a:cubicBezTo>
                          <a:pt x="1130204" y="0"/>
                          <a:pt x="1482780" y="352576"/>
                          <a:pt x="1482780" y="787500"/>
                        </a:cubicBezTo>
                        <a:lnTo>
                          <a:pt x="1482780" y="1214334"/>
                        </a:lnTo>
                        <a:lnTo>
                          <a:pt x="1569018" y="1214334"/>
                        </a:lnTo>
                        <a:lnTo>
                          <a:pt x="1454772" y="1350000"/>
                        </a:lnTo>
                        <a:lnTo>
                          <a:pt x="1340526" y="1214334"/>
                        </a:lnTo>
                        <a:lnTo>
                          <a:pt x="1426764" y="1214334"/>
                        </a:lnTo>
                        <a:lnTo>
                          <a:pt x="1426764" y="787500"/>
                        </a:lnTo>
                        <a:cubicBezTo>
                          <a:pt x="1426764" y="383513"/>
                          <a:pt x="1099267" y="56016"/>
                          <a:pt x="695280" y="56016"/>
                        </a:cubicBezTo>
                        <a:lnTo>
                          <a:pt x="556518" y="56016"/>
                        </a:lnTo>
                        <a:cubicBezTo>
                          <a:pt x="280906" y="121652"/>
                          <a:pt x="134481" y="238542"/>
                          <a:pt x="41728" y="264094"/>
                        </a:cubicBezTo>
                        <a:lnTo>
                          <a:pt x="0" y="209325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n w="0"/>
                      <a:solidFill>
                        <a:schemeClr val="tx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69" name="직사각형 68"/>
                  <p:cNvSpPr/>
                  <p:nvPr/>
                </p:nvSpPr>
                <p:spPr>
                  <a:xfrm>
                    <a:off x="3055153" y="4285440"/>
                    <a:ext cx="1276440" cy="27699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altLang="ko-KR" sz="1200" b="1">
                        <a:solidFill>
                          <a:srgbClr val="444444"/>
                        </a:solidFill>
                        <a:latin typeface="+mj-ea"/>
                        <a:ea typeface="+mj-ea"/>
                        <a:cs typeface="Noto Sans CJK KR" pitchFamily="34" charset="-120"/>
                      </a:rPr>
                      <a:t>④ STOP_HOLD</a:t>
                    </a:r>
                    <a:endParaRPr lang="en-US" altLang="ko-KR" sz="1200" b="1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cxnSp>
            <p:nvCxnSpPr>
              <p:cNvPr id="46" name="직선 화살표 연결선 45"/>
              <p:cNvCxnSpPr/>
              <p:nvPr/>
            </p:nvCxnSpPr>
            <p:spPr>
              <a:xfrm>
                <a:off x="2757476" y="4900866"/>
                <a:ext cx="419622" cy="0"/>
              </a:xfrm>
              <a:prstGeom prst="straightConnector1">
                <a:avLst/>
              </a:prstGeom>
              <a:ln w="12700">
                <a:solidFill>
                  <a:srgbClr val="1D0F0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TextBox 46"/>
              <p:cNvSpPr txBox="1"/>
              <p:nvPr/>
            </p:nvSpPr>
            <p:spPr>
              <a:xfrm>
                <a:off x="3129313" y="4793144"/>
                <a:ext cx="872355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800" b="1" smtClean="0">
                    <a:solidFill>
                      <a:srgbClr val="444444"/>
                    </a:solidFill>
                    <a:latin typeface="+mj-ea"/>
                    <a:ea typeface="+mj-ea"/>
                  </a:rPr>
                  <a:t>DESTINATION</a:t>
                </a:r>
                <a:endParaRPr lang="ko-KR" altLang="en-US" sz="800" b="1">
                  <a:solidFill>
                    <a:srgbClr val="444444"/>
                  </a:solidFill>
                  <a:latin typeface="+mj-ea"/>
                  <a:ea typeface="+mj-ea"/>
                </a:endParaRPr>
              </a:p>
            </p:txBody>
          </p:sp>
        </p:grpSp>
      </p:grpSp>
      <p:sp>
        <p:nvSpPr>
          <p:cNvPr id="63" name="Text 5"/>
          <p:cNvSpPr/>
          <p:nvPr/>
        </p:nvSpPr>
        <p:spPr>
          <a:xfrm>
            <a:off x="502920" y="1177914"/>
            <a:ext cx="843153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r>
              <a:rPr lang="ko-KR" altLang="en-US" sz="1300" i="1" smtClean="0">
                <a:solidFill>
                  <a:schemeClr val="bg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협소 공간 </a:t>
            </a:r>
            <a:r>
              <a:rPr lang="en-US" altLang="ko-KR" sz="1300" i="1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· Black-box </a:t>
            </a:r>
            <a:r>
              <a:rPr lang="ko-KR" altLang="en-US" sz="1300" i="1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구동계 </a:t>
            </a:r>
            <a:r>
              <a:rPr lang="en-US" altLang="ko-KR" sz="1300" i="1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  <a:sym typeface="Wingdings" panose="05000000000000000000" pitchFamily="2" charset="2"/>
              </a:rPr>
              <a:t> navigation2 </a:t>
            </a:r>
            <a:r>
              <a:rPr lang="ko-KR" altLang="en-US" sz="1300" i="1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  <a:sym typeface="Wingdings" panose="05000000000000000000" pitchFamily="2" charset="2"/>
              </a:rPr>
              <a:t>대신 예측 가능한 </a:t>
            </a:r>
            <a:r>
              <a:rPr lang="en-US" altLang="ko-KR" sz="1300" i="1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  <a:sym typeface="Wingdings" panose="05000000000000000000" pitchFamily="2" charset="2"/>
              </a:rPr>
              <a:t>primitive </a:t>
            </a:r>
            <a:r>
              <a:rPr lang="ko-KR" altLang="en-US" sz="1300" i="1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  <a:sym typeface="Wingdings" panose="05000000000000000000" pitchFamily="2" charset="2"/>
              </a:rPr>
              <a:t>주행 채택</a:t>
            </a:r>
            <a:endParaRPr lang="en-US" sz="1300" i="1" dirty="0">
              <a:solidFill>
                <a:schemeClr val="bg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64" name="Shape 6"/>
          <p:cNvSpPr/>
          <p:nvPr/>
        </p:nvSpPr>
        <p:spPr>
          <a:xfrm>
            <a:off x="548229" y="1646761"/>
            <a:ext cx="5831918" cy="3918375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blurRad="50800" dist="25400" dir="5400000" algn="bl" rotWithShape="0">
              <a:srgbClr val="999999">
                <a:alpha val="15000"/>
              </a:srgbClr>
            </a:outerShdw>
          </a:effectLst>
        </p:spPr>
      </p:sp>
      <p:sp>
        <p:nvSpPr>
          <p:cNvPr id="66" name="Text 7"/>
          <p:cNvSpPr/>
          <p:nvPr/>
        </p:nvSpPr>
        <p:spPr>
          <a:xfrm>
            <a:off x="776829" y="1764179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44"/>
                </a:solidFill>
                <a:latin typeface="+mj-ea"/>
                <a:ea typeface="+mj-ea"/>
                <a:cs typeface="Arial" pitchFamily="34" charset="-120"/>
              </a:rPr>
              <a:t>전략 비교</a:t>
            </a:r>
            <a:endParaRPr lang="en-US" sz="1400" dirty="0">
              <a:latin typeface="+mj-ea"/>
              <a:ea typeface="+mj-ea"/>
            </a:endParaRPr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6578574"/>
              </p:ext>
            </p:extLst>
          </p:nvPr>
        </p:nvGraphicFramePr>
        <p:xfrm>
          <a:off x="681971" y="2102507"/>
          <a:ext cx="5566404" cy="3291840"/>
        </p:xfrm>
        <a:graphic>
          <a:graphicData uri="http://schemas.openxmlformats.org/drawingml/2006/table">
            <a:tbl>
              <a:tblPr/>
              <a:tblGrid>
                <a:gridCol w="95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0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46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항목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Nav2 + Safety Filter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Primitive + Safety Filter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경로 생성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실시간 지도 기반 local planning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사전 정의 route 순차 실행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회전 제어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이동 중 미세 yaw 보정 지속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회전-직진 명확히 분리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장애물 대응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우회 경로 탐색 · Replanning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정지 → 대기 → 기존 방향 재개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장점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일반성, 동적 회피, 확장성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예측 가능성, 구현 확실성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5555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통합 부담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Planner·Costmap 동시 튜닝 필요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제한된 </a:t>
                      </a:r>
                      <a:r>
                        <a:rPr lang="en-US" sz="1050" smtClean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파라미터만</a:t>
                      </a:r>
                      <a:r>
                        <a:rPr lang="en-US" sz="1050" baseline="0" smtClean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ko-KR" altLang="en-US" sz="1050" baseline="0" smtClean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검증 </a:t>
                      </a:r>
                      <a:r>
                        <a:rPr lang="en-US" altLang="ko-KR" sz="1050" baseline="0" smtClean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050" baseline="0" smtClean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  <a:sym typeface="Wingdings" panose="05000000000000000000" pitchFamily="2" charset="2"/>
                        </a:rPr>
                        <a:t>부담 少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8" name="TextBox 47"/>
          <p:cNvSpPr txBox="1"/>
          <p:nvPr/>
        </p:nvSpPr>
        <p:spPr>
          <a:xfrm>
            <a:off x="681971" y="6273010"/>
            <a:ext cx="9740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smtClean="0">
                <a:solidFill>
                  <a:schemeClr val="bg1">
                    <a:lumMod val="75000"/>
                    <a:lumOff val="25000"/>
                  </a:schemeClr>
                </a:solidFill>
              </a:rPr>
              <a:t>“</a:t>
            </a:r>
            <a:r>
              <a:rPr lang="ko-KR" altLang="en-US" sz="1600" smtClean="0">
                <a:solidFill>
                  <a:schemeClr val="bg1">
                    <a:lumMod val="75000"/>
                    <a:lumOff val="25000"/>
                  </a:schemeClr>
                </a:solidFill>
              </a:rPr>
              <a:t>주행 실험을 통해 구현한 </a:t>
            </a:r>
            <a:r>
              <a:rPr lang="en-US" altLang="ko-KR" sz="1600" smtClean="0">
                <a:solidFill>
                  <a:schemeClr val="bg1">
                    <a:lumMod val="75000"/>
                    <a:lumOff val="25000"/>
                  </a:schemeClr>
                </a:solidFill>
              </a:rPr>
              <a:t>velocity safety filter </a:t>
            </a:r>
            <a:r>
              <a:rPr lang="ko-KR" altLang="en-US" sz="1600" smtClean="0">
                <a:solidFill>
                  <a:schemeClr val="bg1">
                    <a:lumMod val="75000"/>
                    <a:lumOff val="25000"/>
                  </a:schemeClr>
                </a:solidFill>
              </a:rPr>
              <a:t>적용에 적합한 </a:t>
            </a:r>
            <a:r>
              <a:rPr lang="en-US" altLang="ko-KR" sz="1600" smtClean="0">
                <a:solidFill>
                  <a:schemeClr val="bg1">
                    <a:lumMod val="75000"/>
                    <a:lumOff val="25000"/>
                  </a:schemeClr>
                </a:solidFill>
              </a:rPr>
              <a:t>primitive </a:t>
            </a:r>
            <a:r>
              <a:rPr lang="ko-KR" altLang="en-US" sz="1600" smtClean="0">
                <a:solidFill>
                  <a:schemeClr val="bg1">
                    <a:lumMod val="75000"/>
                    <a:lumOff val="25000"/>
                  </a:schemeClr>
                </a:solidFill>
              </a:rPr>
              <a:t>주행을 채택하여 프로젝트 진행</a:t>
            </a:r>
            <a:r>
              <a:rPr lang="en-US" altLang="ko-KR" sz="1600" smtClean="0">
                <a:solidFill>
                  <a:schemeClr val="bg1">
                    <a:lumMod val="75000"/>
                    <a:lumOff val="25000"/>
                  </a:schemeClr>
                </a:solidFill>
              </a:rPr>
              <a:t>＂</a:t>
            </a:r>
            <a:endParaRPr lang="ko-KR" altLang="en-US" sz="1600">
              <a:solidFill>
                <a:schemeClr val="bg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64820" y="1161669"/>
            <a:ext cx="64922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E5E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 package + custom / </a:t>
            </a:r>
            <a:r>
              <a:rPr lang="en-US" sz="1300" i="1">
                <a:solidFill>
                  <a:srgbClr val="5E5E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modified </a:t>
            </a:r>
            <a:r>
              <a:rPr lang="en-US" sz="1300" i="1" smtClean="0">
                <a:solidFill>
                  <a:srgbClr val="5E5E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</a:t>
            </a:r>
            <a:r>
              <a:rPr lang="ko-KR" altLang="en-US" sz="1300" i="1" smtClean="0">
                <a:solidFill>
                  <a:srgbClr val="5E5E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얹은</a:t>
            </a:r>
            <a:r>
              <a:rPr lang="en-US" sz="1300" i="1" smtClean="0">
                <a:solidFill>
                  <a:srgbClr val="5E5E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i="1" dirty="0">
                <a:solidFill>
                  <a:srgbClr val="5E5E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myAGV 구동 구조</a:t>
            </a:r>
            <a:endParaRPr lang="en-US" sz="1300" dirty="0"/>
          </a:p>
        </p:txBody>
      </p:sp>
      <p:sp>
        <p:nvSpPr>
          <p:cNvPr id="64" name="Text 0"/>
          <p:cNvSpPr/>
          <p:nvPr/>
        </p:nvSpPr>
        <p:spPr>
          <a:xfrm>
            <a:off x="502920" y="256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6060"/>
                </a:solidFill>
                <a:latin typeface="+mj-ea"/>
                <a:ea typeface="+mj-ea"/>
              </a:rPr>
              <a:t>CORE ENGINEERING</a:t>
            </a:r>
            <a:endParaRPr lang="en-US" sz="1050" dirty="0">
              <a:latin typeface="+mj-ea"/>
              <a:ea typeface="+mj-ea"/>
            </a:endParaRPr>
          </a:p>
        </p:txBody>
      </p:sp>
      <p:sp>
        <p:nvSpPr>
          <p:cNvPr id="66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67" name="Shape 12"/>
          <p:cNvSpPr/>
          <p:nvPr/>
        </p:nvSpPr>
        <p:spPr>
          <a:xfrm>
            <a:off x="464820" y="1616582"/>
            <a:ext cx="6903720" cy="4409313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2" name="Shape 57"/>
          <p:cNvSpPr/>
          <p:nvPr/>
        </p:nvSpPr>
        <p:spPr>
          <a:xfrm>
            <a:off x="7616952" y="1616583"/>
            <a:ext cx="411480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3" name="Text 58"/>
          <p:cNvSpPr/>
          <p:nvPr/>
        </p:nvSpPr>
        <p:spPr>
          <a:xfrm>
            <a:off x="7799832" y="1744599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44"/>
                </a:solidFill>
                <a:latin typeface="+mj-ea"/>
                <a:ea typeface="+mj-ea"/>
                <a:cs typeface="Arial" pitchFamily="34" charset="-120"/>
              </a:rPr>
              <a:t>Base / 구현 / 수정</a:t>
            </a:r>
            <a:endParaRPr lang="en-US" sz="1300" dirty="0">
              <a:latin typeface="+mj-ea"/>
              <a:ea typeface="+mj-ea"/>
            </a:endParaRPr>
          </a:p>
        </p:txBody>
      </p:sp>
      <p:graphicFrame>
        <p:nvGraphicFramePr>
          <p:cNvPr id="1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4915278"/>
              </p:ext>
            </p:extLst>
          </p:nvPr>
        </p:nvGraphicFramePr>
        <p:xfrm>
          <a:off x="7799832" y="2073783"/>
          <a:ext cx="3749040" cy="1682496"/>
        </p:xfrm>
        <a:graphic>
          <a:graphicData uri="http://schemas.openxmlformats.org/drawingml/2006/table">
            <a:tbl>
              <a:tblPr/>
              <a:tblGrid>
                <a:gridCol w="7250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39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구분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구성 요소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F549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driver · odometry </a:t>
                      </a:r>
                      <a:r>
                        <a:rPr lang="en-US" sz="115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· </a:t>
                      </a:r>
                      <a:r>
                        <a:rPr lang="en-US" sz="1150" smtClean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AMCL </a:t>
                      </a:r>
                      <a:r>
                        <a:rPr lang="en-US" altLang="ko-KR" sz="1150" smtClean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· EKF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F549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구현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mission_brain · route_runner · align_bridge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F549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수정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safety_filter </a:t>
                      </a:r>
                      <a:r>
                        <a:rPr lang="en-US" sz="115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· </a:t>
                      </a:r>
                      <a:r>
                        <a:rPr lang="en-US" sz="1150" smtClean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aruco_align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5" name="Shape 59"/>
          <p:cNvSpPr/>
          <p:nvPr/>
        </p:nvSpPr>
        <p:spPr>
          <a:xfrm>
            <a:off x="7616952" y="4343400"/>
            <a:ext cx="41148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6" name="Text 60"/>
          <p:cNvSpPr/>
          <p:nvPr/>
        </p:nvSpPr>
        <p:spPr>
          <a:xfrm>
            <a:off x="7799832" y="448970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44"/>
                </a:solidFill>
                <a:latin typeface="+mj-ea"/>
                <a:ea typeface="+mj-ea"/>
                <a:cs typeface="Arial" pitchFamily="34" charset="-120"/>
              </a:rPr>
              <a:t>Black-box 대응 포인트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117" name="Text 61"/>
          <p:cNvSpPr/>
          <p:nvPr/>
        </p:nvSpPr>
        <p:spPr>
          <a:xfrm>
            <a:off x="7799832" y="4855464"/>
            <a:ext cx="374904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smtClean="0">
                <a:solidFill>
                  <a:srgbClr val="1A1A1A"/>
                </a:solidFill>
                <a:latin typeface="+mj-ea"/>
                <a:ea typeface="+mj-ea"/>
                <a:cs typeface="Arial" pitchFamily="34" charset="-120"/>
              </a:rPr>
              <a:t>cmd_vel </a:t>
            </a:r>
            <a:r>
              <a:rPr lang="en-US" sz="1150" smtClean="0">
                <a:solidFill>
                  <a:srgbClr val="1A1A1A"/>
                </a:solidFill>
                <a:latin typeface="+mj-ea"/>
                <a:ea typeface="+mj-ea"/>
                <a:cs typeface="Arial" pitchFamily="34" charset="-120"/>
                <a:sym typeface="Wingdings" panose="05000000000000000000" pitchFamily="2" charset="2"/>
              </a:rPr>
              <a:t> </a:t>
            </a:r>
            <a:r>
              <a:rPr lang="ko-KR" altLang="en-US" sz="1150" smtClean="0">
                <a:solidFill>
                  <a:srgbClr val="1A1A1A"/>
                </a:solidFill>
                <a:latin typeface="+mj-ea"/>
                <a:ea typeface="+mj-ea"/>
                <a:cs typeface="Arial" pitchFamily="34" charset="-120"/>
                <a:sym typeface="Wingdings" panose="05000000000000000000" pitchFamily="2" charset="2"/>
              </a:rPr>
              <a:t>모터 출력의 비선형 응답</a:t>
            </a:r>
            <a:endParaRPr lang="en-US" sz="1150" smtClean="0">
              <a:solidFill>
                <a:srgbClr val="1A1A1A"/>
              </a:solidFill>
              <a:latin typeface="+mj-ea"/>
              <a:ea typeface="+mj-ea"/>
              <a:cs typeface="Arial" pitchFamily="34" charset="-120"/>
            </a:endParaRP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150" smtClean="0">
                <a:solidFill>
                  <a:srgbClr val="1A1A1A"/>
                </a:solidFill>
                <a:latin typeface="+mj-ea"/>
                <a:ea typeface="+mj-ea"/>
                <a:cs typeface="Arial" pitchFamily="34" charset="-120"/>
              </a:rPr>
              <a:t>Vendor </a:t>
            </a:r>
            <a:r>
              <a:rPr lang="en-US" sz="1150" dirty="0">
                <a:solidFill>
                  <a:srgbClr val="1A1A1A"/>
                </a:solidFill>
                <a:latin typeface="+mj-ea"/>
                <a:ea typeface="+mj-ea"/>
                <a:cs typeface="Arial" pitchFamily="34" charset="-120"/>
              </a:rPr>
              <a:t>firmware 내부 로직 </a:t>
            </a:r>
            <a:r>
              <a:rPr lang="en-US" sz="1150">
                <a:solidFill>
                  <a:srgbClr val="1A1A1A"/>
                </a:solidFill>
                <a:latin typeface="+mj-ea"/>
                <a:ea typeface="+mj-ea"/>
                <a:cs typeface="Arial" pitchFamily="34" charset="-120"/>
              </a:rPr>
              <a:t>접근 </a:t>
            </a:r>
            <a:r>
              <a:rPr lang="en-US" sz="1150" smtClean="0">
                <a:solidFill>
                  <a:srgbClr val="1A1A1A"/>
                </a:solidFill>
                <a:latin typeface="+mj-ea"/>
                <a:ea typeface="+mj-ea"/>
                <a:cs typeface="Arial" pitchFamily="34" charset="-120"/>
              </a:rPr>
              <a:t>불가</a:t>
            </a:r>
            <a:endParaRPr lang="en-US" sz="1150" dirty="0">
              <a:latin typeface="+mj-ea"/>
              <a:ea typeface="+mj-ea"/>
            </a:endParaRPr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+mj-ea"/>
                <a:ea typeface="+mj-ea"/>
                <a:cs typeface="Arial" pitchFamily="34" charset="-120"/>
              </a:rPr>
              <a:t>Firmware 수정 대신 상위 </a:t>
            </a:r>
            <a:r>
              <a:rPr lang="en-US" sz="1150">
                <a:solidFill>
                  <a:srgbClr val="1A1A1A"/>
                </a:solidFill>
                <a:latin typeface="+mj-ea"/>
                <a:ea typeface="+mj-ea"/>
                <a:cs typeface="Arial" pitchFamily="34" charset="-120"/>
              </a:rPr>
              <a:t>ROS2 </a:t>
            </a:r>
            <a:r>
              <a:rPr lang="en-US" sz="1150" smtClean="0">
                <a:solidFill>
                  <a:srgbClr val="1A1A1A"/>
                </a:solidFill>
                <a:latin typeface="+mj-ea"/>
                <a:ea typeface="+mj-ea"/>
                <a:cs typeface="Arial" pitchFamily="34" charset="-120"/>
              </a:rPr>
              <a:t>node 재설계 </a:t>
            </a:r>
            <a:r>
              <a:rPr lang="en-US" sz="1150" smtClean="0">
                <a:solidFill>
                  <a:srgbClr val="1A1A1A"/>
                </a:solidFill>
                <a:latin typeface="+mj-ea"/>
                <a:ea typeface="+mj-ea"/>
                <a:cs typeface="Arial" pitchFamily="34" charset="-120"/>
                <a:sym typeface="Wingdings" panose="05000000000000000000" pitchFamily="2" charset="2"/>
              </a:rPr>
              <a:t> </a:t>
            </a:r>
            <a:r>
              <a:rPr lang="ko-KR" altLang="en-US" sz="1150" smtClean="0">
                <a:solidFill>
                  <a:srgbClr val="1A1A1A"/>
                </a:solidFill>
                <a:latin typeface="+mj-ea"/>
                <a:ea typeface="+mj-ea"/>
                <a:cs typeface="Arial" pitchFamily="34" charset="-120"/>
                <a:sym typeface="Wingdings" panose="05000000000000000000" pitchFamily="2" charset="2"/>
              </a:rPr>
              <a:t>모터 응답 제어</a:t>
            </a:r>
            <a:endParaRPr lang="en-US" sz="1150" dirty="0">
              <a:latin typeface="+mj-ea"/>
              <a:ea typeface="+mj-ea"/>
            </a:endParaRPr>
          </a:p>
        </p:txBody>
      </p:sp>
      <p:sp>
        <p:nvSpPr>
          <p:cNvPr id="118" name="Shape 62"/>
          <p:cNvSpPr/>
          <p:nvPr/>
        </p:nvSpPr>
        <p:spPr>
          <a:xfrm>
            <a:off x="457200" y="6172200"/>
            <a:ext cx="10852150" cy="502920"/>
          </a:xfrm>
          <a:prstGeom prst="roundRect">
            <a:avLst>
              <a:gd name="adj" fmla="val 9091"/>
            </a:avLst>
          </a:prstGeom>
          <a:solidFill>
            <a:srgbClr val="1F2A44"/>
          </a:solidFill>
          <a:ln/>
        </p:spPr>
      </p:sp>
      <p:sp>
        <p:nvSpPr>
          <p:cNvPr id="119" name="Text 63"/>
          <p:cNvSpPr/>
          <p:nvPr/>
        </p:nvSpPr>
        <p:spPr>
          <a:xfrm>
            <a:off x="640080" y="61722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하위 firmware를 </a:t>
            </a:r>
            <a:r>
              <a:rPr lang="en-US" sz="1300" b="1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직접 </a:t>
            </a:r>
            <a:r>
              <a:rPr lang="en-US" sz="1300" b="1" smtClean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수</a:t>
            </a:r>
            <a:r>
              <a:rPr lang="ko-KR" altLang="en-US" sz="1300" b="1" smtClean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정 불가 </a:t>
            </a:r>
            <a:r>
              <a:rPr lang="en-US" altLang="ko-KR" sz="1300" b="1" smtClean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  <a:sym typeface="Wingdings" panose="05000000000000000000" pitchFamily="2" charset="2"/>
              </a:rPr>
              <a:t></a:t>
            </a:r>
            <a:r>
              <a:rPr lang="en-US" sz="1300" b="1" smtClean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 </a:t>
            </a:r>
            <a:r>
              <a:rPr lang="en-US" sz="1300" b="1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상위 </a:t>
            </a:r>
            <a:r>
              <a:rPr lang="en-US" sz="1300" b="1" smtClean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ROS2 node </a:t>
            </a:r>
            <a:r>
              <a:rPr lang="en-US" sz="1300" b="1" dirty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flow 재설계 + </a:t>
            </a:r>
            <a:r>
              <a:rPr lang="en-US" sz="1300" b="1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safety </a:t>
            </a:r>
            <a:r>
              <a:rPr lang="en-US" sz="1300" b="1" smtClean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filter</a:t>
            </a:r>
            <a:r>
              <a:rPr lang="ko-KR" altLang="en-US" sz="1300" b="1" smtClean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</a:rPr>
              <a:t>로 모터 응답 제어 </a:t>
            </a:r>
            <a:r>
              <a:rPr lang="en-US" altLang="ko-KR" sz="1300" b="1" smtClean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  <a:sym typeface="Wingdings" panose="05000000000000000000" pitchFamily="2" charset="2"/>
              </a:rPr>
              <a:t> </a:t>
            </a:r>
            <a:r>
              <a:rPr lang="ko-KR" altLang="en-US" sz="1300" b="1" smtClean="0">
                <a:solidFill>
                  <a:srgbClr val="FFFFFF"/>
                </a:solidFill>
                <a:latin typeface="+mj-ea"/>
                <a:ea typeface="+mj-ea"/>
                <a:cs typeface="Arial" pitchFamily="34" charset="-120"/>
                <a:sym typeface="Wingdings" panose="05000000000000000000" pitchFamily="2" charset="2"/>
              </a:rPr>
              <a:t>안정 주행 구조 구축</a:t>
            </a:r>
            <a:endParaRPr lang="en-US" sz="1300" dirty="0">
              <a:latin typeface="+mj-ea"/>
              <a:ea typeface="+mj-ea"/>
            </a:endParaRPr>
          </a:p>
        </p:txBody>
      </p:sp>
      <p:grpSp>
        <p:nvGrpSpPr>
          <p:cNvPr id="124" name="그룹 123"/>
          <p:cNvGrpSpPr/>
          <p:nvPr/>
        </p:nvGrpSpPr>
        <p:grpSpPr>
          <a:xfrm>
            <a:off x="1074527" y="1872615"/>
            <a:ext cx="6185266" cy="4082917"/>
            <a:chOff x="1139297" y="1976444"/>
            <a:chExt cx="5977676" cy="3945886"/>
          </a:xfrm>
        </p:grpSpPr>
        <p:pic>
          <p:nvPicPr>
            <p:cNvPr id="121" name="그림 12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39297" y="1976444"/>
              <a:ext cx="5977676" cy="3945886"/>
            </a:xfrm>
            <a:prstGeom prst="rect">
              <a:avLst/>
            </a:prstGeom>
          </p:spPr>
        </p:pic>
        <p:sp>
          <p:nvSpPr>
            <p:cNvPr id="123" name="직사각형 122"/>
            <p:cNvSpPr/>
            <p:nvPr/>
          </p:nvSpPr>
          <p:spPr>
            <a:xfrm>
              <a:off x="1139297" y="2000631"/>
              <a:ext cx="1565803" cy="35204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2" name="직사각형 121"/>
          <p:cNvSpPr/>
          <p:nvPr/>
        </p:nvSpPr>
        <p:spPr>
          <a:xfrm>
            <a:off x="414337" y="1670685"/>
            <a:ext cx="2295525" cy="441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smtClean="0">
                <a:solidFill>
                  <a:schemeClr val="tx1"/>
                </a:solidFill>
                <a:latin typeface="+mj-ea"/>
                <a:ea typeface="+mj-ea"/>
              </a:rPr>
              <a:t>AGV </a:t>
            </a:r>
            <a:r>
              <a:rPr lang="ko-KR" altLang="en-US" sz="1600" b="1" smtClean="0">
                <a:solidFill>
                  <a:schemeClr val="tx1"/>
                </a:solidFill>
                <a:latin typeface="+mj-ea"/>
                <a:ea typeface="+mj-ea"/>
              </a:rPr>
              <a:t>노드 전체 </a:t>
            </a:r>
            <a:r>
              <a:rPr lang="en-US" altLang="ko-KR" sz="1600" b="1" smtClean="0">
                <a:solidFill>
                  <a:schemeClr val="tx1"/>
                </a:solidFill>
                <a:latin typeface="+mj-ea"/>
                <a:ea typeface="+mj-ea"/>
              </a:rPr>
              <a:t>Flow</a:t>
            </a:r>
            <a:endParaRPr lang="ko-KR" altLang="en-US" sz="1600" b="1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25" name="Text 1"/>
          <p:cNvSpPr/>
          <p:nvPr/>
        </p:nvSpPr>
        <p:spPr>
          <a:xfrm>
            <a:off x="502920" y="377583"/>
            <a:ext cx="4869180" cy="6977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smtClean="0">
                <a:latin typeface="+mj-ea"/>
                <a:ea typeface="+mj-ea"/>
              </a:rPr>
              <a:t>AGV Working Flow</a:t>
            </a:r>
            <a:endParaRPr lang="en-US" sz="2800" dirty="0">
              <a:latin typeface="+mj-ea"/>
              <a:ea typeface="+mj-ea"/>
            </a:endParaRPr>
          </a:p>
        </p:txBody>
      </p:sp>
      <p:sp>
        <p:nvSpPr>
          <p:cNvPr id="126" name="Text 4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smtClean="0">
                <a:solidFill>
                  <a:srgbClr val="737373"/>
                </a:solidFill>
                <a:latin typeface="+mj-ea"/>
                <a:ea typeface="+mj-ea"/>
                <a:cs typeface="Noto Sans CJK KR" pitchFamily="34" charset="-120"/>
              </a:rPr>
              <a:t>09</a:t>
            </a:r>
            <a:endParaRPr lang="en-US" sz="95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027718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93700" y="428752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latin typeface="+mj-ea"/>
                <a:ea typeface="+mj-ea"/>
                <a:cs typeface="Arial" pitchFamily="34" charset="-120"/>
              </a:rPr>
              <a:t>AGV KPI 검증: Primitive 전략과 Safety Filter</a:t>
            </a:r>
            <a:endParaRPr lang="en-US" sz="2800" dirty="0">
              <a:latin typeface="+mj-ea"/>
              <a:ea typeface="+mj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C8C8C"/>
                </a:solidFill>
                <a:latin typeface="+mj-ea"/>
                <a:ea typeface="+mj-ea"/>
              </a:rPr>
              <a:t>10</a:t>
            </a:r>
            <a:endParaRPr lang="en-US" sz="1000" b="1" dirty="0">
              <a:latin typeface="+mj-ea"/>
              <a:ea typeface="+mj-ea"/>
            </a:endParaRPr>
          </a:p>
        </p:txBody>
      </p:sp>
      <p:sp>
        <p:nvSpPr>
          <p:cNvPr id="7" name="Text 5"/>
          <p:cNvSpPr/>
          <p:nvPr/>
        </p:nvSpPr>
        <p:spPr>
          <a:xfrm>
            <a:off x="384048" y="1113663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A3A3A"/>
                </a:solidFill>
                <a:latin typeface="+mj-ea"/>
                <a:ea typeface="+mj-ea"/>
                <a:cs typeface="Arial" pitchFamily="34" charset="-120"/>
              </a:rPr>
              <a:t>주행 전략 전환(Nav2→Primitive)과 Safety Filter 적용, 두 개선이 각각 </a:t>
            </a:r>
            <a:r>
              <a:rPr lang="en-US" sz="1300" i="1">
                <a:solidFill>
                  <a:srgbClr val="3A3A3A"/>
                </a:solidFill>
                <a:latin typeface="+mj-ea"/>
                <a:ea typeface="+mj-ea"/>
                <a:cs typeface="Arial" pitchFamily="34" charset="-120"/>
              </a:rPr>
              <a:t>기여한 </a:t>
            </a:r>
            <a:r>
              <a:rPr lang="en-US" sz="1300" i="1" smtClean="0">
                <a:solidFill>
                  <a:srgbClr val="3A3A3A"/>
                </a:solidFill>
                <a:latin typeface="+mj-ea"/>
                <a:ea typeface="+mj-ea"/>
                <a:cs typeface="Arial" pitchFamily="34" charset="-120"/>
              </a:rPr>
              <a:t>정량 </a:t>
            </a:r>
            <a:r>
              <a:rPr lang="ko-KR" altLang="en-US" sz="1300" i="1" smtClean="0">
                <a:solidFill>
                  <a:srgbClr val="3A3A3A"/>
                </a:solidFill>
                <a:latin typeface="+mj-ea"/>
                <a:ea typeface="+mj-ea"/>
                <a:cs typeface="Arial" pitchFamily="34" charset="-120"/>
              </a:rPr>
              <a:t>효과 검증</a:t>
            </a:r>
            <a:r>
              <a:rPr lang="en-US" sz="1300" i="1" smtClean="0">
                <a:solidFill>
                  <a:srgbClr val="3A3A3A"/>
                </a:solidFill>
                <a:latin typeface="+mj-ea"/>
                <a:ea typeface="+mj-ea"/>
                <a:cs typeface="Arial" pitchFamily="34" charset="-120"/>
              </a:rPr>
              <a:t>.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1689352"/>
            <a:ext cx="5486400" cy="3794760"/>
          </a:xfrm>
          <a:prstGeom prst="roundRect">
            <a:avLst>
              <a:gd name="adj" fmla="val 1446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blurRad="50800" dist="25400" dir="5400000" algn="bl" rotWithShape="0">
              <a:srgbClr val="999999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183565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44"/>
                </a:solidFill>
                <a:latin typeface="+mj-ea"/>
                <a:ea typeface="+mj-ea"/>
                <a:cs typeface="Arial" pitchFamily="34" charset="-120"/>
              </a:rPr>
              <a:t>① 주행 전략: Nav2 → Primitive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27114" y="5186931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7B3C"/>
                </a:solidFill>
                <a:latin typeface="+mj-ea"/>
                <a:ea typeface="+mj-ea"/>
                <a:cs typeface="Arial" pitchFamily="34" charset="-120"/>
              </a:rPr>
              <a:t>평균 52.6% 개선 (4개 KPI 평균)</a:t>
            </a:r>
            <a:endParaRPr lang="en-US" sz="1050" dirty="0">
              <a:latin typeface="+mj-ea"/>
              <a:ea typeface="+mj-ea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245352" y="1689352"/>
            <a:ext cx="5486400" cy="3794760"/>
          </a:xfrm>
          <a:prstGeom prst="roundRect">
            <a:avLst>
              <a:gd name="adj" fmla="val 1446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blurRad="50800" dist="25400" dir="5400000" algn="bl" rotWithShape="0">
              <a:srgbClr val="999999">
                <a:alpha val="1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73952" y="183565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44"/>
                </a:solidFill>
                <a:latin typeface="+mj-ea"/>
                <a:ea typeface="+mj-ea"/>
                <a:cs typeface="Arial" pitchFamily="34" charset="-120"/>
              </a:rPr>
              <a:t>② Safety Filter 적용 전/후</a:t>
            </a:r>
            <a:endParaRPr lang="en-US" sz="1300" dirty="0">
              <a:latin typeface="+mj-ea"/>
              <a:ea typeface="+mj-ea"/>
            </a:endParaRPr>
          </a:p>
        </p:txBody>
      </p:sp>
      <p:graphicFrame>
        <p:nvGraphicFramePr>
          <p:cNvPr id="14" name="Chart 1"/>
          <p:cNvGraphicFramePr/>
          <p:nvPr>
            <p:extLst>
              <p:ext uri="{D42A27DB-BD31-4B8C-83A1-F6EECF244321}">
                <p14:modId xmlns:p14="http://schemas.microsoft.com/office/powerpoint/2010/main" val="561612217"/>
              </p:ext>
            </p:extLst>
          </p:nvPr>
        </p:nvGraphicFramePr>
        <p:xfrm>
          <a:off x="6350508" y="2313432"/>
          <a:ext cx="5276088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Text 11"/>
          <p:cNvSpPr/>
          <p:nvPr/>
        </p:nvSpPr>
        <p:spPr>
          <a:xfrm>
            <a:off x="6245352" y="5207887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77777"/>
                </a:solidFill>
                <a:latin typeface="+mj-ea"/>
                <a:ea typeface="+mj-ea"/>
                <a:cs typeface="Arial" pitchFamily="34" charset="-120"/>
              </a:rPr>
              <a:t>Overshoot 단위 스케일 조정 표기(그래프 가독성용) · 실수치는 표 참조</a:t>
            </a:r>
            <a:endParaRPr lang="en-US" sz="850" dirty="0">
              <a:latin typeface="+mj-ea"/>
              <a:ea typeface="+mj-ea"/>
            </a:endParaRPr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5223208"/>
              </p:ext>
            </p:extLst>
          </p:nvPr>
        </p:nvGraphicFramePr>
        <p:xfrm>
          <a:off x="457200" y="5664810"/>
          <a:ext cx="11274552" cy="866398"/>
        </p:xfrm>
        <a:graphic>
          <a:graphicData uri="http://schemas.openxmlformats.org/drawingml/2006/table">
            <a:tbl>
              <a:tblPr/>
              <a:tblGrid>
                <a:gridCol w="2816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6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6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25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319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Linear.x NRMSE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Angular.z NRMSE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Linear Peak Overshoot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Angular Peak Overshoot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19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46.8% → 17.6%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7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76.3% → 28.0%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1E7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0.31 </a:t>
                      </a:r>
                      <a:r>
                        <a:rPr lang="en-US" sz="1300" b="1" smtClean="0">
                          <a:solidFill>
                            <a:srgbClr val="1E7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m/s</a:t>
                      </a:r>
                      <a:r>
                        <a:rPr lang="en-US" sz="1300" b="1" baseline="0" smtClean="0">
                          <a:solidFill>
                            <a:srgbClr val="1E7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300" b="1" smtClean="0">
                          <a:solidFill>
                            <a:srgbClr val="1E7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→ </a:t>
                      </a:r>
                      <a:r>
                        <a:rPr lang="en-US" sz="1300" b="1" dirty="0">
                          <a:solidFill>
                            <a:srgbClr val="1E7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0.01 m/s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1E7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 </a:t>
                      </a:r>
                      <a:r>
                        <a:rPr lang="en-US" sz="1300" b="1" smtClean="0">
                          <a:solidFill>
                            <a:srgbClr val="1E7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rad/s</a:t>
                      </a:r>
                      <a:r>
                        <a:rPr lang="en-US" sz="1300" b="1" baseline="0" smtClean="0">
                          <a:solidFill>
                            <a:srgbClr val="1E7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300" b="1" smtClean="0">
                          <a:solidFill>
                            <a:srgbClr val="1E7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→ </a:t>
                      </a:r>
                      <a:r>
                        <a:rPr lang="en-US" sz="1300" b="1" dirty="0">
                          <a:solidFill>
                            <a:srgbClr val="1E7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0.22 rad/s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7" name="Chart 0"/>
          <p:cNvGraphicFramePr/>
          <p:nvPr>
            <p:extLst>
              <p:ext uri="{D42A27DB-BD31-4B8C-83A1-F6EECF244321}">
                <p14:modId xmlns:p14="http://schemas.microsoft.com/office/powerpoint/2010/main" val="312559986"/>
              </p:ext>
            </p:extLst>
          </p:nvPr>
        </p:nvGraphicFramePr>
        <p:xfrm>
          <a:off x="663703" y="2195214"/>
          <a:ext cx="4943475" cy="30126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21" name="Text 0"/>
          <p:cNvSpPr/>
          <p:nvPr/>
        </p:nvSpPr>
        <p:spPr>
          <a:xfrm>
            <a:off x="502920" y="256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6060"/>
                </a:solidFill>
                <a:latin typeface="+mj-ea"/>
                <a:ea typeface="+mj-ea"/>
              </a:rPr>
              <a:t>CORE ENGINEERING</a:t>
            </a:r>
            <a:endParaRPr lang="en-US" sz="105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92840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93776" y="563826"/>
            <a:ext cx="36576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KPI 달성 검증</a:t>
            </a:r>
            <a:endParaRPr lang="en-US" sz="2800" dirty="0"/>
          </a:p>
        </p:txBody>
      </p:sp>
      <p:grpSp>
        <p:nvGrpSpPr>
          <p:cNvPr id="122" name="그룹 121"/>
          <p:cNvGrpSpPr/>
          <p:nvPr/>
        </p:nvGrpSpPr>
        <p:grpSpPr>
          <a:xfrm>
            <a:off x="529971" y="1243585"/>
            <a:ext cx="4396740" cy="612648"/>
            <a:chOff x="4013835" y="1517904"/>
            <a:chExt cx="4396740" cy="612648"/>
          </a:xfrm>
        </p:grpSpPr>
        <p:sp>
          <p:nvSpPr>
            <p:cNvPr id="9" name="Shape 7"/>
            <p:cNvSpPr/>
            <p:nvPr/>
          </p:nvSpPr>
          <p:spPr>
            <a:xfrm>
              <a:off x="4013835" y="1517904"/>
              <a:ext cx="4396740" cy="612648"/>
            </a:xfrm>
            <a:prstGeom prst="roundRect">
              <a:avLst>
                <a:gd name="adj" fmla="val 7339"/>
              </a:avLst>
            </a:prstGeom>
            <a:solidFill>
              <a:srgbClr val="DDE8F7"/>
            </a:solidFill>
            <a:ln w="8890">
              <a:solidFill>
                <a:srgbClr val="CAD4E6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4150995" y="1609344"/>
              <a:ext cx="914400" cy="16459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C263E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집계 방식</a:t>
              </a:r>
              <a:endParaRPr lang="en-US" sz="14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4242435" y="1837944"/>
              <a:ext cx="3831336" cy="219456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00" smtClean="0">
                  <a:solidFill>
                    <a:srgbClr val="57575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최종 30</a:t>
              </a:r>
              <a:r>
                <a:rPr lang="en-US" sz="1200" dirty="0">
                  <a:solidFill>
                    <a:srgbClr val="57575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회 시나리오 </a:t>
              </a:r>
              <a:r>
                <a:rPr lang="en-US" sz="1200">
                  <a:solidFill>
                    <a:srgbClr val="57575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반복 </a:t>
              </a:r>
              <a:r>
                <a:rPr lang="en-US" sz="1200" smtClean="0">
                  <a:solidFill>
                    <a:srgbClr val="57575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결과 목표 </a:t>
              </a:r>
              <a:r>
                <a:rPr lang="en-US" sz="1200" dirty="0">
                  <a:solidFill>
                    <a:srgbClr val="57575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KPI와 </a:t>
              </a:r>
              <a:r>
                <a:rPr lang="en-US" sz="1200">
                  <a:solidFill>
                    <a:srgbClr val="57575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연결해 </a:t>
              </a:r>
              <a:r>
                <a:rPr lang="ko-KR" altLang="en-US" sz="1200" smtClean="0">
                  <a:solidFill>
                    <a:srgbClr val="575757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요약</a:t>
              </a:r>
              <a:endParaRPr lang="en-US" sz="1200" dirty="0"/>
            </a:p>
          </p:txBody>
        </p:sp>
      </p:grpSp>
      <p:sp>
        <p:nvSpPr>
          <p:cNvPr id="12" name="Shape 10"/>
          <p:cNvSpPr/>
          <p:nvPr/>
        </p:nvSpPr>
        <p:spPr>
          <a:xfrm>
            <a:off x="529971" y="2260418"/>
            <a:ext cx="2578608" cy="1378894"/>
          </a:xfrm>
          <a:prstGeom prst="roundRect">
            <a:avLst/>
          </a:prstGeom>
          <a:solidFill>
            <a:srgbClr val="EEF6EA"/>
          </a:solidFill>
          <a:ln w="8890">
            <a:solidFill>
              <a:srgbClr val="D3D3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563" y="2426534"/>
            <a:ext cx="224942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AGV Route Mobility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4563" y="2636846"/>
            <a:ext cx="2249424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 90%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94563" y="2826793"/>
            <a:ext cx="2249424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b="1" smtClean="0">
                <a:solidFill>
                  <a:srgbClr val="2C7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97% </a:t>
            </a:r>
            <a:r>
              <a:rPr lang="en-US" b="1" dirty="0">
                <a:solidFill>
                  <a:srgbClr val="2C7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90%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94563" y="3091969"/>
            <a:ext cx="2249424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b="1" smtClean="0">
                <a:solidFill>
                  <a:srgbClr val="2C7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달성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4563" y="3362270"/>
            <a:ext cx="2249424" cy="0"/>
          </a:xfrm>
          <a:prstGeom prst="line">
            <a:avLst/>
          </a:prstGeom>
          <a:noFill/>
          <a:ln w="6350">
            <a:solidFill>
              <a:srgbClr val="C7C7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2851" y="3426278"/>
            <a:ext cx="224942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 완주율 / 목표구역 진입률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18891" y="2260418"/>
            <a:ext cx="2578608" cy="1378894"/>
          </a:xfrm>
          <a:prstGeom prst="roundRect">
            <a:avLst/>
          </a:prstGeom>
          <a:solidFill>
            <a:srgbClr val="EAF5F5"/>
          </a:solidFill>
          <a:ln w="8890">
            <a:solidFill>
              <a:srgbClr val="D3D3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83483" y="2426534"/>
            <a:ext cx="224942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Vision·Alignment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483483" y="2636846"/>
            <a:ext cx="2249424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 90%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38819" y="2817649"/>
            <a:ext cx="2249424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b="1" dirty="0">
                <a:solidFill>
                  <a:srgbClr val="287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95%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438819" y="3082825"/>
            <a:ext cx="2249424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87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달성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83483" y="3369890"/>
            <a:ext cx="2249424" cy="0"/>
          </a:xfrm>
          <a:prstGeom prst="line">
            <a:avLst/>
          </a:prstGeom>
          <a:noFill/>
          <a:ln w="6350">
            <a:solidFill>
              <a:srgbClr val="C7C7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01771" y="3433898"/>
            <a:ext cx="224942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구역 정렬 성공률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07811" y="2260418"/>
            <a:ext cx="2578608" cy="1378894"/>
          </a:xfrm>
          <a:prstGeom prst="roundRect">
            <a:avLst/>
          </a:prstGeom>
          <a:solidFill>
            <a:srgbClr val="FFF4E3"/>
          </a:solidFill>
          <a:ln w="8890">
            <a:solidFill>
              <a:srgbClr val="D3D3D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72403" y="2426534"/>
            <a:ext cx="224942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Motion Stability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272403" y="2636846"/>
            <a:ext cx="2249424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 90%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90691" y="2826898"/>
            <a:ext cx="2249424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b="1" dirty="0">
                <a:solidFill>
                  <a:srgbClr val="D789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96.8 / 74.7%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290691" y="3092074"/>
            <a:ext cx="2249424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789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 달성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47003" y="3362270"/>
            <a:ext cx="2249424" cy="0"/>
          </a:xfrm>
          <a:prstGeom prst="line">
            <a:avLst/>
          </a:prstGeom>
          <a:noFill/>
          <a:ln w="6350">
            <a:solidFill>
              <a:srgbClr val="C7C7C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90691" y="3426278"/>
            <a:ext cx="224942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선속도 / 각속도 overshoot 감소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896731" y="2260418"/>
            <a:ext cx="2578608" cy="1378894"/>
          </a:xfrm>
          <a:prstGeom prst="roundRect">
            <a:avLst/>
          </a:prstGeom>
          <a:solidFill>
            <a:srgbClr val="EEF3FA"/>
          </a:solidFill>
          <a:ln w="8890">
            <a:solidFill>
              <a:srgbClr val="D3D3D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61323" y="2426534"/>
            <a:ext cx="224942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D1D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E2E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061323" y="2636846"/>
            <a:ext cx="2249424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 80%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994648" y="2754194"/>
            <a:ext cx="2249424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b="1" smtClean="0">
                <a:solidFill>
                  <a:srgbClr val="2C5E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90%</a:t>
            </a: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8994648" y="3019370"/>
            <a:ext cx="2249424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ko-KR" altLang="en-US" sz="1000" b="1" smtClean="0">
                <a:solidFill>
                  <a:srgbClr val="2C5E93"/>
                </a:solidFill>
                <a:latin typeface="Malgun Gothic" pitchFamily="34" charset="0"/>
                <a:ea typeface="Malgun Gothic" pitchFamily="34" charset="-122"/>
              </a:rPr>
              <a:t>달성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061323" y="3362270"/>
            <a:ext cx="2249424" cy="0"/>
          </a:xfrm>
          <a:prstGeom prst="line">
            <a:avLst/>
          </a:prstGeom>
          <a:noFill/>
          <a:ln w="6350">
            <a:solidFill>
              <a:srgbClr val="C7C7C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79611" y="3426278"/>
            <a:ext cx="224942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75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주문→이동→정렬→파지→복귀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02920" y="4198947"/>
            <a:ext cx="3072765" cy="329184"/>
          </a:xfrm>
          <a:prstGeom prst="rect">
            <a:avLst/>
          </a:prstGeom>
          <a:solidFill>
            <a:srgbClr val="1C263E"/>
          </a:solidFill>
          <a:ln w="8890">
            <a:solidFill>
              <a:srgbClr val="1C263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1" y="4276671"/>
            <a:ext cx="27432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KPI 측정 결과 정리</a:t>
            </a:r>
            <a:endParaRPr lang="en-US" sz="1400" dirty="0"/>
          </a:p>
        </p:txBody>
      </p:sp>
      <p:grpSp>
        <p:nvGrpSpPr>
          <p:cNvPr id="123" name="그룹 122"/>
          <p:cNvGrpSpPr/>
          <p:nvPr/>
        </p:nvGrpSpPr>
        <p:grpSpPr>
          <a:xfrm>
            <a:off x="502920" y="4686626"/>
            <a:ext cx="11084064" cy="1650818"/>
            <a:chOff x="529971" y="4448556"/>
            <a:chExt cx="10744200" cy="1600200"/>
          </a:xfrm>
        </p:grpSpPr>
        <p:sp>
          <p:nvSpPr>
            <p:cNvPr id="42" name="Shape 40"/>
            <p:cNvSpPr/>
            <p:nvPr/>
          </p:nvSpPr>
          <p:spPr>
            <a:xfrm>
              <a:off x="529971" y="4448556"/>
              <a:ext cx="1508760" cy="274320"/>
            </a:xfrm>
            <a:prstGeom prst="rect">
              <a:avLst/>
            </a:prstGeom>
            <a:solidFill>
              <a:srgbClr val="EDF0F4"/>
            </a:solidFill>
            <a:ln w="6350">
              <a:solidFill>
                <a:srgbClr val="C9CDD3"/>
              </a:solidFill>
              <a:prstDash val="solid"/>
            </a:ln>
          </p:spPr>
        </p:sp>
        <p:sp>
          <p:nvSpPr>
            <p:cNvPr id="43" name="Text 41"/>
            <p:cNvSpPr/>
            <p:nvPr/>
          </p:nvSpPr>
          <p:spPr>
            <a:xfrm>
              <a:off x="566547" y="4512564"/>
              <a:ext cx="1435608" cy="128016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C263E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핵심 가치</a:t>
              </a:r>
              <a:endParaRPr lang="en-US" sz="1000" dirty="0"/>
            </a:p>
          </p:txBody>
        </p:sp>
        <p:sp>
          <p:nvSpPr>
            <p:cNvPr id="44" name="Shape 42"/>
            <p:cNvSpPr/>
            <p:nvPr/>
          </p:nvSpPr>
          <p:spPr>
            <a:xfrm>
              <a:off x="2038731" y="4448556"/>
              <a:ext cx="2194560" cy="274320"/>
            </a:xfrm>
            <a:prstGeom prst="rect">
              <a:avLst/>
            </a:prstGeom>
            <a:solidFill>
              <a:srgbClr val="EDF0F4"/>
            </a:solidFill>
            <a:ln w="6350">
              <a:solidFill>
                <a:srgbClr val="C9CDD3"/>
              </a:solidFill>
              <a:prstDash val="solid"/>
            </a:ln>
          </p:spPr>
        </p:sp>
        <p:sp>
          <p:nvSpPr>
            <p:cNvPr id="45" name="Text 43"/>
            <p:cNvSpPr/>
            <p:nvPr/>
          </p:nvSpPr>
          <p:spPr>
            <a:xfrm>
              <a:off x="2075307" y="4512564"/>
              <a:ext cx="2121408" cy="128016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C263E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측정 KPI</a:t>
              </a:r>
              <a:endParaRPr lang="en-US" sz="1000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4233291" y="4448556"/>
              <a:ext cx="1097280" cy="274320"/>
            </a:xfrm>
            <a:prstGeom prst="rect">
              <a:avLst/>
            </a:prstGeom>
            <a:solidFill>
              <a:srgbClr val="EDF0F4"/>
            </a:solidFill>
            <a:ln w="6350">
              <a:solidFill>
                <a:srgbClr val="C9CDD3"/>
              </a:solidFill>
              <a:prstDash val="solid"/>
            </a:ln>
          </p:spPr>
        </p:sp>
        <p:sp>
          <p:nvSpPr>
            <p:cNvPr id="47" name="Text 45"/>
            <p:cNvSpPr/>
            <p:nvPr/>
          </p:nvSpPr>
          <p:spPr>
            <a:xfrm>
              <a:off x="4269867" y="4512564"/>
              <a:ext cx="1024128" cy="128016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C263E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목표</a:t>
              </a:r>
              <a:endParaRPr lang="en-US" sz="1000" dirty="0"/>
            </a:p>
          </p:txBody>
        </p:sp>
        <p:sp>
          <p:nvSpPr>
            <p:cNvPr id="48" name="Shape 46"/>
            <p:cNvSpPr/>
            <p:nvPr/>
          </p:nvSpPr>
          <p:spPr>
            <a:xfrm>
              <a:off x="5330571" y="4448556"/>
              <a:ext cx="1371600" cy="274320"/>
            </a:xfrm>
            <a:prstGeom prst="rect">
              <a:avLst/>
            </a:prstGeom>
            <a:solidFill>
              <a:srgbClr val="EDF0F4"/>
            </a:solidFill>
            <a:ln w="6350">
              <a:solidFill>
                <a:srgbClr val="C9CDD3"/>
              </a:solidFill>
              <a:prstDash val="solid"/>
            </a:ln>
          </p:spPr>
        </p:sp>
        <p:sp>
          <p:nvSpPr>
            <p:cNvPr id="49" name="Text 47"/>
            <p:cNvSpPr/>
            <p:nvPr/>
          </p:nvSpPr>
          <p:spPr>
            <a:xfrm>
              <a:off x="5367147" y="4512564"/>
              <a:ext cx="1298448" cy="128016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C263E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실험 결과</a:t>
              </a:r>
              <a:endParaRPr lang="en-US" sz="1000" dirty="0"/>
            </a:p>
          </p:txBody>
        </p:sp>
        <p:sp>
          <p:nvSpPr>
            <p:cNvPr id="50" name="Shape 48"/>
            <p:cNvSpPr/>
            <p:nvPr/>
          </p:nvSpPr>
          <p:spPr>
            <a:xfrm>
              <a:off x="6702171" y="4448556"/>
              <a:ext cx="1371600" cy="274320"/>
            </a:xfrm>
            <a:prstGeom prst="rect">
              <a:avLst/>
            </a:prstGeom>
            <a:solidFill>
              <a:srgbClr val="EDF0F4"/>
            </a:solidFill>
            <a:ln w="6350">
              <a:solidFill>
                <a:srgbClr val="C9CDD3"/>
              </a:solidFill>
              <a:prstDash val="solid"/>
            </a:ln>
          </p:spPr>
        </p:sp>
        <p:sp>
          <p:nvSpPr>
            <p:cNvPr id="51" name="Text 49"/>
            <p:cNvSpPr/>
            <p:nvPr/>
          </p:nvSpPr>
          <p:spPr>
            <a:xfrm>
              <a:off x="6738747" y="4512564"/>
              <a:ext cx="1298448" cy="128016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C263E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판정</a:t>
              </a:r>
              <a:endParaRPr lang="en-US" sz="1000" dirty="0"/>
            </a:p>
          </p:txBody>
        </p:sp>
        <p:sp>
          <p:nvSpPr>
            <p:cNvPr id="52" name="Shape 50"/>
            <p:cNvSpPr/>
            <p:nvPr/>
          </p:nvSpPr>
          <p:spPr>
            <a:xfrm>
              <a:off x="8073771" y="4448556"/>
              <a:ext cx="3200400" cy="274320"/>
            </a:xfrm>
            <a:prstGeom prst="rect">
              <a:avLst/>
            </a:prstGeom>
            <a:solidFill>
              <a:srgbClr val="EDF0F4"/>
            </a:solidFill>
            <a:ln w="6350">
              <a:solidFill>
                <a:srgbClr val="C9CDD3"/>
              </a:solidFill>
              <a:prstDash val="solid"/>
            </a:ln>
          </p:spPr>
        </p:sp>
        <p:sp>
          <p:nvSpPr>
            <p:cNvPr id="53" name="Text 51"/>
            <p:cNvSpPr/>
            <p:nvPr/>
          </p:nvSpPr>
          <p:spPr>
            <a:xfrm>
              <a:off x="8110347" y="4512564"/>
              <a:ext cx="3127248" cy="128016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 fontScale="92500" lnSpcReduction="10000"/>
            </a:bodyPr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C263E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해석 / 후속 조치</a:t>
              </a:r>
              <a:endParaRPr lang="en-US" sz="1000" dirty="0"/>
            </a:p>
          </p:txBody>
        </p:sp>
        <p:sp>
          <p:nvSpPr>
            <p:cNvPr id="54" name="Shape 52"/>
            <p:cNvSpPr/>
            <p:nvPr/>
          </p:nvSpPr>
          <p:spPr>
            <a:xfrm>
              <a:off x="529971" y="4722876"/>
              <a:ext cx="1508760" cy="265176"/>
            </a:xfrm>
            <a:prstGeom prst="rect">
              <a:avLst/>
            </a:prstGeom>
            <a:solidFill>
              <a:srgbClr val="FFFFFF"/>
            </a:solidFill>
            <a:ln w="5715">
              <a:solidFill>
                <a:srgbClr val="D0D0D0"/>
              </a:solidFill>
              <a:prstDash val="solid"/>
            </a:ln>
          </p:spPr>
        </p:sp>
        <p:sp>
          <p:nvSpPr>
            <p:cNvPr id="55" name="Text 53"/>
            <p:cNvSpPr/>
            <p:nvPr/>
          </p:nvSpPr>
          <p:spPr>
            <a:xfrm>
              <a:off x="575691" y="4791456"/>
              <a:ext cx="1417320" cy="11887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 fontScale="92500" lnSpcReduction="20000"/>
            </a:bodyPr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1D1D1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AGV Route</a:t>
              </a:r>
              <a:endParaRPr lang="en-US" sz="1000" dirty="0"/>
            </a:p>
          </p:txBody>
        </p:sp>
        <p:sp>
          <p:nvSpPr>
            <p:cNvPr id="56" name="Shape 54"/>
            <p:cNvSpPr/>
            <p:nvPr/>
          </p:nvSpPr>
          <p:spPr>
            <a:xfrm>
              <a:off x="2038731" y="4722876"/>
              <a:ext cx="2194560" cy="265176"/>
            </a:xfrm>
            <a:prstGeom prst="rect">
              <a:avLst/>
            </a:prstGeom>
            <a:solidFill>
              <a:srgbClr val="FFFFFF"/>
            </a:solidFill>
            <a:ln w="5715">
              <a:solidFill>
                <a:srgbClr val="D0D0D0"/>
              </a:solidFill>
              <a:prstDash val="solid"/>
            </a:ln>
          </p:spPr>
        </p:sp>
        <p:sp>
          <p:nvSpPr>
            <p:cNvPr id="57" name="Text 55"/>
            <p:cNvSpPr/>
            <p:nvPr/>
          </p:nvSpPr>
          <p:spPr>
            <a:xfrm>
              <a:off x="2084451" y="4791456"/>
              <a:ext cx="2103120" cy="11887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 fontScale="92500" lnSpcReduction="20000"/>
            </a:bodyPr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1D1D1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Waypoint 기반 경로 완주율</a:t>
              </a:r>
              <a:endParaRPr lang="en-US" sz="1000" dirty="0"/>
            </a:p>
          </p:txBody>
        </p:sp>
        <p:sp>
          <p:nvSpPr>
            <p:cNvPr id="58" name="Shape 56"/>
            <p:cNvSpPr/>
            <p:nvPr/>
          </p:nvSpPr>
          <p:spPr>
            <a:xfrm>
              <a:off x="4233291" y="4722876"/>
              <a:ext cx="1097280" cy="265176"/>
            </a:xfrm>
            <a:prstGeom prst="rect">
              <a:avLst/>
            </a:prstGeom>
            <a:solidFill>
              <a:srgbClr val="FFFFFF"/>
            </a:solidFill>
            <a:ln w="5715">
              <a:solidFill>
                <a:srgbClr val="D0D0D0"/>
              </a:solidFill>
              <a:prstDash val="solid"/>
            </a:ln>
          </p:spPr>
        </p:sp>
        <p:sp>
          <p:nvSpPr>
            <p:cNvPr id="59" name="Text 57"/>
            <p:cNvSpPr/>
            <p:nvPr/>
          </p:nvSpPr>
          <p:spPr>
            <a:xfrm>
              <a:off x="4279011" y="4791456"/>
              <a:ext cx="1005840" cy="11887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 fontScale="92500" lnSpcReduction="20000"/>
            </a:bodyPr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1D1D1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90%</a:t>
              </a:r>
              <a:endParaRPr lang="en-US" sz="1000" dirty="0"/>
            </a:p>
          </p:txBody>
        </p:sp>
        <p:sp>
          <p:nvSpPr>
            <p:cNvPr id="60" name="Shape 58"/>
            <p:cNvSpPr/>
            <p:nvPr/>
          </p:nvSpPr>
          <p:spPr>
            <a:xfrm>
              <a:off x="5330571" y="4722876"/>
              <a:ext cx="1371600" cy="265176"/>
            </a:xfrm>
            <a:prstGeom prst="rect">
              <a:avLst/>
            </a:prstGeom>
            <a:solidFill>
              <a:srgbClr val="FFFFFF"/>
            </a:solidFill>
            <a:ln w="5715">
              <a:solidFill>
                <a:srgbClr val="D0D0D0"/>
              </a:solidFill>
              <a:prstDash val="solid"/>
            </a:ln>
          </p:spPr>
        </p:sp>
        <p:sp>
          <p:nvSpPr>
            <p:cNvPr id="61" name="Text 59"/>
            <p:cNvSpPr/>
            <p:nvPr/>
          </p:nvSpPr>
          <p:spPr>
            <a:xfrm>
              <a:off x="5376291" y="4791456"/>
              <a:ext cx="1280160" cy="11887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 fontScale="92500" lnSpcReduction="20000"/>
            </a:bodyPr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1D1D1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80%</a:t>
              </a:r>
              <a:endParaRPr lang="en-US" sz="1000" dirty="0"/>
            </a:p>
          </p:txBody>
        </p:sp>
        <p:sp>
          <p:nvSpPr>
            <p:cNvPr id="62" name="Shape 60"/>
            <p:cNvSpPr/>
            <p:nvPr/>
          </p:nvSpPr>
          <p:spPr>
            <a:xfrm>
              <a:off x="6702171" y="4722876"/>
              <a:ext cx="1371600" cy="265176"/>
            </a:xfrm>
            <a:prstGeom prst="rect">
              <a:avLst/>
            </a:prstGeom>
            <a:solidFill>
              <a:srgbClr val="FFFFFF"/>
            </a:solidFill>
            <a:ln w="5715">
              <a:solidFill>
                <a:srgbClr val="D0D0D0"/>
              </a:solidFill>
              <a:prstDash val="solid"/>
            </a:ln>
          </p:spPr>
        </p:sp>
        <p:sp>
          <p:nvSpPr>
            <p:cNvPr id="63" name="Text 61"/>
            <p:cNvSpPr/>
            <p:nvPr/>
          </p:nvSpPr>
          <p:spPr>
            <a:xfrm>
              <a:off x="6747891" y="4791456"/>
              <a:ext cx="1280160" cy="11887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 fontScale="92500" lnSpcReduction="20000"/>
            </a:bodyPr>
            <a:lstStyle/>
            <a:p>
              <a:pPr algn="ctr"/>
              <a:r>
                <a:rPr lang="en-US" altLang="ko-KR" sz="1000" b="1">
                  <a:solidFill>
                    <a:srgbClr val="2C7A3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달성</a:t>
              </a:r>
              <a:endParaRPr lang="en-US" altLang="ko-KR" sz="1000" dirty="0"/>
            </a:p>
          </p:txBody>
        </p:sp>
        <p:sp>
          <p:nvSpPr>
            <p:cNvPr id="64" name="Shape 62"/>
            <p:cNvSpPr/>
            <p:nvPr/>
          </p:nvSpPr>
          <p:spPr>
            <a:xfrm>
              <a:off x="8073771" y="4722876"/>
              <a:ext cx="3200400" cy="265176"/>
            </a:xfrm>
            <a:prstGeom prst="rect">
              <a:avLst/>
            </a:prstGeom>
            <a:solidFill>
              <a:srgbClr val="FFFFFF"/>
            </a:solidFill>
            <a:ln w="5715">
              <a:solidFill>
                <a:srgbClr val="D0D0D0"/>
              </a:solidFill>
              <a:prstDash val="solid"/>
            </a:ln>
          </p:spPr>
        </p:sp>
        <p:sp>
          <p:nvSpPr>
            <p:cNvPr id="65" name="Text 63"/>
            <p:cNvSpPr/>
            <p:nvPr/>
          </p:nvSpPr>
          <p:spPr>
            <a:xfrm>
              <a:off x="8119491" y="4791456"/>
              <a:ext cx="3108960" cy="11887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 fontScale="92500" lnSpcReduction="20000"/>
            </a:bodyPr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1D1D1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odometry error 구간 보완 필요</a:t>
              </a:r>
              <a:endParaRPr lang="en-US" sz="1000" dirty="0"/>
            </a:p>
          </p:txBody>
        </p:sp>
        <p:sp>
          <p:nvSpPr>
            <p:cNvPr id="66" name="Shape 64"/>
            <p:cNvSpPr/>
            <p:nvPr/>
          </p:nvSpPr>
          <p:spPr>
            <a:xfrm>
              <a:off x="529971" y="4988052"/>
              <a:ext cx="1508760" cy="265176"/>
            </a:xfrm>
            <a:prstGeom prst="rect">
              <a:avLst/>
            </a:prstGeom>
            <a:solidFill>
              <a:srgbClr val="FAFAFA"/>
            </a:solidFill>
            <a:ln w="5715">
              <a:solidFill>
                <a:srgbClr val="D0D0D0"/>
              </a:solidFill>
              <a:prstDash val="solid"/>
            </a:ln>
          </p:spPr>
        </p:sp>
        <p:sp>
          <p:nvSpPr>
            <p:cNvPr id="67" name="Text 65"/>
            <p:cNvSpPr/>
            <p:nvPr/>
          </p:nvSpPr>
          <p:spPr>
            <a:xfrm>
              <a:off x="575691" y="5056632"/>
              <a:ext cx="1417320" cy="11887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 fontScale="92500" lnSpcReduction="20000"/>
            </a:bodyPr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1D1D1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AGV Route</a:t>
              </a:r>
              <a:endParaRPr lang="en-US" sz="1000" dirty="0"/>
            </a:p>
          </p:txBody>
        </p:sp>
        <p:sp>
          <p:nvSpPr>
            <p:cNvPr id="68" name="Shape 66"/>
            <p:cNvSpPr/>
            <p:nvPr/>
          </p:nvSpPr>
          <p:spPr>
            <a:xfrm>
              <a:off x="2038731" y="4988052"/>
              <a:ext cx="2194560" cy="265176"/>
            </a:xfrm>
            <a:prstGeom prst="rect">
              <a:avLst/>
            </a:prstGeom>
            <a:solidFill>
              <a:srgbClr val="FAFAFA"/>
            </a:solidFill>
            <a:ln w="5715">
              <a:solidFill>
                <a:srgbClr val="D0D0D0"/>
              </a:solidFill>
              <a:prstDash val="solid"/>
            </a:ln>
          </p:spPr>
        </p:sp>
        <p:sp>
          <p:nvSpPr>
            <p:cNvPr id="69" name="Text 67"/>
            <p:cNvSpPr/>
            <p:nvPr/>
          </p:nvSpPr>
          <p:spPr>
            <a:xfrm>
              <a:off x="2084451" y="5056632"/>
              <a:ext cx="2103120" cy="11887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 fontScale="92500" lnSpcReduction="20000"/>
            </a:bodyPr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1D1D1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목표 구역 진입 성공률</a:t>
              </a:r>
              <a:endParaRPr lang="en-US" sz="1000" dirty="0"/>
            </a:p>
          </p:txBody>
        </p:sp>
        <p:sp>
          <p:nvSpPr>
            <p:cNvPr id="70" name="Shape 68"/>
            <p:cNvSpPr/>
            <p:nvPr/>
          </p:nvSpPr>
          <p:spPr>
            <a:xfrm>
              <a:off x="4233291" y="4988052"/>
              <a:ext cx="1097280" cy="265176"/>
            </a:xfrm>
            <a:prstGeom prst="rect">
              <a:avLst/>
            </a:prstGeom>
            <a:solidFill>
              <a:srgbClr val="FAFAFA"/>
            </a:solidFill>
            <a:ln w="5715">
              <a:solidFill>
                <a:srgbClr val="D0D0D0"/>
              </a:solidFill>
              <a:prstDash val="solid"/>
            </a:ln>
          </p:spPr>
        </p:sp>
        <p:sp>
          <p:nvSpPr>
            <p:cNvPr id="71" name="Text 69"/>
            <p:cNvSpPr/>
            <p:nvPr/>
          </p:nvSpPr>
          <p:spPr>
            <a:xfrm>
              <a:off x="4279011" y="5056632"/>
              <a:ext cx="1005840" cy="11887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 fontScale="92500" lnSpcReduction="20000"/>
            </a:bodyPr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1D1D1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90%</a:t>
              </a:r>
              <a:endParaRPr lang="en-US" sz="1000" dirty="0"/>
            </a:p>
          </p:txBody>
        </p:sp>
        <p:sp>
          <p:nvSpPr>
            <p:cNvPr id="72" name="Shape 70"/>
            <p:cNvSpPr/>
            <p:nvPr/>
          </p:nvSpPr>
          <p:spPr>
            <a:xfrm>
              <a:off x="5330571" y="4988052"/>
              <a:ext cx="1371600" cy="265176"/>
            </a:xfrm>
            <a:prstGeom prst="rect">
              <a:avLst/>
            </a:prstGeom>
            <a:solidFill>
              <a:srgbClr val="FAFAFA"/>
            </a:solidFill>
            <a:ln w="5715">
              <a:solidFill>
                <a:srgbClr val="D0D0D0"/>
              </a:solidFill>
              <a:prstDash val="solid"/>
            </a:ln>
          </p:spPr>
        </p:sp>
        <p:sp>
          <p:nvSpPr>
            <p:cNvPr id="73" name="Text 71"/>
            <p:cNvSpPr/>
            <p:nvPr/>
          </p:nvSpPr>
          <p:spPr>
            <a:xfrm>
              <a:off x="5376291" y="5056632"/>
              <a:ext cx="1280160" cy="11887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 fontScale="92500" lnSpcReduction="20000"/>
            </a:bodyPr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1D1D1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90%</a:t>
              </a:r>
              <a:endParaRPr lang="en-US" sz="1000" dirty="0"/>
            </a:p>
          </p:txBody>
        </p:sp>
        <p:sp>
          <p:nvSpPr>
            <p:cNvPr id="74" name="Shape 72"/>
            <p:cNvSpPr/>
            <p:nvPr/>
          </p:nvSpPr>
          <p:spPr>
            <a:xfrm>
              <a:off x="6702171" y="4988052"/>
              <a:ext cx="1371600" cy="265176"/>
            </a:xfrm>
            <a:prstGeom prst="rect">
              <a:avLst/>
            </a:prstGeom>
            <a:solidFill>
              <a:srgbClr val="FAFAFA"/>
            </a:solidFill>
            <a:ln w="5715">
              <a:solidFill>
                <a:srgbClr val="D0D0D0"/>
              </a:solidFill>
              <a:prstDash val="solid"/>
            </a:ln>
          </p:spPr>
        </p:sp>
        <p:sp>
          <p:nvSpPr>
            <p:cNvPr id="75" name="Text 73"/>
            <p:cNvSpPr/>
            <p:nvPr/>
          </p:nvSpPr>
          <p:spPr>
            <a:xfrm>
              <a:off x="6747891" y="5056632"/>
              <a:ext cx="1280160" cy="11887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 fontScale="92500" lnSpcReduction="20000"/>
            </a:bodyPr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2C7A3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달성</a:t>
              </a:r>
              <a:endParaRPr lang="en-US" sz="1000" dirty="0"/>
            </a:p>
          </p:txBody>
        </p:sp>
        <p:sp>
          <p:nvSpPr>
            <p:cNvPr id="76" name="Shape 74"/>
            <p:cNvSpPr/>
            <p:nvPr/>
          </p:nvSpPr>
          <p:spPr>
            <a:xfrm>
              <a:off x="8073771" y="4988052"/>
              <a:ext cx="3200400" cy="265176"/>
            </a:xfrm>
            <a:prstGeom prst="rect">
              <a:avLst/>
            </a:prstGeom>
            <a:solidFill>
              <a:srgbClr val="FAFAFA"/>
            </a:solidFill>
            <a:ln w="5715">
              <a:solidFill>
                <a:srgbClr val="D0D0D0"/>
              </a:solidFill>
              <a:prstDash val="solid"/>
            </a:ln>
          </p:spPr>
        </p:sp>
        <p:sp>
          <p:nvSpPr>
            <p:cNvPr id="77" name="Text 75"/>
            <p:cNvSpPr/>
            <p:nvPr/>
          </p:nvSpPr>
          <p:spPr>
            <a:xfrm>
              <a:off x="8119491" y="5056632"/>
              <a:ext cx="3108960" cy="11887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 fontScale="92500" lnSpcReduction="20000"/>
            </a:bodyPr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1D1D1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최종 접근 구간은 안정</a:t>
              </a:r>
              <a:endParaRPr lang="en-US" sz="1000" dirty="0"/>
            </a:p>
          </p:txBody>
        </p:sp>
        <p:sp>
          <p:nvSpPr>
            <p:cNvPr id="78" name="Shape 76"/>
            <p:cNvSpPr/>
            <p:nvPr/>
          </p:nvSpPr>
          <p:spPr>
            <a:xfrm>
              <a:off x="529971" y="5253228"/>
              <a:ext cx="1508760" cy="265176"/>
            </a:xfrm>
            <a:prstGeom prst="rect">
              <a:avLst/>
            </a:prstGeom>
            <a:solidFill>
              <a:srgbClr val="FFFFFF"/>
            </a:solidFill>
            <a:ln w="5715">
              <a:solidFill>
                <a:srgbClr val="D0D0D0"/>
              </a:solidFill>
              <a:prstDash val="solid"/>
            </a:ln>
          </p:spPr>
        </p:sp>
        <p:sp>
          <p:nvSpPr>
            <p:cNvPr id="79" name="Text 77"/>
            <p:cNvSpPr/>
            <p:nvPr/>
          </p:nvSpPr>
          <p:spPr>
            <a:xfrm>
              <a:off x="575691" y="5321808"/>
              <a:ext cx="1417320" cy="11887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 fontScale="92500" lnSpcReduction="20000"/>
            </a:bodyPr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1D1D1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Stability</a:t>
              </a:r>
              <a:endParaRPr lang="en-US" sz="1000" dirty="0"/>
            </a:p>
          </p:txBody>
        </p:sp>
        <p:sp>
          <p:nvSpPr>
            <p:cNvPr id="80" name="Shape 78"/>
            <p:cNvSpPr/>
            <p:nvPr/>
          </p:nvSpPr>
          <p:spPr>
            <a:xfrm>
              <a:off x="2038731" y="5253228"/>
              <a:ext cx="2194560" cy="265176"/>
            </a:xfrm>
            <a:prstGeom prst="rect">
              <a:avLst/>
            </a:prstGeom>
            <a:solidFill>
              <a:srgbClr val="FFFFFF"/>
            </a:solidFill>
            <a:ln w="5715">
              <a:solidFill>
                <a:srgbClr val="D0D0D0"/>
              </a:solidFill>
              <a:prstDash val="solid"/>
            </a:ln>
          </p:spPr>
        </p:sp>
        <p:sp>
          <p:nvSpPr>
            <p:cNvPr id="81" name="Text 79"/>
            <p:cNvSpPr/>
            <p:nvPr/>
          </p:nvSpPr>
          <p:spPr>
            <a:xfrm>
              <a:off x="2084451" y="5321808"/>
              <a:ext cx="2103120" cy="11887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 fontScale="92500" lnSpcReduction="20000"/>
            </a:bodyPr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1D1D1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Peak overshoot 감소율</a:t>
              </a:r>
              <a:endParaRPr lang="en-US" sz="1000" dirty="0"/>
            </a:p>
          </p:txBody>
        </p:sp>
        <p:sp>
          <p:nvSpPr>
            <p:cNvPr id="82" name="Shape 80"/>
            <p:cNvSpPr/>
            <p:nvPr/>
          </p:nvSpPr>
          <p:spPr>
            <a:xfrm>
              <a:off x="4233291" y="5253228"/>
              <a:ext cx="1097280" cy="265176"/>
            </a:xfrm>
            <a:prstGeom prst="rect">
              <a:avLst/>
            </a:prstGeom>
            <a:solidFill>
              <a:srgbClr val="FFFFFF"/>
            </a:solidFill>
            <a:ln w="5715">
              <a:solidFill>
                <a:srgbClr val="D0D0D0"/>
              </a:solidFill>
              <a:prstDash val="solid"/>
            </a:ln>
          </p:spPr>
        </p:sp>
        <p:sp>
          <p:nvSpPr>
            <p:cNvPr id="83" name="Text 81"/>
            <p:cNvSpPr/>
            <p:nvPr/>
          </p:nvSpPr>
          <p:spPr>
            <a:xfrm>
              <a:off x="4279011" y="5321808"/>
              <a:ext cx="1005840" cy="11887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 fontScale="92500" lnSpcReduction="20000"/>
            </a:bodyPr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1D1D1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90%</a:t>
              </a:r>
              <a:endParaRPr lang="en-US" sz="1000" dirty="0"/>
            </a:p>
          </p:txBody>
        </p:sp>
        <p:sp>
          <p:nvSpPr>
            <p:cNvPr id="84" name="Shape 82"/>
            <p:cNvSpPr/>
            <p:nvPr/>
          </p:nvSpPr>
          <p:spPr>
            <a:xfrm>
              <a:off x="5330571" y="5253228"/>
              <a:ext cx="1371600" cy="265176"/>
            </a:xfrm>
            <a:prstGeom prst="rect">
              <a:avLst/>
            </a:prstGeom>
            <a:solidFill>
              <a:srgbClr val="FFFFFF"/>
            </a:solidFill>
            <a:ln w="5715">
              <a:solidFill>
                <a:srgbClr val="D0D0D0"/>
              </a:solidFill>
              <a:prstDash val="solid"/>
            </a:ln>
          </p:spPr>
        </p:sp>
        <p:sp>
          <p:nvSpPr>
            <p:cNvPr id="85" name="Text 83"/>
            <p:cNvSpPr/>
            <p:nvPr/>
          </p:nvSpPr>
          <p:spPr>
            <a:xfrm>
              <a:off x="5376291" y="5321808"/>
              <a:ext cx="1280160" cy="11887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 fontScale="92500" lnSpcReduction="20000"/>
            </a:bodyPr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1D1D1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Lin 96.8% / Ang 74.7%</a:t>
              </a:r>
              <a:endParaRPr lang="en-US" sz="1000" dirty="0"/>
            </a:p>
          </p:txBody>
        </p:sp>
        <p:sp>
          <p:nvSpPr>
            <p:cNvPr id="86" name="Shape 84"/>
            <p:cNvSpPr/>
            <p:nvPr/>
          </p:nvSpPr>
          <p:spPr>
            <a:xfrm>
              <a:off x="6702171" y="5253228"/>
              <a:ext cx="1371600" cy="265176"/>
            </a:xfrm>
            <a:prstGeom prst="rect">
              <a:avLst/>
            </a:prstGeom>
            <a:solidFill>
              <a:srgbClr val="FFFFFF"/>
            </a:solidFill>
            <a:ln w="5715">
              <a:solidFill>
                <a:srgbClr val="D0D0D0"/>
              </a:solidFill>
              <a:prstDash val="solid"/>
            </a:ln>
          </p:spPr>
        </p:sp>
        <p:sp>
          <p:nvSpPr>
            <p:cNvPr id="87" name="Text 85"/>
            <p:cNvSpPr/>
            <p:nvPr/>
          </p:nvSpPr>
          <p:spPr>
            <a:xfrm>
              <a:off x="6747891" y="5321808"/>
              <a:ext cx="1280160" cy="11887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 fontScale="92500" lnSpcReduction="20000"/>
            </a:bodyPr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B5812D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부분</a:t>
              </a:r>
              <a:endParaRPr lang="en-US" sz="1000" dirty="0"/>
            </a:p>
          </p:txBody>
        </p:sp>
        <p:sp>
          <p:nvSpPr>
            <p:cNvPr id="88" name="Shape 86"/>
            <p:cNvSpPr/>
            <p:nvPr/>
          </p:nvSpPr>
          <p:spPr>
            <a:xfrm>
              <a:off x="8073771" y="5253228"/>
              <a:ext cx="3200400" cy="265176"/>
            </a:xfrm>
            <a:prstGeom prst="rect">
              <a:avLst/>
            </a:prstGeom>
            <a:solidFill>
              <a:srgbClr val="FFFFFF"/>
            </a:solidFill>
            <a:ln w="5715">
              <a:solidFill>
                <a:srgbClr val="D0D0D0"/>
              </a:solidFill>
              <a:prstDash val="solid"/>
            </a:ln>
          </p:spPr>
        </p:sp>
        <p:sp>
          <p:nvSpPr>
            <p:cNvPr id="89" name="Text 87"/>
            <p:cNvSpPr/>
            <p:nvPr/>
          </p:nvSpPr>
          <p:spPr>
            <a:xfrm>
              <a:off x="8119491" y="5321808"/>
              <a:ext cx="3108960" cy="11887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 fontScale="92500" lnSpcReduction="20000"/>
            </a:bodyPr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1D1D1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선속도 달성, 회전축 추가 튜닝</a:t>
              </a:r>
              <a:endParaRPr lang="en-US" sz="1000" dirty="0"/>
            </a:p>
          </p:txBody>
        </p:sp>
        <p:sp>
          <p:nvSpPr>
            <p:cNvPr id="90" name="Shape 88"/>
            <p:cNvSpPr/>
            <p:nvPr/>
          </p:nvSpPr>
          <p:spPr>
            <a:xfrm>
              <a:off x="529971" y="5518404"/>
              <a:ext cx="1508760" cy="265176"/>
            </a:xfrm>
            <a:prstGeom prst="rect">
              <a:avLst/>
            </a:prstGeom>
            <a:solidFill>
              <a:srgbClr val="FAFAFA"/>
            </a:solidFill>
            <a:ln w="5715">
              <a:solidFill>
                <a:srgbClr val="D0D0D0"/>
              </a:solidFill>
              <a:prstDash val="solid"/>
            </a:ln>
          </p:spPr>
        </p:sp>
        <p:sp>
          <p:nvSpPr>
            <p:cNvPr id="91" name="Text 89"/>
            <p:cNvSpPr/>
            <p:nvPr/>
          </p:nvSpPr>
          <p:spPr>
            <a:xfrm>
              <a:off x="575691" y="5586984"/>
              <a:ext cx="1417320" cy="11887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 fontScale="92500" lnSpcReduction="20000"/>
            </a:bodyPr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1D1D1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Vision / Align</a:t>
              </a:r>
              <a:endParaRPr lang="en-US" sz="1000" dirty="0"/>
            </a:p>
          </p:txBody>
        </p:sp>
        <p:sp>
          <p:nvSpPr>
            <p:cNvPr id="92" name="Shape 90"/>
            <p:cNvSpPr/>
            <p:nvPr/>
          </p:nvSpPr>
          <p:spPr>
            <a:xfrm>
              <a:off x="2038731" y="5518404"/>
              <a:ext cx="2194560" cy="265176"/>
            </a:xfrm>
            <a:prstGeom prst="rect">
              <a:avLst/>
            </a:prstGeom>
            <a:solidFill>
              <a:srgbClr val="FAFAFA"/>
            </a:solidFill>
            <a:ln w="5715">
              <a:solidFill>
                <a:srgbClr val="D0D0D0"/>
              </a:solidFill>
              <a:prstDash val="solid"/>
            </a:ln>
          </p:spPr>
        </p:sp>
        <p:sp>
          <p:nvSpPr>
            <p:cNvPr id="93" name="Text 91"/>
            <p:cNvSpPr/>
            <p:nvPr/>
          </p:nvSpPr>
          <p:spPr>
            <a:xfrm>
              <a:off x="2084451" y="5586984"/>
              <a:ext cx="2103120" cy="11887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 fontScale="92500" lnSpcReduction="20000"/>
            </a:bodyPr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1D1D1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목표 구역 정렬 성공률</a:t>
              </a:r>
              <a:endParaRPr lang="en-US" sz="1000" dirty="0"/>
            </a:p>
          </p:txBody>
        </p:sp>
        <p:sp>
          <p:nvSpPr>
            <p:cNvPr id="94" name="Shape 92"/>
            <p:cNvSpPr/>
            <p:nvPr/>
          </p:nvSpPr>
          <p:spPr>
            <a:xfrm>
              <a:off x="4233291" y="5518404"/>
              <a:ext cx="1097280" cy="265176"/>
            </a:xfrm>
            <a:prstGeom prst="rect">
              <a:avLst/>
            </a:prstGeom>
            <a:solidFill>
              <a:srgbClr val="FAFAFA"/>
            </a:solidFill>
            <a:ln w="5715">
              <a:solidFill>
                <a:srgbClr val="D0D0D0"/>
              </a:solidFill>
              <a:prstDash val="solid"/>
            </a:ln>
          </p:spPr>
        </p:sp>
        <p:sp>
          <p:nvSpPr>
            <p:cNvPr id="95" name="Text 93"/>
            <p:cNvSpPr/>
            <p:nvPr/>
          </p:nvSpPr>
          <p:spPr>
            <a:xfrm>
              <a:off x="4279011" y="5586984"/>
              <a:ext cx="1005840" cy="11887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 fontScale="92500" lnSpcReduction="20000"/>
            </a:bodyPr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1D1D1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90%</a:t>
              </a:r>
              <a:endParaRPr lang="en-US" sz="1000" dirty="0"/>
            </a:p>
          </p:txBody>
        </p:sp>
        <p:sp>
          <p:nvSpPr>
            <p:cNvPr id="96" name="Shape 94"/>
            <p:cNvSpPr/>
            <p:nvPr/>
          </p:nvSpPr>
          <p:spPr>
            <a:xfrm>
              <a:off x="5330571" y="5518404"/>
              <a:ext cx="1371600" cy="265176"/>
            </a:xfrm>
            <a:prstGeom prst="rect">
              <a:avLst/>
            </a:prstGeom>
            <a:solidFill>
              <a:srgbClr val="FAFAFA"/>
            </a:solidFill>
            <a:ln w="5715">
              <a:solidFill>
                <a:srgbClr val="D0D0D0"/>
              </a:solidFill>
              <a:prstDash val="solid"/>
            </a:ln>
          </p:spPr>
        </p:sp>
        <p:sp>
          <p:nvSpPr>
            <p:cNvPr id="97" name="Text 95"/>
            <p:cNvSpPr/>
            <p:nvPr/>
          </p:nvSpPr>
          <p:spPr>
            <a:xfrm>
              <a:off x="5376291" y="5586984"/>
              <a:ext cx="1280160" cy="11887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 fontScale="92500" lnSpcReduction="20000"/>
            </a:bodyPr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1D1D1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95%</a:t>
              </a:r>
              <a:endParaRPr lang="en-US" sz="1000" dirty="0"/>
            </a:p>
          </p:txBody>
        </p:sp>
        <p:sp>
          <p:nvSpPr>
            <p:cNvPr id="98" name="Shape 96"/>
            <p:cNvSpPr/>
            <p:nvPr/>
          </p:nvSpPr>
          <p:spPr>
            <a:xfrm>
              <a:off x="6702171" y="5518404"/>
              <a:ext cx="1371600" cy="265176"/>
            </a:xfrm>
            <a:prstGeom prst="rect">
              <a:avLst/>
            </a:prstGeom>
            <a:solidFill>
              <a:srgbClr val="FAFAFA"/>
            </a:solidFill>
            <a:ln w="5715">
              <a:solidFill>
                <a:srgbClr val="D0D0D0"/>
              </a:solidFill>
              <a:prstDash val="solid"/>
            </a:ln>
          </p:spPr>
        </p:sp>
        <p:sp>
          <p:nvSpPr>
            <p:cNvPr id="99" name="Text 97"/>
            <p:cNvSpPr/>
            <p:nvPr/>
          </p:nvSpPr>
          <p:spPr>
            <a:xfrm>
              <a:off x="6747891" y="5586984"/>
              <a:ext cx="1280160" cy="11887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 fontScale="92500" lnSpcReduction="20000"/>
            </a:bodyPr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2C7A3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달성</a:t>
              </a:r>
              <a:endParaRPr lang="en-US" sz="1000" dirty="0"/>
            </a:p>
          </p:txBody>
        </p:sp>
        <p:sp>
          <p:nvSpPr>
            <p:cNvPr id="100" name="Shape 98"/>
            <p:cNvSpPr/>
            <p:nvPr/>
          </p:nvSpPr>
          <p:spPr>
            <a:xfrm>
              <a:off x="8073771" y="5518404"/>
              <a:ext cx="3200400" cy="265176"/>
            </a:xfrm>
            <a:prstGeom prst="rect">
              <a:avLst/>
            </a:prstGeom>
            <a:solidFill>
              <a:srgbClr val="FAFAFA"/>
            </a:solidFill>
            <a:ln w="5715">
              <a:solidFill>
                <a:srgbClr val="D0D0D0"/>
              </a:solidFill>
              <a:prstDash val="solid"/>
            </a:ln>
          </p:spPr>
        </p:sp>
        <p:sp>
          <p:nvSpPr>
            <p:cNvPr id="101" name="Text 99"/>
            <p:cNvSpPr/>
            <p:nvPr/>
          </p:nvSpPr>
          <p:spPr>
            <a:xfrm>
              <a:off x="8119491" y="5586984"/>
              <a:ext cx="3108960" cy="11887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 fontScale="92500" lnSpcReduction="20000"/>
            </a:bodyPr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1D1D1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ArUco 근접 정렬 안정</a:t>
              </a:r>
              <a:endParaRPr lang="en-US" sz="1000" dirty="0"/>
            </a:p>
          </p:txBody>
        </p:sp>
        <p:sp>
          <p:nvSpPr>
            <p:cNvPr id="102" name="Shape 100"/>
            <p:cNvSpPr/>
            <p:nvPr/>
          </p:nvSpPr>
          <p:spPr>
            <a:xfrm>
              <a:off x="529971" y="5783580"/>
              <a:ext cx="1508760" cy="265176"/>
            </a:xfrm>
            <a:prstGeom prst="rect">
              <a:avLst/>
            </a:prstGeom>
            <a:solidFill>
              <a:srgbClr val="FFFFFF"/>
            </a:solidFill>
            <a:ln w="5715">
              <a:solidFill>
                <a:srgbClr val="D0D0D0"/>
              </a:solidFill>
              <a:prstDash val="solid"/>
            </a:ln>
          </p:spPr>
        </p:sp>
        <p:sp>
          <p:nvSpPr>
            <p:cNvPr id="103" name="Text 101"/>
            <p:cNvSpPr/>
            <p:nvPr/>
          </p:nvSpPr>
          <p:spPr>
            <a:xfrm>
              <a:off x="575691" y="5852160"/>
              <a:ext cx="1417320" cy="11887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 fontScale="92500" lnSpcReduction="20000"/>
            </a:bodyPr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1D1D1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System E2E</a:t>
              </a:r>
              <a:endParaRPr lang="en-US" sz="1000" dirty="0"/>
            </a:p>
          </p:txBody>
        </p:sp>
        <p:sp>
          <p:nvSpPr>
            <p:cNvPr id="104" name="Shape 102"/>
            <p:cNvSpPr/>
            <p:nvPr/>
          </p:nvSpPr>
          <p:spPr>
            <a:xfrm>
              <a:off x="2038731" y="5783580"/>
              <a:ext cx="2194560" cy="265176"/>
            </a:xfrm>
            <a:prstGeom prst="rect">
              <a:avLst/>
            </a:prstGeom>
            <a:solidFill>
              <a:srgbClr val="FFFFFF"/>
            </a:solidFill>
            <a:ln w="5715">
              <a:solidFill>
                <a:srgbClr val="D0D0D0"/>
              </a:solidFill>
              <a:prstDash val="solid"/>
            </a:ln>
          </p:spPr>
        </p:sp>
        <p:sp>
          <p:nvSpPr>
            <p:cNvPr id="105" name="Text 103"/>
            <p:cNvSpPr/>
            <p:nvPr/>
          </p:nvSpPr>
          <p:spPr>
            <a:xfrm>
              <a:off x="2084451" y="5852160"/>
              <a:ext cx="2103120" cy="11887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 fontScale="92500" lnSpcReduction="20000"/>
            </a:bodyPr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1D1D1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E2E 시나리오 성공률</a:t>
              </a:r>
              <a:endParaRPr lang="en-US" sz="1000" dirty="0"/>
            </a:p>
          </p:txBody>
        </p:sp>
        <p:sp>
          <p:nvSpPr>
            <p:cNvPr id="106" name="Shape 104"/>
            <p:cNvSpPr/>
            <p:nvPr/>
          </p:nvSpPr>
          <p:spPr>
            <a:xfrm>
              <a:off x="4233291" y="5783580"/>
              <a:ext cx="1097280" cy="265176"/>
            </a:xfrm>
            <a:prstGeom prst="rect">
              <a:avLst/>
            </a:prstGeom>
            <a:solidFill>
              <a:srgbClr val="FFFFFF"/>
            </a:solidFill>
            <a:ln w="5715">
              <a:solidFill>
                <a:srgbClr val="D0D0D0"/>
              </a:solidFill>
              <a:prstDash val="solid"/>
            </a:ln>
          </p:spPr>
        </p:sp>
        <p:sp>
          <p:nvSpPr>
            <p:cNvPr id="107" name="Text 105"/>
            <p:cNvSpPr/>
            <p:nvPr/>
          </p:nvSpPr>
          <p:spPr>
            <a:xfrm>
              <a:off x="4279011" y="5852160"/>
              <a:ext cx="1005840" cy="11887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 fontScale="92500" lnSpcReduction="20000"/>
            </a:bodyPr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1D1D1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80%</a:t>
              </a:r>
              <a:endParaRPr lang="en-US" sz="1000" dirty="0"/>
            </a:p>
          </p:txBody>
        </p:sp>
        <p:sp>
          <p:nvSpPr>
            <p:cNvPr id="108" name="Shape 106"/>
            <p:cNvSpPr/>
            <p:nvPr/>
          </p:nvSpPr>
          <p:spPr>
            <a:xfrm>
              <a:off x="5330571" y="5783580"/>
              <a:ext cx="1371600" cy="265176"/>
            </a:xfrm>
            <a:prstGeom prst="rect">
              <a:avLst/>
            </a:prstGeom>
            <a:solidFill>
              <a:srgbClr val="FFFFFF"/>
            </a:solidFill>
            <a:ln w="5715">
              <a:solidFill>
                <a:srgbClr val="D0D0D0"/>
              </a:solidFill>
              <a:prstDash val="solid"/>
            </a:ln>
          </p:spPr>
        </p:sp>
        <p:sp>
          <p:nvSpPr>
            <p:cNvPr id="109" name="Text 107"/>
            <p:cNvSpPr/>
            <p:nvPr/>
          </p:nvSpPr>
          <p:spPr>
            <a:xfrm>
              <a:off x="5376291" y="5852160"/>
              <a:ext cx="1280160" cy="11887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 fontScale="92500" lnSpcReduction="20000"/>
            </a:bodyPr>
            <a:lstStyle/>
            <a:p>
              <a:pPr marL="0" indent="0" algn="ctr">
                <a:buNone/>
              </a:pPr>
              <a:r>
                <a:rPr lang="en-US" sz="1000" smtClean="0">
                  <a:solidFill>
                    <a:srgbClr val="1D1D1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90%</a:t>
              </a:r>
              <a:endParaRPr lang="en-US" sz="1000" dirty="0"/>
            </a:p>
          </p:txBody>
        </p:sp>
        <p:sp>
          <p:nvSpPr>
            <p:cNvPr id="110" name="Shape 108"/>
            <p:cNvSpPr/>
            <p:nvPr/>
          </p:nvSpPr>
          <p:spPr>
            <a:xfrm>
              <a:off x="6702171" y="5783580"/>
              <a:ext cx="1371600" cy="265176"/>
            </a:xfrm>
            <a:prstGeom prst="rect">
              <a:avLst/>
            </a:prstGeom>
            <a:solidFill>
              <a:srgbClr val="FFFFFF"/>
            </a:solidFill>
            <a:ln w="5715">
              <a:solidFill>
                <a:srgbClr val="D0D0D0"/>
              </a:solidFill>
              <a:prstDash val="solid"/>
            </a:ln>
          </p:spPr>
        </p:sp>
        <p:sp>
          <p:nvSpPr>
            <p:cNvPr id="111" name="Text 109"/>
            <p:cNvSpPr/>
            <p:nvPr/>
          </p:nvSpPr>
          <p:spPr>
            <a:xfrm>
              <a:off x="6747891" y="5852160"/>
              <a:ext cx="1280160" cy="11887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rmAutofit fontScale="92500" lnSpcReduction="20000"/>
            </a:bodyPr>
            <a:lstStyle/>
            <a:p>
              <a:pPr algn="ctr"/>
              <a:r>
                <a:rPr lang="en-US" altLang="ko-KR" sz="1000" b="1">
                  <a:solidFill>
                    <a:srgbClr val="2C7A3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달성</a:t>
              </a:r>
              <a:endParaRPr lang="en-US" altLang="ko-KR" sz="1000" dirty="0"/>
            </a:p>
          </p:txBody>
        </p:sp>
        <p:sp>
          <p:nvSpPr>
            <p:cNvPr id="112" name="Shape 110"/>
            <p:cNvSpPr/>
            <p:nvPr/>
          </p:nvSpPr>
          <p:spPr>
            <a:xfrm>
              <a:off x="8073771" y="5783580"/>
              <a:ext cx="3200400" cy="265176"/>
            </a:xfrm>
            <a:prstGeom prst="rect">
              <a:avLst/>
            </a:prstGeom>
            <a:solidFill>
              <a:srgbClr val="FFFFFF"/>
            </a:solidFill>
            <a:ln w="5715">
              <a:solidFill>
                <a:srgbClr val="D0D0D0"/>
              </a:solidFill>
              <a:prstDash val="solid"/>
            </a:ln>
          </p:spPr>
        </p:sp>
        <p:sp>
          <p:nvSpPr>
            <p:cNvPr id="113" name="Text 111"/>
            <p:cNvSpPr/>
            <p:nvPr/>
          </p:nvSpPr>
          <p:spPr>
            <a:xfrm>
              <a:off x="8119491" y="5852160"/>
              <a:ext cx="3108960" cy="118872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1D1D1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Arm·Vision 결과와 함께 종합</a:t>
              </a:r>
              <a:endParaRPr lang="en-US" sz="1000" dirty="0"/>
            </a:p>
          </p:txBody>
        </p:sp>
      </p:grpSp>
      <p:sp>
        <p:nvSpPr>
          <p:cNvPr id="117" name="Text 115"/>
          <p:cNvSpPr/>
          <p:nvPr/>
        </p:nvSpPr>
        <p:spPr>
          <a:xfrm>
            <a:off x="11494008" y="6547104"/>
            <a:ext cx="18288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6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650" dirty="0"/>
          </a:p>
        </p:txBody>
      </p:sp>
      <p:sp>
        <p:nvSpPr>
          <p:cNvPr id="118" name="Text 0"/>
          <p:cNvSpPr/>
          <p:nvPr/>
        </p:nvSpPr>
        <p:spPr>
          <a:xfrm>
            <a:off x="502920" y="280363"/>
            <a:ext cx="12801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sz="1050" b="1" smtClean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VERIFICATION</a:t>
            </a:r>
            <a:endParaRPr lang="en-US" sz="1050" dirty="0"/>
          </a:p>
        </p:txBody>
      </p:sp>
      <p:sp>
        <p:nvSpPr>
          <p:cNvPr id="121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52051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6060"/>
                </a:solidFill>
                <a:latin typeface="+mj-ea"/>
                <a:ea typeface="+mj-ea"/>
              </a:rPr>
              <a:t>CONCLUSION</a:t>
            </a:r>
            <a:endParaRPr lang="en-US" sz="1050" dirty="0">
              <a:latin typeface="+mj-ea"/>
              <a:ea typeface="+mj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ko-KR" altLang="en-US" sz="2800" b="1" smtClean="0">
                <a:solidFill>
                  <a:srgbClr val="161616"/>
                </a:solidFill>
                <a:latin typeface="+mj-ea"/>
                <a:ea typeface="+mj-ea"/>
              </a:rPr>
              <a:t>최종 결론</a:t>
            </a:r>
            <a:endParaRPr lang="en-US" sz="2800" dirty="0">
              <a:latin typeface="+mj-ea"/>
              <a:ea typeface="+mj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917192" y="1352249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0" dirty="0">
                <a:latin typeface="+mj-ea"/>
                <a:ea typeface="+mj-ea"/>
                <a:cs typeface="Segoe UI Symbol" pitchFamily="34" charset="-120"/>
              </a:rPr>
              <a:t>⌘</a:t>
            </a:r>
            <a:endParaRPr lang="en-US" sz="5500" dirty="0">
              <a:latin typeface="+mj-ea"/>
              <a:ea typeface="+mj-ea"/>
            </a:endParaRPr>
          </a:p>
        </p:txBody>
      </p:sp>
      <p:sp>
        <p:nvSpPr>
          <p:cNvPr id="6" name="Text 3"/>
          <p:cNvSpPr/>
          <p:nvPr/>
        </p:nvSpPr>
        <p:spPr>
          <a:xfrm>
            <a:off x="618744" y="197015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latin typeface="+mj-ea"/>
                <a:ea typeface="+mj-ea"/>
                <a:cs typeface="Malgun Gothic" pitchFamily="34" charset="-120"/>
              </a:rPr>
              <a:t>통합성</a:t>
            </a:r>
            <a:endParaRPr lang="en-US" dirty="0">
              <a:latin typeface="+mj-ea"/>
              <a:ea typeface="+mj-ea"/>
            </a:endParaRPr>
          </a:p>
        </p:txBody>
      </p:sp>
      <p:sp>
        <p:nvSpPr>
          <p:cNvPr id="7" name="Text 4"/>
          <p:cNvSpPr/>
          <p:nvPr/>
        </p:nvSpPr>
        <p:spPr>
          <a:xfrm>
            <a:off x="448342" y="2382431"/>
            <a:ext cx="3583877" cy="1391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450" dirty="0">
                <a:latin typeface="+mj-ea"/>
                <a:ea typeface="+mj-ea"/>
                <a:cs typeface="Malgun Gothic" pitchFamily="34" charset="-120"/>
              </a:rPr>
              <a:t>• 모바일, 로봇팔, 비전, 대시보드 상태 →</a:t>
            </a:r>
            <a:endParaRPr lang="en-US" sz="1450" dirty="0">
              <a:latin typeface="+mj-ea"/>
              <a:ea typeface="+mj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latin typeface="+mj-ea"/>
                <a:ea typeface="+mj-ea"/>
                <a:cs typeface="Malgun Gothic" pitchFamily="34" charset="-120"/>
              </a:rPr>
              <a:t>ROS2 topic과 Mission FSM</a:t>
            </a:r>
            <a:r>
              <a:rPr lang="en-US" sz="1450">
                <a:latin typeface="+mj-ea"/>
                <a:ea typeface="+mj-ea"/>
                <a:cs typeface="Malgun Gothic" pitchFamily="34" charset="-120"/>
              </a:rPr>
              <a:t>으로 </a:t>
            </a:r>
            <a:r>
              <a:rPr lang="en-US" sz="1450" smtClean="0">
                <a:latin typeface="+mj-ea"/>
                <a:ea typeface="+mj-ea"/>
                <a:cs typeface="Malgun Gothic" pitchFamily="34" charset="-120"/>
              </a:rPr>
              <a:t>연결</a:t>
            </a:r>
          </a:p>
          <a:p>
            <a:pPr marL="0" indent="0">
              <a:lnSpc>
                <a:spcPct val="120000"/>
              </a:lnSpc>
              <a:buNone/>
            </a:pPr>
            <a:endParaRPr lang="en-US" sz="300" smtClean="0">
              <a:latin typeface="+mj-ea"/>
              <a:ea typeface="+mj-ea"/>
              <a:cs typeface="Malgun Gothic" pitchFamily="34" charset="-120"/>
            </a:endParaRPr>
          </a:p>
          <a:p>
            <a:pPr marL="0" indent="0">
              <a:buNone/>
            </a:pPr>
            <a:endParaRPr lang="en-US" sz="3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sz="1450" dirty="0">
                <a:latin typeface="+mj-ea"/>
                <a:ea typeface="+mj-ea"/>
                <a:cs typeface="Malgun Gothic" pitchFamily="34" charset="-120"/>
              </a:rPr>
              <a:t>• 각 모듈의 단독 동작이 </a:t>
            </a:r>
            <a:r>
              <a:rPr lang="en-US" sz="1450">
                <a:latin typeface="+mj-ea"/>
                <a:ea typeface="+mj-ea"/>
                <a:cs typeface="Malgun Gothic" pitchFamily="34" charset="-120"/>
              </a:rPr>
              <a:t>아닌 </a:t>
            </a:r>
            <a:r>
              <a:rPr lang="en-US" sz="1450" smtClean="0">
                <a:latin typeface="+mj-ea"/>
                <a:ea typeface="+mj-ea"/>
                <a:cs typeface="Malgun Gothic" pitchFamily="34" charset="-120"/>
              </a:rPr>
              <a:t>주문 – 주행 – 인식 – 파지 – 배치 – 복귀를 </a:t>
            </a:r>
            <a:r>
              <a:rPr lang="en-US" sz="1450" dirty="0">
                <a:latin typeface="+mj-ea"/>
                <a:ea typeface="+mj-ea"/>
                <a:cs typeface="Malgun Gothic" pitchFamily="34" charset="-120"/>
              </a:rPr>
              <a:t>하나의 workflow로 완성</a:t>
            </a:r>
            <a:endParaRPr lang="en-US" sz="1450" dirty="0">
              <a:latin typeface="+mj-ea"/>
              <a:ea typeface="+mj-ea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050792" y="1347107"/>
            <a:ext cx="0" cy="2218654"/>
          </a:xfrm>
          <a:prstGeom prst="line">
            <a:avLst/>
          </a:prstGeom>
          <a:noFill/>
          <a:ln w="13970">
            <a:solidFill>
              <a:schemeClr val="tx1">
                <a:alpha val="75000"/>
              </a:scheme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50560" y="1352249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0" dirty="0">
                <a:latin typeface="+mj-ea"/>
                <a:ea typeface="+mj-ea"/>
                <a:cs typeface="Segoe UI Symbol" pitchFamily="34" charset="-120"/>
              </a:rPr>
              <a:t>⚒</a:t>
            </a:r>
            <a:endParaRPr lang="en-US" sz="5500" dirty="0">
              <a:latin typeface="+mj-ea"/>
              <a:ea typeface="+mj-ea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452112" y="197015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latin typeface="+mj-ea"/>
                <a:ea typeface="+mj-ea"/>
                <a:cs typeface="Malgun Gothic" pitchFamily="34" charset="-120"/>
              </a:rPr>
              <a:t>현실성</a:t>
            </a:r>
            <a:endParaRPr lang="en-US" dirty="0">
              <a:latin typeface="+mj-ea"/>
              <a:ea typeface="+mj-ea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371975" y="2486769"/>
            <a:ext cx="3308985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latin typeface="+mj-ea"/>
                <a:ea typeface="+mj-ea"/>
                <a:cs typeface="Malgun Gothic" pitchFamily="34" charset="-120"/>
              </a:rPr>
              <a:t>• myAGV deadzone, 정차 오차, Depth</a:t>
            </a:r>
            <a:endParaRPr lang="en-US" sz="1500" dirty="0">
              <a:latin typeface="+mj-ea"/>
              <a:ea typeface="+mj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latin typeface="+mj-ea"/>
                <a:ea typeface="+mj-ea"/>
                <a:cs typeface="Malgun Gothic" pitchFamily="34" charset="-120"/>
              </a:rPr>
              <a:t>카메라 좌표 오차, camera/FPS 병목 등</a:t>
            </a:r>
            <a:endParaRPr lang="en-US" sz="1500" dirty="0">
              <a:latin typeface="+mj-ea"/>
              <a:ea typeface="+mj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500" smtClean="0">
                <a:latin typeface="+mj-ea"/>
                <a:ea typeface="+mj-ea"/>
                <a:cs typeface="Malgun Gothic" pitchFamily="34" charset="-120"/>
              </a:rPr>
              <a:t>실제 </a:t>
            </a:r>
            <a:r>
              <a:rPr lang="en-US" sz="1500" dirty="0">
                <a:latin typeface="+mj-ea"/>
                <a:ea typeface="+mj-ea"/>
                <a:cs typeface="Malgun Gothic" pitchFamily="34" charset="-120"/>
              </a:rPr>
              <a:t>하드웨어 문제를 설계에 반영</a:t>
            </a:r>
            <a:endParaRPr lang="en-US" sz="1500" dirty="0">
              <a:latin typeface="+mj-ea"/>
              <a:ea typeface="+mj-ea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918704" y="1347107"/>
            <a:ext cx="0" cy="2218654"/>
          </a:xfrm>
          <a:prstGeom prst="line">
            <a:avLst/>
          </a:prstGeom>
          <a:noFill/>
          <a:ln w="13970">
            <a:solidFill>
              <a:schemeClr val="tx1">
                <a:alpha val="75000"/>
              </a:scheme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19488" y="1352249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0" dirty="0">
                <a:latin typeface="+mj-ea"/>
                <a:ea typeface="+mj-ea"/>
                <a:cs typeface="Segoe UI Symbol" pitchFamily="34" charset="-120"/>
              </a:rPr>
              <a:t>▧</a:t>
            </a:r>
            <a:endParaRPr lang="en-US" sz="5500" dirty="0">
              <a:latin typeface="+mj-ea"/>
              <a:ea typeface="+mj-ea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321040" y="197015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latin typeface="+mj-ea"/>
                <a:ea typeface="+mj-ea"/>
                <a:cs typeface="Malgun Gothic" pitchFamily="34" charset="-120"/>
              </a:rPr>
              <a:t>검증 가능성</a:t>
            </a:r>
            <a:endParaRPr lang="en-US" dirty="0">
              <a:latin typeface="+mj-ea"/>
              <a:ea typeface="+mj-ea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107680" y="2409064"/>
            <a:ext cx="3827145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latin typeface="+mj-ea"/>
                <a:ea typeface="+mj-ea"/>
                <a:cs typeface="Malgun Gothic" pitchFamily="34" charset="-120"/>
              </a:rPr>
              <a:t>• rosbag/log 기반 정량적 지표 분석 </a:t>
            </a:r>
            <a:r>
              <a:rPr lang="en-US" sz="1500">
                <a:latin typeface="+mj-ea"/>
                <a:ea typeface="+mj-ea"/>
                <a:cs typeface="Malgun Gothic" pitchFamily="34" charset="-120"/>
              </a:rPr>
              <a:t>및 </a:t>
            </a:r>
            <a:r>
              <a:rPr lang="en-US" sz="1500" smtClean="0">
                <a:latin typeface="+mj-ea"/>
                <a:ea typeface="+mj-ea"/>
                <a:cs typeface="Malgun Gothic" pitchFamily="34" charset="-120"/>
              </a:rPr>
              <a:t>검증</a:t>
            </a:r>
          </a:p>
          <a:p>
            <a:pPr marL="0" indent="0">
              <a:lnSpc>
                <a:spcPct val="120000"/>
              </a:lnSpc>
              <a:buNone/>
            </a:pPr>
            <a:endParaRPr lang="en-US" sz="300" dirty="0">
              <a:latin typeface="+mj-ea"/>
              <a:ea typeface="+mj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latin typeface="+mj-ea"/>
                <a:ea typeface="+mj-ea"/>
                <a:cs typeface="Malgun Gothic" pitchFamily="34" charset="-120"/>
              </a:rPr>
              <a:t>• safety filter KPI, pick success rate,</a:t>
            </a:r>
            <a:endParaRPr lang="en-US" sz="1500" dirty="0">
              <a:latin typeface="+mj-ea"/>
              <a:ea typeface="+mj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latin typeface="+mj-ea"/>
                <a:ea typeface="+mj-ea"/>
                <a:cs typeface="Malgun Gothic" pitchFamily="34" charset="-120"/>
              </a:rPr>
              <a:t>E2E 등 정량 지표로 시스템 성능 검증</a:t>
            </a:r>
            <a:endParaRPr lang="en-US" sz="1500" dirty="0">
              <a:latin typeface="+mj-ea"/>
              <a:ea typeface="+mj-ea"/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190500" y="3934460"/>
            <a:ext cx="11744325" cy="751015"/>
            <a:chOff x="190500" y="3870960"/>
            <a:chExt cx="11744325" cy="751015"/>
          </a:xfrm>
        </p:grpSpPr>
        <p:sp>
          <p:nvSpPr>
            <p:cNvPr id="19" name="Shape 13"/>
            <p:cNvSpPr/>
            <p:nvPr/>
          </p:nvSpPr>
          <p:spPr>
            <a:xfrm>
              <a:off x="190500" y="3870960"/>
              <a:ext cx="11744325" cy="751015"/>
            </a:xfrm>
            <a:prstGeom prst="roundRect">
              <a:avLst>
                <a:gd name="adj" fmla="val 13793"/>
              </a:avLst>
            </a:prstGeom>
            <a:solidFill>
              <a:srgbClr val="6C7884">
                <a:alpha val="82000"/>
              </a:srgbClr>
            </a:solidFill>
            <a:ln w="12700">
              <a:solidFill>
                <a:srgbClr val="6C7884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grpSp>
          <p:nvGrpSpPr>
            <p:cNvPr id="23" name="그룹 22"/>
            <p:cNvGrpSpPr/>
            <p:nvPr/>
          </p:nvGrpSpPr>
          <p:grpSpPr>
            <a:xfrm>
              <a:off x="355727" y="4092130"/>
              <a:ext cx="2146300" cy="315849"/>
              <a:chOff x="495427" y="3889755"/>
              <a:chExt cx="2146300" cy="315849"/>
            </a:xfrm>
          </p:grpSpPr>
          <p:sp>
            <p:nvSpPr>
              <p:cNvPr id="20" name="Shape 14"/>
              <p:cNvSpPr/>
              <p:nvPr/>
            </p:nvSpPr>
            <p:spPr>
              <a:xfrm>
                <a:off x="495427" y="3889755"/>
                <a:ext cx="2146300" cy="315849"/>
              </a:xfrm>
              <a:prstGeom prst="roundRect">
                <a:avLst>
                  <a:gd name="adj" fmla="val 50000"/>
                </a:avLst>
              </a:prstGeom>
              <a:solidFill>
                <a:srgbClr val="202833">
                  <a:alpha val="95000"/>
                </a:srgbClr>
              </a:solidFill>
              <a:ln w="12700">
                <a:solidFill>
                  <a:srgbClr val="202833">
                    <a:alpha val="0"/>
                  </a:srgbClr>
                </a:solidFill>
                <a:prstDash val="solid"/>
              </a:ln>
            </p:spPr>
          </p:sp>
          <p:sp>
            <p:nvSpPr>
              <p:cNvPr id="21" name="Text 15"/>
              <p:cNvSpPr/>
              <p:nvPr/>
            </p:nvSpPr>
            <p:spPr>
              <a:xfrm>
                <a:off x="624840" y="3968496"/>
                <a:ext cx="1889760" cy="14630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b="1" smtClean="0">
                    <a:solidFill>
                      <a:srgbClr val="FFFFFF"/>
                    </a:solidFill>
                    <a:latin typeface="+mj-ea"/>
                    <a:ea typeface="+mj-ea"/>
                    <a:cs typeface="Malgun Gothic" pitchFamily="34" charset="-120"/>
                  </a:rPr>
                  <a:t>Final Statement</a:t>
                </a:r>
                <a:endParaRPr lang="en-US" dirty="0">
                  <a:latin typeface="+mj-ea"/>
                  <a:ea typeface="+mj-ea"/>
                </a:endParaRPr>
              </a:p>
            </p:txBody>
          </p:sp>
        </p:grpSp>
        <p:sp>
          <p:nvSpPr>
            <p:cNvPr id="22" name="Text 16"/>
            <p:cNvSpPr/>
            <p:nvPr/>
          </p:nvSpPr>
          <p:spPr>
            <a:xfrm>
              <a:off x="2606040" y="3942271"/>
              <a:ext cx="9194292" cy="6035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600" b="1" smtClean="0">
                  <a:solidFill>
                    <a:srgbClr val="F3F6F8"/>
                  </a:solidFill>
                  <a:latin typeface="+mj-ea"/>
                  <a:ea typeface="+mj-ea"/>
                  <a:cs typeface="Malgun Gothic" pitchFamily="34" charset="-120"/>
                </a:rPr>
                <a:t>본 프로젝트는 </a:t>
              </a:r>
              <a:r>
                <a:rPr lang="en-US" sz="1600" b="1" smtClean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ea"/>
                  <a:ea typeface="+mj-ea"/>
                  <a:cs typeface="Malgun Gothic" pitchFamily="34" charset="-120"/>
                </a:rPr>
                <a:t>AGV, 로봇팔, 비전 시스템</a:t>
              </a:r>
              <a:r>
                <a:rPr lang="en-US" sz="1600" b="1" smtClean="0">
                  <a:solidFill>
                    <a:srgbClr val="F3F6F8"/>
                  </a:solidFill>
                  <a:latin typeface="+mj-ea"/>
                  <a:ea typeface="+mj-ea"/>
                  <a:cs typeface="Malgun Gothic" pitchFamily="34" charset="-120"/>
                </a:rPr>
                <a:t>을 실제 하드웨어</a:t>
              </a:r>
              <a:r>
                <a:rPr lang="ko-KR" altLang="en-US" sz="1600" b="1" smtClean="0">
                  <a:solidFill>
                    <a:srgbClr val="F3F6F8"/>
                  </a:solidFill>
                  <a:latin typeface="+mj-ea"/>
                  <a:ea typeface="+mj-ea"/>
                  <a:cs typeface="Malgun Gothic" pitchFamily="34" charset="-120"/>
                </a:rPr>
                <a:t>의 제약 </a:t>
              </a:r>
              <a:r>
                <a:rPr lang="en-US" sz="1600" b="1" smtClean="0">
                  <a:solidFill>
                    <a:srgbClr val="F3F6F8"/>
                  </a:solidFill>
                  <a:latin typeface="+mj-ea"/>
                  <a:ea typeface="+mj-ea"/>
                  <a:cs typeface="Malgun Gothic" pitchFamily="34" charset="-120"/>
                </a:rPr>
                <a:t>조건에서 </a:t>
              </a:r>
              <a:r>
                <a:rPr lang="en-US" sz="1600" b="1" smtClean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ea"/>
                  <a:ea typeface="+mj-ea"/>
                  <a:cs typeface="Malgun Gothic" pitchFamily="34" charset="-120"/>
                </a:rPr>
                <a:t>통합</a:t>
              </a:r>
              <a:r>
                <a:rPr lang="en-US" sz="1600" b="1" smtClean="0">
                  <a:solidFill>
                    <a:srgbClr val="F3F6F8"/>
                  </a:solidFill>
                  <a:latin typeface="+mj-ea"/>
                  <a:ea typeface="+mj-ea"/>
                  <a:cs typeface="Malgun Gothic" pitchFamily="34" charset="-120"/>
                </a:rPr>
                <a:t>하고, 물리적 오차와 제어 한계를</a:t>
              </a:r>
              <a:r>
                <a:rPr lang="en-US" sz="1600">
                  <a:latin typeface="+mj-ea"/>
                  <a:ea typeface="+mj-ea"/>
                </a:rPr>
                <a:t> </a:t>
              </a:r>
              <a:r>
                <a:rPr lang="en-US" sz="1600" b="1" smtClean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ea"/>
                  <a:ea typeface="+mj-ea"/>
                  <a:cs typeface="Malgun Gothic" pitchFamily="34" charset="-120"/>
                </a:rPr>
                <a:t>ROS2</a:t>
              </a:r>
              <a:r>
                <a:rPr lang="en-US" sz="1600" b="1" smtClean="0">
                  <a:solidFill>
                    <a:srgbClr val="F3F6F8"/>
                  </a:solidFill>
                  <a:latin typeface="+mj-ea"/>
                  <a:ea typeface="+mj-ea"/>
                  <a:cs typeface="Malgun Gothic" pitchFamily="34" charset="-120"/>
                </a:rPr>
                <a:t> 기반 구조와 </a:t>
              </a:r>
              <a:r>
                <a:rPr lang="en-US" sz="1600" b="1" smtClean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ea"/>
                  <a:ea typeface="+mj-ea"/>
                  <a:cs typeface="Malgun Gothic" pitchFamily="34" charset="-120"/>
                </a:rPr>
                <a:t>KPI</a:t>
              </a:r>
              <a:r>
                <a:rPr lang="en-US" sz="1600" b="1" smtClean="0">
                  <a:solidFill>
                    <a:srgbClr val="F3F6F8"/>
                  </a:solidFill>
                  <a:latin typeface="+mj-ea"/>
                  <a:ea typeface="+mj-ea"/>
                  <a:cs typeface="Malgun Gothic" pitchFamily="34" charset="-120"/>
                </a:rPr>
                <a:t> 검증으로 해결한 </a:t>
              </a:r>
              <a:r>
                <a:rPr lang="en-US" sz="1600" b="1" smtClean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ea"/>
                  <a:ea typeface="+mj-ea"/>
                  <a:cs typeface="Malgun Gothic" pitchFamily="34" charset="-120"/>
                </a:rPr>
                <a:t>실하드웨어 통합 로봇 시스템</a:t>
              </a:r>
              <a:r>
                <a:rPr lang="en-US" sz="1600" b="1" smtClean="0">
                  <a:solidFill>
                    <a:srgbClr val="F3F6F8"/>
                  </a:solidFill>
                  <a:latin typeface="+mj-ea"/>
                  <a:ea typeface="+mj-ea"/>
                  <a:cs typeface="Malgun Gothic" pitchFamily="34" charset="-120"/>
                </a:rPr>
                <a:t>입니다.</a:t>
              </a:r>
              <a:endParaRPr lang="en-US" sz="1600" dirty="0">
                <a:latin typeface="+mj-ea"/>
                <a:ea typeface="+mj-ea"/>
              </a:endParaRPr>
            </a:p>
          </p:txBody>
        </p:sp>
      </p:grpSp>
      <p:grpSp>
        <p:nvGrpSpPr>
          <p:cNvPr id="44" name="그룹 43"/>
          <p:cNvGrpSpPr/>
          <p:nvPr/>
        </p:nvGrpSpPr>
        <p:grpSpPr>
          <a:xfrm>
            <a:off x="370144" y="4918073"/>
            <a:ext cx="5619182" cy="1440000"/>
            <a:chOff x="169164" y="4854573"/>
            <a:chExt cx="5619182" cy="1440000"/>
          </a:xfrm>
        </p:grpSpPr>
        <p:sp>
          <p:nvSpPr>
            <p:cNvPr id="25" name="Shape 17"/>
            <p:cNvSpPr/>
            <p:nvPr/>
          </p:nvSpPr>
          <p:spPr>
            <a:xfrm>
              <a:off x="169164" y="4854573"/>
              <a:ext cx="5400000" cy="1440000"/>
            </a:xfrm>
            <a:prstGeom prst="roundRect">
              <a:avLst>
                <a:gd name="adj" fmla="val 6780"/>
              </a:avLst>
            </a:prstGeom>
            <a:solidFill>
              <a:srgbClr val="303B46">
                <a:alpha val="95000"/>
              </a:srgbClr>
            </a:solidFill>
            <a:ln w="12700">
              <a:solidFill>
                <a:srgbClr val="3A4652">
                  <a:alpha val="30000"/>
                </a:srgbClr>
              </a:solidFill>
              <a:prstDash val="solid"/>
            </a:ln>
          </p:spPr>
        </p:sp>
        <p:sp>
          <p:nvSpPr>
            <p:cNvPr id="26" name="Text 18"/>
            <p:cNvSpPr/>
            <p:nvPr/>
          </p:nvSpPr>
          <p:spPr>
            <a:xfrm>
              <a:off x="333756" y="5019167"/>
              <a:ext cx="801624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300" b="1" dirty="0">
                  <a:solidFill>
                    <a:srgbClr val="FFFFFF"/>
                  </a:solidFill>
                  <a:latin typeface="+mj-ea"/>
                  <a:ea typeface="+mj-ea"/>
                  <a:cs typeface="Malgun Gothic" pitchFamily="34" charset="-120"/>
                </a:rPr>
                <a:t>신궁</a:t>
              </a:r>
              <a:endParaRPr lang="en-US" sz="2300" dirty="0">
                <a:latin typeface="+mj-ea"/>
                <a:ea typeface="+mj-ea"/>
              </a:endParaRPr>
            </a:p>
          </p:txBody>
        </p:sp>
        <p:grpSp>
          <p:nvGrpSpPr>
            <p:cNvPr id="40" name="그룹 39"/>
            <p:cNvGrpSpPr/>
            <p:nvPr/>
          </p:nvGrpSpPr>
          <p:grpSpPr>
            <a:xfrm>
              <a:off x="972186" y="5075762"/>
              <a:ext cx="822960" cy="164592"/>
              <a:chOff x="972186" y="5075762"/>
              <a:chExt cx="822960" cy="164592"/>
            </a:xfrm>
          </p:grpSpPr>
          <p:sp>
            <p:nvSpPr>
              <p:cNvPr id="27" name="Shape 19"/>
              <p:cNvSpPr/>
              <p:nvPr/>
            </p:nvSpPr>
            <p:spPr>
              <a:xfrm>
                <a:off x="972186" y="5075762"/>
                <a:ext cx="822960" cy="164592"/>
              </a:xfrm>
              <a:prstGeom prst="roundRect">
                <a:avLst>
                  <a:gd name="adj" fmla="val 33333"/>
                </a:avLst>
              </a:prstGeom>
              <a:solidFill>
                <a:srgbClr val="717C88">
                  <a:alpha val="70000"/>
                </a:srgbClr>
              </a:solidFill>
              <a:ln w="12700">
                <a:solidFill>
                  <a:srgbClr val="717C88">
                    <a:alpha val="0"/>
                  </a:srgbClr>
                </a:solidFill>
                <a:prstDash val="solid"/>
              </a:ln>
            </p:spPr>
          </p:sp>
          <p:sp>
            <p:nvSpPr>
              <p:cNvPr id="28" name="Text 20"/>
              <p:cNvSpPr/>
              <p:nvPr/>
            </p:nvSpPr>
            <p:spPr>
              <a:xfrm>
                <a:off x="992664" y="5112339"/>
                <a:ext cx="782003" cy="914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b="1" dirty="0">
                    <a:solidFill>
                      <a:srgbClr val="F3F6F8"/>
                    </a:solidFill>
                    <a:latin typeface="+mj-ea"/>
                    <a:ea typeface="+mj-ea"/>
                    <a:cs typeface="Malgun Gothic" pitchFamily="34" charset="-120"/>
                  </a:rPr>
                  <a:t>프로젝트 소감</a:t>
                </a:r>
                <a:endParaRPr lang="en-US" sz="900" b="1" dirty="0">
                  <a:latin typeface="+mj-ea"/>
                  <a:ea typeface="+mj-ea"/>
                </a:endParaRPr>
              </a:p>
            </p:txBody>
          </p:sp>
        </p:grpSp>
        <p:sp>
          <p:nvSpPr>
            <p:cNvPr id="29" name="Text 21"/>
            <p:cNvSpPr/>
            <p:nvPr/>
          </p:nvSpPr>
          <p:spPr>
            <a:xfrm>
              <a:off x="324612" y="5528371"/>
              <a:ext cx="480618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1300" dirty="0">
                  <a:solidFill>
                    <a:srgbClr val="E1E7EC"/>
                  </a:solidFill>
                  <a:latin typeface="+mj-ea"/>
                  <a:ea typeface="+mj-ea"/>
                  <a:cs typeface="Malgun Gothic" pitchFamily="34" charset="-120"/>
                </a:rPr>
                <a:t>비전 학습에 대한 숙련도를 키우고, 로봇팔 제어를 통해 </a:t>
              </a:r>
              <a:r>
                <a:rPr lang="en-US" sz="1300">
                  <a:solidFill>
                    <a:srgbClr val="E1E7EC"/>
                  </a:solidFill>
                  <a:latin typeface="+mj-ea"/>
                  <a:ea typeface="+mj-ea"/>
                  <a:cs typeface="Malgun Gothic" pitchFamily="34" charset="-120"/>
                </a:rPr>
                <a:t>실제 </a:t>
              </a:r>
              <a:r>
                <a:rPr lang="en-US" sz="1300" smtClean="0">
                  <a:solidFill>
                    <a:srgbClr val="E1E7EC"/>
                  </a:solidFill>
                  <a:latin typeface="+mj-ea"/>
                  <a:ea typeface="+mj-ea"/>
                  <a:cs typeface="Malgun Gothic" pitchFamily="34" charset="-120"/>
                </a:rPr>
                <a:t>산업에서의</a:t>
              </a:r>
              <a:r>
                <a:rPr lang="en-US" sz="1300" dirty="0">
                  <a:latin typeface="+mj-ea"/>
                  <a:ea typeface="+mj-ea"/>
                </a:rPr>
                <a:t> </a:t>
              </a:r>
              <a:r>
                <a:rPr lang="en-US" sz="1300" smtClean="0">
                  <a:solidFill>
                    <a:srgbClr val="E1E7EC"/>
                  </a:solidFill>
                  <a:latin typeface="+mj-ea"/>
                  <a:ea typeface="+mj-ea"/>
                  <a:cs typeface="Malgun Gothic" pitchFamily="34" charset="-120"/>
                </a:rPr>
                <a:t>제어 </a:t>
              </a:r>
              <a:r>
                <a:rPr lang="en-US" sz="1300" dirty="0">
                  <a:solidFill>
                    <a:srgbClr val="E1E7EC"/>
                  </a:solidFill>
                  <a:latin typeface="+mj-ea"/>
                  <a:ea typeface="+mj-ea"/>
                  <a:cs typeface="Malgun Gothic" pitchFamily="34" charset="-120"/>
                </a:rPr>
                <a:t>포인트를 이해할 수 있었습니다.</a:t>
              </a:r>
              <a:endParaRPr lang="en-US" sz="1300" dirty="0">
                <a:latin typeface="+mj-ea"/>
                <a:ea typeface="+mj-ea"/>
              </a:endParaRPr>
            </a:p>
          </p:txBody>
        </p:sp>
        <p:sp>
          <p:nvSpPr>
            <p:cNvPr id="30" name="Text 22"/>
            <p:cNvSpPr/>
            <p:nvPr/>
          </p:nvSpPr>
          <p:spPr>
            <a:xfrm>
              <a:off x="5042728" y="5267420"/>
              <a:ext cx="745618" cy="30340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0" dirty="0">
                  <a:solidFill>
                    <a:srgbClr val="586777">
                      <a:alpha val="60000"/>
                    </a:srgbClr>
                  </a:solidFill>
                  <a:latin typeface="+mj-ea"/>
                  <a:ea typeface="+mj-ea"/>
                  <a:cs typeface="Georgia" pitchFamily="34" charset="-120"/>
                </a:rPr>
                <a:t>”</a:t>
              </a:r>
              <a:endParaRPr lang="en-US" sz="10000" dirty="0">
                <a:latin typeface="+mj-ea"/>
                <a:ea typeface="+mj-ea"/>
              </a:endParaRPr>
            </a:p>
          </p:txBody>
        </p:sp>
      </p:grpSp>
      <p:sp>
        <p:nvSpPr>
          <p:cNvPr id="37" name="Text 4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smtClean="0">
                <a:solidFill>
                  <a:srgbClr val="737373"/>
                </a:solidFill>
                <a:latin typeface="+mj-ea"/>
                <a:ea typeface="+mj-ea"/>
                <a:cs typeface="Noto Sans CJK KR" pitchFamily="34" charset="-120"/>
              </a:rPr>
              <a:t>16</a:t>
            </a:r>
            <a:endParaRPr lang="en-US" sz="950" dirty="0">
              <a:latin typeface="+mj-ea"/>
              <a:ea typeface="+mj-ea"/>
            </a:endParaRPr>
          </a:p>
        </p:txBody>
      </p:sp>
      <p:grpSp>
        <p:nvGrpSpPr>
          <p:cNvPr id="45" name="그룹 44"/>
          <p:cNvGrpSpPr/>
          <p:nvPr/>
        </p:nvGrpSpPr>
        <p:grpSpPr>
          <a:xfrm>
            <a:off x="6134802" y="4914323"/>
            <a:ext cx="5615238" cy="1440000"/>
            <a:chOff x="6331780" y="4849496"/>
            <a:chExt cx="5615238" cy="1440000"/>
          </a:xfrm>
        </p:grpSpPr>
        <p:sp>
          <p:nvSpPr>
            <p:cNvPr id="31" name="Shape 23"/>
            <p:cNvSpPr/>
            <p:nvPr/>
          </p:nvSpPr>
          <p:spPr>
            <a:xfrm>
              <a:off x="6331780" y="4849496"/>
              <a:ext cx="5400000" cy="1440000"/>
            </a:xfrm>
            <a:prstGeom prst="roundRect">
              <a:avLst>
                <a:gd name="adj" fmla="val 6780"/>
              </a:avLst>
            </a:prstGeom>
            <a:solidFill>
              <a:srgbClr val="303B46">
                <a:alpha val="95000"/>
              </a:srgbClr>
            </a:solidFill>
            <a:ln w="12700">
              <a:solidFill>
                <a:srgbClr val="3A4652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2" name="Text 24"/>
            <p:cNvSpPr/>
            <p:nvPr/>
          </p:nvSpPr>
          <p:spPr>
            <a:xfrm>
              <a:off x="6603432" y="5023738"/>
              <a:ext cx="880111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300" b="1" smtClean="0">
                  <a:solidFill>
                    <a:srgbClr val="FFFFFF"/>
                  </a:solidFill>
                  <a:latin typeface="+mj-ea"/>
                  <a:ea typeface="+mj-ea"/>
                  <a:cs typeface="Malgun Gothic" pitchFamily="34" charset="-120"/>
                </a:rPr>
                <a:t>김윤정</a:t>
              </a:r>
              <a:endParaRPr lang="en-US" sz="2300" dirty="0">
                <a:latin typeface="+mj-ea"/>
                <a:ea typeface="+mj-ea"/>
              </a:endParaRPr>
            </a:p>
          </p:txBody>
        </p:sp>
        <p:sp>
          <p:nvSpPr>
            <p:cNvPr id="35" name="Text 27"/>
            <p:cNvSpPr/>
            <p:nvPr/>
          </p:nvSpPr>
          <p:spPr>
            <a:xfrm>
              <a:off x="6524755" y="5609754"/>
              <a:ext cx="4914389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E1E7EC"/>
                  </a:solidFill>
                  <a:latin typeface="+mj-ea"/>
                  <a:ea typeface="+mj-ea"/>
                  <a:cs typeface="Malgun Gothic" pitchFamily="34" charset="-120"/>
                </a:rPr>
                <a:t>시스템의 흐름을 전체적으로 파악하는 방법을 익히고, 의사 결정을 </a:t>
              </a:r>
              <a:r>
                <a:rPr lang="en-US" sz="1300">
                  <a:solidFill>
                    <a:srgbClr val="E1E7EC"/>
                  </a:solidFill>
                  <a:latin typeface="+mj-ea"/>
                  <a:ea typeface="+mj-ea"/>
                  <a:cs typeface="Malgun Gothic" pitchFamily="34" charset="-120"/>
                </a:rPr>
                <a:t>할 </a:t>
              </a:r>
              <a:r>
                <a:rPr lang="en-US" sz="1300" smtClean="0">
                  <a:solidFill>
                    <a:srgbClr val="E1E7EC"/>
                  </a:solidFill>
                  <a:latin typeface="+mj-ea"/>
                  <a:ea typeface="+mj-ea"/>
                  <a:cs typeface="Malgun Gothic" pitchFamily="34" charset="-120"/>
                </a:rPr>
                <a:t>때의</a:t>
              </a:r>
              <a:r>
                <a:rPr lang="en-US" sz="1300" dirty="0">
                  <a:latin typeface="+mj-ea"/>
                  <a:ea typeface="+mj-ea"/>
                </a:rPr>
                <a:t> </a:t>
              </a:r>
              <a:r>
                <a:rPr lang="en-US" sz="1300" smtClean="0">
                  <a:solidFill>
                    <a:srgbClr val="E1E7EC"/>
                  </a:solidFill>
                  <a:latin typeface="+mj-ea"/>
                  <a:ea typeface="+mj-ea"/>
                  <a:cs typeface="Malgun Gothic" pitchFamily="34" charset="-120"/>
                </a:rPr>
                <a:t>정량적 </a:t>
              </a:r>
              <a:r>
                <a:rPr lang="en-US" sz="1300" dirty="0">
                  <a:solidFill>
                    <a:srgbClr val="E1E7EC"/>
                  </a:solidFill>
                  <a:latin typeface="+mj-ea"/>
                  <a:ea typeface="+mj-ea"/>
                  <a:cs typeface="Malgun Gothic" pitchFamily="34" charset="-120"/>
                </a:rPr>
                <a:t>지표를 뽑아내고 분석하는 역량을 키울 수 있었습니다.</a:t>
              </a:r>
              <a:endParaRPr lang="en-US" sz="1300" dirty="0">
                <a:latin typeface="+mj-ea"/>
                <a:ea typeface="+mj-ea"/>
              </a:endParaRPr>
            </a:p>
          </p:txBody>
        </p:sp>
        <p:sp>
          <p:nvSpPr>
            <p:cNvPr id="38" name="Text 22"/>
            <p:cNvSpPr/>
            <p:nvPr/>
          </p:nvSpPr>
          <p:spPr>
            <a:xfrm>
              <a:off x="11201400" y="5268118"/>
              <a:ext cx="745618" cy="30340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0" dirty="0">
                  <a:solidFill>
                    <a:srgbClr val="586777">
                      <a:alpha val="60000"/>
                    </a:srgbClr>
                  </a:solidFill>
                  <a:latin typeface="+mj-ea"/>
                  <a:ea typeface="+mj-ea"/>
                  <a:cs typeface="Georgia" pitchFamily="34" charset="-120"/>
                </a:rPr>
                <a:t>”</a:t>
              </a:r>
              <a:endParaRPr lang="en-US" sz="10000" dirty="0">
                <a:latin typeface="+mj-ea"/>
                <a:ea typeface="+mj-ea"/>
              </a:endParaRPr>
            </a:p>
          </p:txBody>
        </p:sp>
        <p:grpSp>
          <p:nvGrpSpPr>
            <p:cNvPr id="41" name="그룹 40"/>
            <p:cNvGrpSpPr/>
            <p:nvPr/>
          </p:nvGrpSpPr>
          <p:grpSpPr>
            <a:xfrm>
              <a:off x="7598078" y="5048480"/>
              <a:ext cx="822960" cy="164592"/>
              <a:chOff x="1049084" y="5023738"/>
              <a:chExt cx="822960" cy="164592"/>
            </a:xfrm>
          </p:grpSpPr>
          <p:sp>
            <p:nvSpPr>
              <p:cNvPr id="42" name="Shape 19"/>
              <p:cNvSpPr/>
              <p:nvPr/>
            </p:nvSpPr>
            <p:spPr>
              <a:xfrm>
                <a:off x="1049084" y="5023738"/>
                <a:ext cx="822960" cy="164592"/>
              </a:xfrm>
              <a:prstGeom prst="roundRect">
                <a:avLst>
                  <a:gd name="adj" fmla="val 33333"/>
                </a:avLst>
              </a:prstGeom>
              <a:solidFill>
                <a:srgbClr val="717C88">
                  <a:alpha val="70000"/>
                </a:srgbClr>
              </a:solidFill>
              <a:ln w="12700">
                <a:solidFill>
                  <a:srgbClr val="717C88">
                    <a:alpha val="0"/>
                  </a:srgbClr>
                </a:solidFill>
                <a:prstDash val="solid"/>
              </a:ln>
            </p:spPr>
          </p:sp>
          <p:sp>
            <p:nvSpPr>
              <p:cNvPr id="43" name="Text 20"/>
              <p:cNvSpPr/>
              <p:nvPr/>
            </p:nvSpPr>
            <p:spPr>
              <a:xfrm>
                <a:off x="1069562" y="5060315"/>
                <a:ext cx="782003" cy="914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b="1" dirty="0">
                    <a:solidFill>
                      <a:srgbClr val="F3F6F8"/>
                    </a:solidFill>
                    <a:latin typeface="+mj-ea"/>
                    <a:ea typeface="+mj-ea"/>
                    <a:cs typeface="Malgun Gothic" pitchFamily="34" charset="-120"/>
                  </a:rPr>
                  <a:t>프로젝트 소감</a:t>
                </a:r>
                <a:endParaRPr lang="en-US" sz="900" b="1" dirty="0">
                  <a:latin typeface="+mj-ea"/>
                  <a:ea typeface="+mj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21774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2443</TotalTime>
  <Words>1539</Words>
  <Application>Microsoft Office PowerPoint</Application>
  <PresentationFormat>와이드스크린</PresentationFormat>
  <Paragraphs>386</Paragraphs>
  <Slides>12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0" baseType="lpstr">
      <vt:lpstr>Noto Sans CJK KR</vt:lpstr>
      <vt:lpstr>맑은 고딕</vt:lpstr>
      <vt:lpstr>맑은 고딕</vt:lpstr>
      <vt:lpstr>Arial</vt:lpstr>
      <vt:lpstr>Georgia</vt:lpstr>
      <vt:lpstr>Segoe UI Symbol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LogiFlow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ROS2_AGV로봇팔_최종발표_내용정리본</dc:title>
  <dc:subject>ROS2 AGV Arm Final Presentation Content Pack</dc:subject>
  <dc:creator>OpenAI</dc:creator>
  <cp:lastModifiedBy>김윤정</cp:lastModifiedBy>
  <cp:revision>438</cp:revision>
  <dcterms:created xsi:type="dcterms:W3CDTF">2026-07-10T02:06:54Z</dcterms:created>
  <dcterms:modified xsi:type="dcterms:W3CDTF">2026-07-11T20:43:56Z</dcterms:modified>
</cp:coreProperties>
</file>