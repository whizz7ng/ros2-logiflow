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4" r:id="rId4"/>
    <p:sldId id="259" r:id="rId5"/>
    <p:sldId id="288" r:id="rId6"/>
    <p:sldId id="289" r:id="rId7"/>
    <p:sldId id="290" r:id="rId8"/>
    <p:sldId id="277" r:id="rId9"/>
    <p:sldId id="263" r:id="rId10"/>
    <p:sldId id="264" r:id="rId11"/>
    <p:sldId id="265" r:id="rId12"/>
    <p:sldId id="278" r:id="rId13"/>
    <p:sldId id="267" r:id="rId14"/>
    <p:sldId id="268" r:id="rId15"/>
    <p:sldId id="275" r:id="rId16"/>
    <p:sldId id="269" r:id="rId17"/>
    <p:sldId id="271" r:id="rId18"/>
    <p:sldId id="272" r:id="rId19"/>
    <p:sldId id="273" r:id="rId20"/>
    <p:sldId id="266" r:id="rId21"/>
    <p:sldId id="27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0F0F"/>
    <a:srgbClr val="444444"/>
    <a:srgbClr val="F89345"/>
    <a:srgbClr val="09182C"/>
    <a:srgbClr val="150910"/>
    <a:srgbClr val="EF3A34"/>
    <a:srgbClr val="2F528F"/>
    <a:srgbClr val="091D33"/>
    <a:srgbClr val="F3F4F3"/>
    <a:srgbClr val="081A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2614" autoAdjust="0"/>
  </p:normalViewPr>
  <p:slideViewPr>
    <p:cSldViewPr snapToGrid="0" snapToObjects="1">
      <p:cViewPr varScale="1">
        <p:scale>
          <a:sx n="106" d="100"/>
          <a:sy n="106" d="100"/>
        </p:scale>
        <p:origin x="1128" y="96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6381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baseline="0" smtClean="0">
              <a:sym typeface="Wingdings" panose="05000000000000000000" pitchFamily="2" charset="2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200" b="1" smtClean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“아이디어 소개”보다 실제 하드웨어에서 발생한 주행 불안정, 정차 오차, 좌표 오차, 상태 동기화 문제를 어떻게 시스템 구조로 해결했는가가 핵심입니다.</a:t>
            </a:r>
            <a:endParaRPr lang="en-US" altLang="ko-KR" sz="1200" smtClean="0"/>
          </a:p>
          <a:p>
            <a:pPr marL="0" indent="0"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749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상태 전이마다 확인 topic을 두어 하위 시스템 완료 상태를 검증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주행/비전/파지 실패는 timeout, retry, align으로 분기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영상 시연과 rosbag/log KPI를 동일 시나리오에 연결</a:t>
            </a:r>
            <a:endParaRPr lang="en-US" altLang="ko-KR" sz="1200" smtClean="0"/>
          </a:p>
          <a:p>
            <a:pPr marL="0" indent="0" algn="l">
              <a:buNone/>
            </a:pPr>
            <a:r>
              <a:rPr lang="en-US" altLang="ko-KR" sz="1200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근접 이동은 AGV, 마지막 정밀 정렬과 파지는 Vision·Robot Arm이 담당</a:t>
            </a:r>
            <a:endParaRPr lang="en-US" altLang="ko-KR" sz="120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Topic</a:t>
            </a:r>
            <a:r>
              <a:rPr lang="ko-KR" altLang="en-US" smtClean="0"/>
              <a:t>은 </a:t>
            </a:r>
            <a:r>
              <a:rPr lang="en-US" altLang="ko-KR" smtClean="0"/>
              <a:t>“</a:t>
            </a:r>
            <a:r>
              <a:rPr lang="ko-KR" altLang="en-US" smtClean="0"/>
              <a:t>명령</a:t>
            </a:r>
            <a:r>
              <a:rPr lang="ko-KR" altLang="en-US" baseline="0" smtClean="0"/>
              <a:t> </a:t>
            </a:r>
            <a:r>
              <a:rPr lang="en-US" altLang="ko-KR" baseline="0" smtClean="0"/>
              <a:t>/ </a:t>
            </a:r>
            <a:r>
              <a:rPr lang="ko-KR" altLang="en-US" baseline="0" smtClean="0"/>
              <a:t>상태</a:t>
            </a:r>
            <a:r>
              <a:rPr lang="en-US" altLang="ko-KR" baseline="0" smtClean="0"/>
              <a:t> / </a:t>
            </a:r>
            <a:r>
              <a:rPr lang="ko-KR" altLang="en-US" baseline="0" smtClean="0"/>
              <a:t>센서</a:t>
            </a:r>
            <a:r>
              <a:rPr lang="en-US" altLang="ko-KR" baseline="0" smtClean="0"/>
              <a:t>, </a:t>
            </a:r>
            <a:r>
              <a:rPr lang="ko-KR" altLang="en-US" baseline="0" smtClean="0"/>
              <a:t>좌표 데이터</a:t>
            </a:r>
            <a:r>
              <a:rPr lang="en-US" altLang="ko-KR" baseline="0" smtClean="0"/>
              <a:t>＂</a:t>
            </a:r>
            <a:r>
              <a:rPr lang="ko-KR" altLang="en-US" baseline="0" smtClean="0"/>
              <a:t>로 분리하고</a:t>
            </a:r>
            <a:r>
              <a:rPr lang="en-US" altLang="ko-KR" baseline="0" smtClean="0"/>
              <a:t>, </a:t>
            </a:r>
            <a:r>
              <a:rPr lang="ko-KR" altLang="en-US" baseline="0" smtClean="0"/>
              <a:t>실제 구동 명령은 </a:t>
            </a:r>
            <a:r>
              <a:rPr lang="en-US" altLang="ko-KR" baseline="0" smtClean="0"/>
              <a:t>safety filter</a:t>
            </a:r>
            <a:r>
              <a:rPr lang="ko-KR" altLang="en-US" baseline="0" smtClean="0"/>
              <a:t>를 거쳐 전달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518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259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44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① ROTATE_TO_HEADING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목표점 방향으로 제자리 회전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② DRIVE_STRAIGHT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angular.z = 0으로 직진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③ ROTATE_TO_GOAL_YAW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목표 yaw로 최종 회전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④ STOP_HOLD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pPr marL="0" indent="0" algn="l">
              <a:buNone/>
            </a:pPr>
            <a:r>
              <a:rPr lang="en-US" altLang="ko-KR" sz="1200" kern="1200" smtClean="0">
                <a:solidFill>
                  <a:srgbClr val="444444"/>
                </a:solidFill>
                <a:latin typeface="+mj-ea"/>
                <a:ea typeface="+mn-ea"/>
                <a:cs typeface="Noto Sans CJK KR" pitchFamily="34" charset="-120"/>
              </a:rPr>
              <a:t>다음 동작 전 완전 정지 유지</a:t>
            </a:r>
            <a:endParaRPr lang="en-US" altLang="ko-KR" sz="1200" kern="1200" smtClean="0">
              <a:solidFill>
                <a:schemeClr val="tx1"/>
              </a:solidFill>
              <a:latin typeface="+mj-ea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94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576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/>
          <p:cNvSpPr/>
          <p:nvPr/>
        </p:nvSpPr>
        <p:spPr>
          <a:xfrm flipH="1">
            <a:off x="7096125" y="0"/>
            <a:ext cx="5095875" cy="6858000"/>
          </a:xfrm>
          <a:prstGeom prst="rect">
            <a:avLst/>
          </a:prstGeom>
          <a:gradFill flip="none" rotWithShape="1">
            <a:gsLst>
              <a:gs pos="5000">
                <a:srgbClr val="F4F4F4"/>
              </a:gs>
              <a:gs pos="94000">
                <a:schemeClr val="tx1">
                  <a:lumMod val="75000"/>
                </a:schemeClr>
              </a:gs>
              <a:gs pos="63000">
                <a:srgbClr val="D3D3D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594360" y="548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6060"/>
                </a:solidFill>
                <a:latin typeface="+mj-ea"/>
                <a:ea typeface="+mj-ea"/>
              </a:rPr>
              <a:t>FINAL PROJECT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766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  <a:latin typeface="+mj-ea"/>
                <a:ea typeface="+mj-ea"/>
              </a:rPr>
              <a:t>ROS2 기반 AGV-로봇팔 통합</a:t>
            </a:r>
            <a:endParaRPr lang="en-US" sz="33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sz="3300" b="1" dirty="0">
                <a:solidFill>
                  <a:srgbClr val="161616"/>
                </a:solidFill>
                <a:latin typeface="+mj-ea"/>
                <a:ea typeface="+mj-ea"/>
              </a:rPr>
              <a:t>물류 분류 로봇</a:t>
            </a:r>
            <a:endParaRPr lang="en-US" sz="3300" dirty="0">
              <a:latin typeface="+mj-ea"/>
              <a:ea typeface="+mj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59" y="2284094"/>
            <a:ext cx="7149465" cy="4297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하드웨어 </a:t>
            </a:r>
            <a:r>
              <a:rPr lang="en-US" sz="1750" dirty="0">
                <a:solidFill>
                  <a:srgbClr val="444444"/>
                </a:solidFill>
                <a:latin typeface="+mj-ea"/>
                <a:ea typeface="+mj-ea"/>
              </a:rPr>
              <a:t>제약 기반 통합 제어 </a:t>
            </a:r>
            <a:r>
              <a:rPr lang="en-US" sz="1750">
                <a:solidFill>
                  <a:srgbClr val="444444"/>
                </a:solidFill>
                <a:latin typeface="+mj-ea"/>
                <a:ea typeface="+mj-ea"/>
              </a:rPr>
              <a:t>· </a:t>
            </a:r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Mobile</a:t>
            </a:r>
            <a:r>
              <a:rPr lang="en-US" altLang="ko-KR" sz="1750" smtClean="0">
                <a:solidFill>
                  <a:srgbClr val="444444"/>
                </a:solidFill>
                <a:latin typeface="+mj-ea"/>
                <a:ea typeface="+mj-ea"/>
              </a:rPr>
              <a:t>· </a:t>
            </a:r>
            <a:r>
              <a:rPr lang="en-US" sz="1750" smtClean="0">
                <a:solidFill>
                  <a:srgbClr val="444444"/>
                </a:solidFill>
                <a:latin typeface="+mj-ea"/>
                <a:ea typeface="+mj-ea"/>
              </a:rPr>
              <a:t>Vision </a:t>
            </a:r>
            <a:r>
              <a:rPr lang="en-US" sz="1750" dirty="0">
                <a:solidFill>
                  <a:srgbClr val="444444"/>
                </a:solidFill>
                <a:latin typeface="+mj-ea"/>
                <a:ea typeface="+mj-ea"/>
              </a:rPr>
              <a:t>· Manipulation · Mission FSM</a:t>
            </a:r>
            <a:endParaRPr lang="en-US" sz="1750" dirty="0">
              <a:latin typeface="+mj-ea"/>
              <a:ea typeface="+mj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3204972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Core Module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3483864"/>
            <a:ext cx="2148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20497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Implementation Keyword</a:t>
            </a:r>
            <a:endParaRPr lang="en-US" sz="125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58008" y="3483864"/>
            <a:ext cx="4663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2477" y="3622618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AGV Navigation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3927348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03728" y="3605840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</a:t>
            </a:r>
            <a:r>
              <a:rPr lang="en-US" sz="1280" smtClean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 · AMCL/odom · safety filter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58008" y="3927348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477" y="4066102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Vision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" y="4370832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3728" y="4049324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YOLO · depth · ArUco · eye-in-hand transform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58008" y="4370832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2477" y="4509586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Manipulation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4814316"/>
            <a:ext cx="2148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3728" y="4492808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myCobot 280 Pi · observe sync · pick/place sequence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58008" y="4814316"/>
            <a:ext cx="4663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477" y="4953070"/>
            <a:ext cx="20574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System Integration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903728" y="4936292"/>
            <a:ext cx="457200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ROS2 topics · Mission FSM · timeout/retry/align</a:t>
            </a:r>
            <a:endParaRPr lang="en-US" sz="1280" dirty="0">
              <a:latin typeface="+mj-ea"/>
              <a:ea typeface="+mj-ea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807208" y="3154680"/>
            <a:ext cx="0" cy="21031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315468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5257800"/>
            <a:ext cx="681228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5708141"/>
            <a:ext cx="2996128" cy="738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Team Goong</a:t>
            </a:r>
            <a:endParaRPr lang="en-US" sz="3200" dirty="0">
              <a:latin typeface="+mj-ea"/>
              <a:ea typeface="+mj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01</a:t>
            </a:r>
            <a:endParaRPr lang="en-US" sz="950" dirty="0">
              <a:latin typeface="+mj-ea"/>
              <a:ea typeface="+mj-ea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02" t="22844"/>
          <a:stretch/>
        </p:blipFill>
        <p:spPr>
          <a:xfrm>
            <a:off x="8023164" y="214464"/>
            <a:ext cx="4009576" cy="66435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INTRODUCTION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161616"/>
                </a:solidFill>
                <a:latin typeface="+mj-ea"/>
                <a:ea typeface="+mj-ea"/>
              </a:rPr>
              <a:t>프로젝트 </a:t>
            </a:r>
            <a:r>
              <a:rPr lang="en-US" sz="2800" b="1" smtClean="0">
                <a:solidFill>
                  <a:srgbClr val="161616"/>
                </a:solidFill>
                <a:latin typeface="+mj-ea"/>
                <a:ea typeface="+mj-ea"/>
              </a:rPr>
              <a:t>정의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및 고도화 방향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02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현장 Pain Point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746504"/>
            <a:ext cx="34290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1" y="1842517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다품종 소형 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물류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증가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에 따른 이동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피킹 증가</a:t>
            </a:r>
            <a:endParaRPr lang="en-US" sz="140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공간 </a:t>
            </a: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효율 저하, 반복 작업 부담 발생</a:t>
            </a:r>
            <a:endParaRPr lang="en-US" sz="1400" dirty="0">
              <a:latin typeface="+mj-ea"/>
              <a:ea typeface="+mj-ea"/>
            </a:endParaRPr>
          </a:p>
          <a:p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이동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정렬 오차가 로봇팔 파지 실패로 연결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434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시스템 목표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56232"/>
            <a:ext cx="3520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주문부터 배치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복귀까지 물류 작업 전 과정 자동화</a:t>
            </a:r>
            <a:endParaRPr lang="en-US" altLang="ko-KR" sz="1400" smtClean="0">
              <a:solidFill>
                <a:srgbClr val="444444"/>
              </a:solidFill>
              <a:latin typeface="+mj-ea"/>
              <a:ea typeface="+mj-ea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모바일 베이스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비전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로봇팔의 통합 제어</a:t>
            </a:r>
            <a:endParaRPr lang="en-US" altLang="ko-KR" sz="1400" smtClean="0">
              <a:solidFill>
                <a:srgbClr val="444444"/>
              </a:solidFill>
              <a:latin typeface="+mj-ea"/>
              <a:ea typeface="+mj-ea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실제 하드웨어 제약을 고려한 안정적 작업 수행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83880" y="14173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최종 산출물</a:t>
            </a:r>
            <a:endParaRPr lang="en-US" sz="160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83880" y="1746504"/>
            <a:ext cx="34290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1856232"/>
            <a:ext cx="3429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ROS2 </a:t>
            </a:r>
            <a:r>
              <a:rPr lang="en-US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기반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모바일 매니퓰레이터 물류 분류 시스템</a:t>
            </a:r>
            <a:endParaRPr lang="en-US" altLang="ko-KR" sz="1400" smtClean="0">
              <a:solidFill>
                <a:srgbClr val="444444"/>
              </a:solidFill>
              <a:latin typeface="+mj-ea"/>
              <a:ea typeface="+mj-ea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주행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비전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파지</a:t>
            </a:r>
            <a:r>
              <a:rPr lang="en-US" altLang="ko-KR" sz="140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·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상태 관리 통합 제어 소프트웨어</a:t>
            </a:r>
            <a:endParaRPr lang="en-US" altLang="ko-KR" sz="1400" smtClean="0">
              <a:solidFill>
                <a:srgbClr val="444444"/>
              </a:solidFill>
              <a:latin typeface="+mj-ea"/>
              <a:ea typeface="+mj-ea"/>
              <a:cs typeface="Noto Sans CJK KR" pitchFamily="34" charset="-120"/>
            </a:endParaRPr>
          </a:p>
          <a:p>
            <a:r>
              <a: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rosbag ·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로그 기반 성능 검증 및 </a:t>
            </a:r>
            <a:r>
              <a: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KPI </a:t>
            </a:r>
            <a:r>
              <a:rPr lang="ko-KR" altLang="en-US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분석 결과</a:t>
            </a:r>
            <a:r>
              <a:rPr lang="en-US" altLang="ko-KR" sz="14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 </a:t>
            </a:r>
            <a:endParaRPr lang="en-US" sz="1400" dirty="0">
              <a:latin typeface="+mj-ea"/>
              <a:ea typeface="+mj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3332609"/>
            <a:ext cx="3124200" cy="464055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altLang="ko-KR" sz="1600" b="1" smtClean="0">
                <a:latin typeface="+mj-ea"/>
                <a:ea typeface="+mj-ea"/>
              </a:rPr>
              <a:t>1</a:t>
            </a:r>
            <a:r>
              <a:rPr lang="ko-KR" altLang="en-US" sz="1600" b="1" smtClean="0">
                <a:latin typeface="+mj-ea"/>
                <a:ea typeface="+mj-ea"/>
              </a:rPr>
              <a:t>차 대비 기술 고도화 방향</a:t>
            </a:r>
            <a:endParaRPr lang="en-US" sz="1600" b="1" dirty="0">
              <a:latin typeface="+mj-ea"/>
              <a:ea typeface="+mj-ea"/>
            </a:endParaRPr>
          </a:p>
        </p:txBody>
      </p: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920531"/>
              </p:ext>
            </p:extLst>
          </p:nvPr>
        </p:nvGraphicFramePr>
        <p:xfrm>
          <a:off x="525780" y="4031487"/>
          <a:ext cx="11155680" cy="194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619522335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1403133379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49536188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954102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구분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차 구현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차 구현 목표</a:t>
                      </a:r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변경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 및 개선 사항</a:t>
                      </a:r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근거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0100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vision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고정 카메라 기반 단일 시점 인식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Eye-in-hand</a:t>
                      </a:r>
                      <a:r>
                        <a:rPr lang="en-US" altLang="ko-KR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기반 근접 인식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작업 위치 변화 대응 및 관측 시점 유연성 확보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224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mobility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라인 추종 기반 고정 경로 주행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지도 기반 위치추정 및 구간</a:t>
                      </a:r>
                      <a:r>
                        <a:rPr lang="en-US" altLang="ko-KR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주행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물리적 라인 의존도 감소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89980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WMS / Dashboard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실시간 모니터링 및 주문 입력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비상 정지</a:t>
                      </a:r>
                      <a:r>
                        <a:rPr lang="en-US" altLang="ko-KR" sz="12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· </a:t>
                      </a:r>
                      <a:r>
                        <a:rPr lang="ko-KR" altLang="en-US" sz="1200" smtClean="0">
                          <a:solidFill>
                            <a:srgbClr val="444444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오류 상태 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대응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운영 안정성 및 예외 대응 능력 확보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7356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Robot Arm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단일</a:t>
                      </a:r>
                      <a:r>
                        <a:rPr lang="en-US" altLang="ko-KR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층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 물체 파지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smtClean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개</a:t>
                      </a:r>
                      <a:r>
                        <a:rPr lang="ko-KR" altLang="en-US" sz="1200" baseline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층에 대한 물체 파지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smtClean="0">
                          <a:solidFill>
                            <a:sysClr val="windowText" lastClr="000000"/>
                          </a:solidFill>
                        </a:rPr>
                        <a:t>다층 적재 환경 대응 범위 확대</a:t>
                      </a:r>
                      <a:endParaRPr lang="ko-KR" altLang="en-US" sz="120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22616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388100" y="5753100"/>
            <a:ext cx="4318000" cy="4419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549348" y="6409944"/>
            <a:ext cx="280035" cy="328613"/>
          </a:xfrm>
          <a:prstGeom prst="rect">
            <a:avLst/>
          </a:prstGeom>
          <a:solidFill>
            <a:srgbClr val="F3F4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04</a:t>
            </a:r>
            <a:endParaRPr lang="en-US" sz="9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8708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그룹 52"/>
          <p:cNvGrpSpPr/>
          <p:nvPr/>
        </p:nvGrpSpPr>
        <p:grpSpPr>
          <a:xfrm>
            <a:off x="2100939" y="1561088"/>
            <a:ext cx="8848277" cy="4990550"/>
            <a:chOff x="3067594" y="1340394"/>
            <a:chExt cx="8591006" cy="4845446"/>
          </a:xfrm>
        </p:grpSpPr>
        <p:pic>
          <p:nvPicPr>
            <p:cNvPr id="43" name="그림 4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67594" y="1340394"/>
              <a:ext cx="8591006" cy="4845446"/>
            </a:xfrm>
            <a:prstGeom prst="rect">
              <a:avLst/>
            </a:prstGeom>
          </p:spPr>
        </p:pic>
        <p:sp>
          <p:nvSpPr>
            <p:cNvPr id="50" name="직사각형 49"/>
            <p:cNvSpPr/>
            <p:nvPr/>
          </p:nvSpPr>
          <p:spPr>
            <a:xfrm>
              <a:off x="6299200" y="2202009"/>
              <a:ext cx="1225550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6664051" y="2508333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 rot="20553224">
              <a:off x="6520131" y="2668009"/>
              <a:ext cx="674636" cy="661530"/>
            </a:xfrm>
            <a:prstGeom prst="rect">
              <a:avLst/>
            </a:prstGeom>
            <a:solidFill>
              <a:srgbClr val="F7F8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2088733" y="1566868"/>
            <a:ext cx="8848800" cy="4989600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최종 시나리오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04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197615"/>
            <a:ext cx="6545168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주문 입력부터 </a:t>
            </a:r>
            <a:r>
              <a:rPr lang="en-US" sz="18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복귀까지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  <a:sym typeface="Wingdings" panose="05000000000000000000" pitchFamily="2" charset="2"/>
              </a:rPr>
              <a:t>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단일 </a:t>
            </a:r>
            <a:r>
              <a:rPr lang="en-US" sz="18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ROS2 mission flow</a:t>
            </a:r>
            <a:r>
              <a:rPr lang="en-US" sz="1800" b="1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로 </a:t>
            </a:r>
            <a:r>
              <a:rPr lang="en-US" sz="1800" b="1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연결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63" name="자유형 62"/>
          <p:cNvSpPr/>
          <p:nvPr/>
        </p:nvSpPr>
        <p:spPr>
          <a:xfrm>
            <a:off x="939202" y="2236605"/>
            <a:ext cx="9350364" cy="4433647"/>
          </a:xfrm>
          <a:custGeom>
            <a:avLst/>
            <a:gdLst>
              <a:gd name="connsiteX0" fmla="*/ 5705542 w 9934642"/>
              <a:gd name="connsiteY0" fmla="*/ 344596 h 4990510"/>
              <a:gd name="connsiteX1" fmla="*/ 390592 w 9934642"/>
              <a:gd name="connsiteY1" fmla="*/ 458896 h 4990510"/>
              <a:gd name="connsiteX2" fmla="*/ 904942 w 9934642"/>
              <a:gd name="connsiteY2" fmla="*/ 4821346 h 4990510"/>
              <a:gd name="connsiteX3" fmla="*/ 4924492 w 9934642"/>
              <a:gd name="connsiteY3" fmla="*/ 4059346 h 4990510"/>
              <a:gd name="connsiteX4" fmla="*/ 9934642 w 9934642"/>
              <a:gd name="connsiteY4" fmla="*/ 3697396 h 4990510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684037 w 9913137"/>
              <a:gd name="connsiteY0" fmla="*/ 344596 h 4827692"/>
              <a:gd name="connsiteX1" fmla="*/ 369087 w 9913137"/>
              <a:gd name="connsiteY1" fmla="*/ 458896 h 4827692"/>
              <a:gd name="connsiteX2" fmla="*/ 883437 w 9913137"/>
              <a:gd name="connsiteY2" fmla="*/ 4821346 h 4827692"/>
              <a:gd name="connsiteX3" fmla="*/ 4902987 w 9913137"/>
              <a:gd name="connsiteY3" fmla="*/ 4059346 h 4827692"/>
              <a:gd name="connsiteX4" fmla="*/ 9913137 w 9913137"/>
              <a:gd name="connsiteY4" fmla="*/ 3697396 h 4827692"/>
              <a:gd name="connsiteX0" fmla="*/ 5719641 w 9948741"/>
              <a:gd name="connsiteY0" fmla="*/ 344596 h 5028126"/>
              <a:gd name="connsiteX1" fmla="*/ 404691 w 9948741"/>
              <a:gd name="connsiteY1" fmla="*/ 458896 h 5028126"/>
              <a:gd name="connsiteX2" fmla="*/ 919041 w 9948741"/>
              <a:gd name="connsiteY2" fmla="*/ 4821346 h 5028126"/>
              <a:gd name="connsiteX3" fmla="*/ 5291944 w 9948741"/>
              <a:gd name="connsiteY3" fmla="*/ 4268905 h 5028126"/>
              <a:gd name="connsiteX4" fmla="*/ 9948741 w 9948741"/>
              <a:gd name="connsiteY4" fmla="*/ 3697396 h 5028126"/>
              <a:gd name="connsiteX0" fmla="*/ 5776880 w 10005980"/>
              <a:gd name="connsiteY0" fmla="*/ 344596 h 4877208"/>
              <a:gd name="connsiteX1" fmla="*/ 461930 w 10005980"/>
              <a:gd name="connsiteY1" fmla="*/ 458896 h 4877208"/>
              <a:gd name="connsiteX2" fmla="*/ 976280 w 10005980"/>
              <a:gd name="connsiteY2" fmla="*/ 4821346 h 4877208"/>
              <a:gd name="connsiteX3" fmla="*/ 5349183 w 10005980"/>
              <a:gd name="connsiteY3" fmla="*/ 4268905 h 4877208"/>
              <a:gd name="connsiteX4" fmla="*/ 10005980 w 10005980"/>
              <a:gd name="connsiteY4" fmla="*/ 3697396 h 4877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5980" h="4877208">
                <a:moveTo>
                  <a:pt x="5776880" y="344596"/>
                </a:moveTo>
                <a:cubicBezTo>
                  <a:pt x="3519455" y="28683"/>
                  <a:pt x="1262030" y="-287229"/>
                  <a:pt x="461930" y="458896"/>
                </a:cubicBezTo>
                <a:cubicBezTo>
                  <a:pt x="-338170" y="1205021"/>
                  <a:pt x="-55709" y="4577521"/>
                  <a:pt x="976280" y="4821346"/>
                </a:cubicBezTo>
                <a:cubicBezTo>
                  <a:pt x="2008269" y="5065171"/>
                  <a:pt x="3925775" y="4442259"/>
                  <a:pt x="5349183" y="4268905"/>
                </a:cubicBezTo>
                <a:cubicBezTo>
                  <a:pt x="6772591" y="4095551"/>
                  <a:pt x="9028080" y="3748196"/>
                  <a:pt x="10005980" y="3697396"/>
                </a:cubicBezTo>
              </a:path>
            </a:pathLst>
          </a:cu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40" name="이등변 삼각형 39"/>
          <p:cNvSpPr/>
          <p:nvPr/>
        </p:nvSpPr>
        <p:spPr>
          <a:xfrm rot="16200000">
            <a:off x="4582393" y="2264667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4" name="이등변 삼각형 63"/>
          <p:cNvSpPr/>
          <p:nvPr/>
        </p:nvSpPr>
        <p:spPr>
          <a:xfrm rot="14625688">
            <a:off x="1897749" y="2248182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5" name="이등변 삼각형 64"/>
          <p:cNvSpPr/>
          <p:nvPr/>
        </p:nvSpPr>
        <p:spPr>
          <a:xfrm rot="11072487">
            <a:off x="824483" y="413490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6" name="이등변 삼각형 65"/>
          <p:cNvSpPr/>
          <p:nvPr/>
        </p:nvSpPr>
        <p:spPr>
          <a:xfrm rot="9483470">
            <a:off x="1135571" y="5880447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7" name="이등변 삼각형 66"/>
          <p:cNvSpPr/>
          <p:nvPr/>
        </p:nvSpPr>
        <p:spPr>
          <a:xfrm rot="4518165">
            <a:off x="3813620" y="638920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8" name="이등변 삼각형 67"/>
          <p:cNvSpPr/>
          <p:nvPr/>
        </p:nvSpPr>
        <p:spPr>
          <a:xfrm rot="5029121">
            <a:off x="7180264" y="585733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69" name="이등변 삼각형 68"/>
          <p:cNvSpPr/>
          <p:nvPr/>
        </p:nvSpPr>
        <p:spPr>
          <a:xfrm rot="5029121">
            <a:off x="9795900" y="5546575"/>
            <a:ext cx="254450" cy="174666"/>
          </a:xfrm>
          <a:prstGeom prst="triangle">
            <a:avLst/>
          </a:prstGeom>
          <a:solidFill>
            <a:srgbClr val="2F52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70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46" name="그룹 45"/>
          <p:cNvGrpSpPr/>
          <p:nvPr/>
        </p:nvGrpSpPr>
        <p:grpSpPr>
          <a:xfrm>
            <a:off x="425657" y="2887863"/>
            <a:ext cx="1912433" cy="1043145"/>
            <a:chOff x="1452014" y="-3172967"/>
            <a:chExt cx="1980000" cy="1080000"/>
          </a:xfrm>
        </p:grpSpPr>
        <p:sp>
          <p:nvSpPr>
            <p:cNvPr id="16" name="Shape 14"/>
            <p:cNvSpPr/>
            <p:nvPr/>
          </p:nvSpPr>
          <p:spPr>
            <a:xfrm>
              <a:off x="1452014" y="-3172967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1589174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03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854026" y="-3063239"/>
              <a:ext cx="1330776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랙 앞 정렬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589174" y="-2670047"/>
              <a:ext cx="1716001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ArUco final align</a:t>
              </a:r>
              <a:endParaRPr lang="en-US" sz="1250" smtClean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/aruco_align_done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240390" y="4582263"/>
            <a:ext cx="2526909" cy="971518"/>
            <a:chOff x="4268367" y="-3172969"/>
            <a:chExt cx="2616185" cy="1005842"/>
          </a:xfrm>
        </p:grpSpPr>
        <p:sp>
          <p:nvSpPr>
            <p:cNvPr id="20" name="Shape 18"/>
            <p:cNvSpPr/>
            <p:nvPr/>
          </p:nvSpPr>
          <p:spPr>
            <a:xfrm>
              <a:off x="4268367" y="-3172969"/>
              <a:ext cx="1986973" cy="995279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4405526" y="-305409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04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744314" y="-3054096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관측·인식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362721" y="-2670047"/>
              <a:ext cx="2521831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r>
                <a:rPr lang="en-US" sz="120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YOLO+depth </a:t>
              </a:r>
              <a:r>
                <a:rPr lang="en-US" altLang="ko-KR" sz="120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→</a:t>
              </a:r>
              <a:endParaRPr lang="en-US" sz="120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0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/box_pose</a:t>
              </a:r>
              <a:endParaRPr lang="en-US" sz="1200" dirty="0">
                <a:latin typeface="+mj-ea"/>
                <a:ea typeface="+mj-ea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1669499" y="5879823"/>
            <a:ext cx="1720536" cy="894883"/>
            <a:chOff x="-4180690" y="-1389887"/>
            <a:chExt cx="1781324" cy="926500"/>
          </a:xfrm>
        </p:grpSpPr>
        <p:sp>
          <p:nvSpPr>
            <p:cNvPr id="24" name="Shape 22"/>
            <p:cNvSpPr/>
            <p:nvPr/>
          </p:nvSpPr>
          <p:spPr>
            <a:xfrm>
              <a:off x="-4180690" y="-1389887"/>
              <a:ext cx="1781324" cy="9265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-4043530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05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-3694175" y="-1280158"/>
              <a:ext cx="98918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Pick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-4043529" y="-886967"/>
              <a:ext cx="1110104" cy="278329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</a:t>
              </a: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pick_status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5090760" y="1641357"/>
            <a:ext cx="1980000" cy="1080000"/>
            <a:chOff x="170035" y="1221509"/>
            <a:chExt cx="1980000" cy="1080000"/>
          </a:xfrm>
        </p:grpSpPr>
        <p:sp>
          <p:nvSpPr>
            <p:cNvPr id="8" name="Shape 6"/>
            <p:cNvSpPr/>
            <p:nvPr/>
          </p:nvSpPr>
          <p:spPr>
            <a:xfrm>
              <a:off x="170035" y="1221509"/>
              <a:ext cx="1980000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307195" y="1340382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01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72371" y="1312950"/>
              <a:ext cx="121064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주문 입력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307195" y="1724430"/>
              <a:ext cx="1715966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/order_request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물품·목적지·선반 정보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2443574" y="1623639"/>
            <a:ext cx="2020777" cy="1080000"/>
            <a:chOff x="180998" y="2498484"/>
            <a:chExt cx="2020777" cy="1080000"/>
          </a:xfrm>
        </p:grpSpPr>
        <p:sp>
          <p:nvSpPr>
            <p:cNvPr id="12" name="Shape 10"/>
            <p:cNvSpPr/>
            <p:nvPr/>
          </p:nvSpPr>
          <p:spPr>
            <a:xfrm>
              <a:off x="180998" y="2498484"/>
              <a:ext cx="1980000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18158" y="2617356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02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87946" y="2608580"/>
              <a:ext cx="144136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AGV → Rack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318158" y="3001404"/>
              <a:ext cx="1883617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Nav2 / primitive route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/primitive_route_cmd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7" name="그룹 56"/>
          <p:cNvGrpSpPr/>
          <p:nvPr/>
        </p:nvGrpSpPr>
        <p:grpSpPr>
          <a:xfrm>
            <a:off x="7981369" y="5210497"/>
            <a:ext cx="1769016" cy="1080000"/>
            <a:chOff x="1452014" y="-1389887"/>
            <a:chExt cx="1769016" cy="1080000"/>
          </a:xfrm>
        </p:grpSpPr>
        <p:sp>
          <p:nvSpPr>
            <p:cNvPr id="32" name="Shape 30"/>
            <p:cNvSpPr/>
            <p:nvPr/>
          </p:nvSpPr>
          <p:spPr>
            <a:xfrm>
              <a:off x="1452014" y="-1389887"/>
              <a:ext cx="1769016" cy="1080000"/>
            </a:xfrm>
            <a:prstGeom prst="rect">
              <a:avLst/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1589174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07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883651" y="-1290095"/>
              <a:ext cx="995519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Place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589174" y="-886967"/>
              <a:ext cx="147842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QR/ArUco verify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/place_command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10184441" y="4807369"/>
            <a:ext cx="1565599" cy="1080000"/>
            <a:chOff x="4268366" y="-1389887"/>
            <a:chExt cx="1565599" cy="1080000"/>
          </a:xfrm>
        </p:grpSpPr>
        <p:sp>
          <p:nvSpPr>
            <p:cNvPr id="36" name="Shape 34"/>
            <p:cNvSpPr/>
            <p:nvPr/>
          </p:nvSpPr>
          <p:spPr>
            <a:xfrm>
              <a:off x="4268366" y="-1389887"/>
              <a:ext cx="1565599" cy="1080000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4405526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08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4716574" y="-1280159"/>
              <a:ext cx="868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5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Return</a:t>
              </a:r>
              <a:endParaRPr lang="en-US" sz="1650" dirty="0">
                <a:latin typeface="+mj-ea"/>
                <a:ea typeface="+mj-ea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4405526" y="-886967"/>
              <a:ext cx="1164572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parking route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/wms_update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  <p:grpSp>
        <p:nvGrpSpPr>
          <p:cNvPr id="54" name="그룹 53"/>
          <p:cNvGrpSpPr/>
          <p:nvPr/>
        </p:nvGrpSpPr>
        <p:grpSpPr>
          <a:xfrm>
            <a:off x="5051816" y="5837154"/>
            <a:ext cx="2377440" cy="943144"/>
            <a:chOff x="-1364338" y="-1389887"/>
            <a:chExt cx="2377440" cy="943144"/>
          </a:xfrm>
        </p:grpSpPr>
        <p:sp>
          <p:nvSpPr>
            <p:cNvPr id="28" name="Shape 26"/>
            <p:cNvSpPr/>
            <p:nvPr/>
          </p:nvSpPr>
          <p:spPr>
            <a:xfrm>
              <a:off x="-1364338" y="-1389887"/>
              <a:ext cx="1980000" cy="943144"/>
            </a:xfrm>
            <a:prstGeom prst="rect">
              <a:avLst/>
            </a:prstGeom>
            <a:solidFill>
              <a:srgbClr val="EEEEEE"/>
            </a:solidFill>
            <a:ln w="10160">
              <a:solidFill>
                <a:srgbClr val="BFBFBF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-1272003" y="-1271015"/>
              <a:ext cx="411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606060"/>
                  </a:solidFill>
                  <a:latin typeface="+mj-ea"/>
                  <a:ea typeface="+mj-ea"/>
                  <a:cs typeface="Noto Sans CJK KR" pitchFamily="34" charset="-120"/>
                </a:rPr>
                <a:t>06</a:t>
              </a:r>
              <a:endParaRPr lang="en-US" sz="1200" dirty="0">
                <a:latin typeface="+mj-ea"/>
                <a:ea typeface="+mj-ea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-971504" y="-1305558"/>
              <a:ext cx="17373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161616"/>
                  </a:solidFill>
                  <a:latin typeface="+mj-ea"/>
                  <a:ea typeface="+mj-ea"/>
                  <a:cs typeface="Noto Sans CJK KR" pitchFamily="34" charset="-120"/>
                </a:rPr>
                <a:t>AGV → 목적지</a:t>
              </a:r>
              <a:endParaRPr lang="en-US" sz="1600" dirty="0">
                <a:latin typeface="+mj-ea"/>
                <a:ea typeface="+mj-ea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-1227178" y="-994937"/>
              <a:ext cx="2240280" cy="502920"/>
            </a:xfrm>
            <a:prstGeom prst="rect">
              <a:avLst/>
            </a:prstGeom>
            <a:noFill/>
            <a:ln/>
          </p:spPr>
          <p:txBody>
            <a:bodyPr wrap="square" lIns="381" tIns="381" rIns="381" bIns="381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route runner</a:t>
              </a:r>
              <a:endParaRPr lang="en-US" sz="1250" dirty="0">
                <a:latin typeface="+mj-ea"/>
                <a:ea typeface="+mj-ea"/>
              </a:endParaRPr>
            </a:p>
            <a:p>
              <a:pPr marL="0" indent="0" algn="l">
                <a:buNone/>
              </a:pPr>
              <a:r>
                <a:rPr lang="en-US" sz="1250" dirty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/nav_status</a:t>
              </a:r>
              <a:endParaRPr lang="en-US" sz="1250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시스템 기능 아키텍처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04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10" name="Text 5"/>
          <p:cNvSpPr/>
          <p:nvPr/>
        </p:nvSpPr>
        <p:spPr>
          <a:xfrm>
            <a:off x="502920" y="1197615"/>
            <a:ext cx="843153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smtClean="0">
                <a:latin typeface="+mj-ea"/>
                <a:ea typeface="+mj-ea"/>
              </a:rPr>
              <a:t>jetson orin nano</a:t>
            </a:r>
            <a:r>
              <a:rPr lang="ko-KR" altLang="en-US" sz="1800" smtClean="0">
                <a:latin typeface="+mj-ea"/>
                <a:ea typeface="+mj-ea"/>
              </a:rPr>
              <a:t>와 </a:t>
            </a:r>
            <a:r>
              <a:rPr lang="en-US" altLang="ko-KR" sz="1800" smtClean="0">
                <a:latin typeface="+mj-ea"/>
                <a:ea typeface="+mj-ea"/>
              </a:rPr>
              <a:t>jetson nano</a:t>
            </a:r>
            <a:r>
              <a:rPr lang="ko-KR" altLang="en-US" sz="1800" smtClean="0">
                <a:latin typeface="+mj-ea"/>
                <a:ea typeface="+mj-ea"/>
              </a:rPr>
              <a:t>의 역할 분리 </a:t>
            </a:r>
            <a:r>
              <a:rPr lang="en-US" altLang="ko-KR" sz="1800" smtClean="0">
                <a:latin typeface="+mj-ea"/>
                <a:ea typeface="+mj-ea"/>
                <a:sym typeface="Wingdings" panose="05000000000000000000" pitchFamily="2" charset="2"/>
              </a:rPr>
              <a:t> </a:t>
            </a:r>
            <a:r>
              <a:rPr lang="ko-KR" altLang="en-US" sz="1800" smtClean="0">
                <a:latin typeface="+mj-ea"/>
                <a:ea typeface="+mj-ea"/>
                <a:sym typeface="Wingdings" panose="05000000000000000000" pitchFamily="2" charset="2"/>
              </a:rPr>
              <a:t>로봇팔 연계와 </a:t>
            </a:r>
            <a:r>
              <a:rPr lang="en-US" altLang="ko-KR" sz="1800" smtClean="0">
                <a:latin typeface="+mj-ea"/>
                <a:ea typeface="+mj-ea"/>
                <a:sym typeface="Wingdings" panose="05000000000000000000" pitchFamily="2" charset="2"/>
              </a:rPr>
              <a:t>AGV </a:t>
            </a:r>
            <a:r>
              <a:rPr lang="ko-KR" altLang="en-US" sz="1800" smtClean="0">
                <a:latin typeface="+mj-ea"/>
                <a:ea typeface="+mj-ea"/>
                <a:sym typeface="Wingdings" panose="05000000000000000000" pitchFamily="2" charset="2"/>
              </a:rPr>
              <a:t>실행 제어를 독립적으로 구성</a:t>
            </a:r>
            <a:endParaRPr lang="en-US" sz="1800" dirty="0">
              <a:latin typeface="+mj-ea"/>
              <a:ea typeface="+mj-ea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63" name="그룹 62"/>
          <p:cNvGrpSpPr/>
          <p:nvPr/>
        </p:nvGrpSpPr>
        <p:grpSpPr>
          <a:xfrm>
            <a:off x="3129041" y="1696850"/>
            <a:ext cx="2039985" cy="1021976"/>
            <a:chOff x="1196969" y="1710018"/>
            <a:chExt cx="2039985" cy="1021976"/>
          </a:xfrm>
        </p:grpSpPr>
        <p:sp>
          <p:nvSpPr>
            <p:cNvPr id="60" name="모서리가 둥근 직사각형 59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222328" y="1748118"/>
              <a:ext cx="18140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Orin Brain Node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196969" y="2086672"/>
              <a:ext cx="203998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50" smtClean="0">
                  <a:latin typeface="+mj-ea"/>
                  <a:ea typeface="+mj-ea"/>
                </a:rPr>
                <a:t>로봇팔</a:t>
              </a:r>
              <a:r>
                <a:rPr lang="en-US" altLang="ko-KR" sz="950" smtClean="0">
                  <a:latin typeface="+mj-ea"/>
                  <a:ea typeface="+mj-ea"/>
                </a:rPr>
                <a:t>-</a:t>
              </a:r>
              <a:r>
                <a:rPr lang="ko-KR" altLang="en-US" sz="950" smtClean="0">
                  <a:latin typeface="+mj-ea"/>
                  <a:ea typeface="+mj-ea"/>
                </a:rPr>
                <a:t>모바일 연계 작업 요청 </a:t>
              </a:r>
              <a:r>
                <a:rPr lang="en-US" altLang="ko-KR" sz="950" smtClean="0">
                  <a:latin typeface="+mj-ea"/>
                  <a:ea typeface="+mj-ea"/>
                </a:rPr>
                <a:t>&amp; </a:t>
              </a:r>
              <a:r>
                <a:rPr lang="ko-KR" altLang="en-US" sz="950" smtClean="0">
                  <a:latin typeface="+mj-ea"/>
                  <a:ea typeface="+mj-ea"/>
                </a:rPr>
                <a:t>상태 토픽 발행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64" name="그룹 63"/>
          <p:cNvGrpSpPr/>
          <p:nvPr/>
        </p:nvGrpSpPr>
        <p:grpSpPr>
          <a:xfrm>
            <a:off x="6602999" y="1738916"/>
            <a:ext cx="2039985" cy="1021976"/>
            <a:chOff x="1196969" y="1710018"/>
            <a:chExt cx="2039985" cy="1021976"/>
          </a:xfrm>
        </p:grpSpPr>
        <p:sp>
          <p:nvSpPr>
            <p:cNvPr id="65" name="모서리가 둥근 직사각형 64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222328" y="1748118"/>
              <a:ext cx="18276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AGV Brain Node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96969" y="2086672"/>
              <a:ext cx="203998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Brain Node </a:t>
              </a:r>
              <a:r>
                <a:rPr lang="ko-KR" altLang="en-US" sz="950" smtClean="0">
                  <a:latin typeface="+mj-ea"/>
                  <a:ea typeface="+mj-ea"/>
                </a:rPr>
                <a:t>토픽 수신</a:t>
              </a:r>
              <a:endParaRPr lang="en-US" altLang="ko-KR" sz="950" smtClean="0">
                <a:latin typeface="+mj-ea"/>
                <a:ea typeface="+mj-ea"/>
              </a:endParaRPr>
            </a:p>
            <a:p>
              <a:r>
                <a:rPr lang="ko-KR" altLang="en-US" sz="950" smtClean="0">
                  <a:latin typeface="+mj-ea"/>
                  <a:ea typeface="+mj-ea"/>
                </a:rPr>
                <a:t>주행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 · </a:t>
              </a:r>
              <a:r>
                <a:rPr lang="ko-KR" altLang="en-US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정렬 명령 발행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cxnSp>
        <p:nvCxnSpPr>
          <p:cNvPr id="69" name="직선 화살표 연결선 68"/>
          <p:cNvCxnSpPr/>
          <p:nvPr/>
        </p:nvCxnSpPr>
        <p:spPr>
          <a:xfrm>
            <a:off x="5250214" y="2046346"/>
            <a:ext cx="1378144" cy="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/>
          <p:nvPr/>
        </p:nvCxnSpPr>
        <p:spPr>
          <a:xfrm rot="5400000" flipV="1">
            <a:off x="7253455" y="3121274"/>
            <a:ext cx="739073" cy="1300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그룹 70"/>
          <p:cNvGrpSpPr/>
          <p:nvPr/>
        </p:nvGrpSpPr>
        <p:grpSpPr>
          <a:xfrm>
            <a:off x="6603000" y="3515269"/>
            <a:ext cx="2039985" cy="1021976"/>
            <a:chOff x="1196969" y="1710018"/>
            <a:chExt cx="2039985" cy="1021976"/>
          </a:xfrm>
        </p:grpSpPr>
        <p:sp>
          <p:nvSpPr>
            <p:cNvPr id="72" name="모서리가 둥근 직사각형 71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22328" y="1748118"/>
              <a:ext cx="1483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AGV Mobility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Primitive route runner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Aruco Align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Localization / Odomeytry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3078486" y="3555752"/>
            <a:ext cx="2090540" cy="1021976"/>
            <a:chOff x="1196969" y="1710018"/>
            <a:chExt cx="2090540" cy="1021976"/>
          </a:xfrm>
        </p:grpSpPr>
        <p:sp>
          <p:nvSpPr>
            <p:cNvPr id="76" name="모서리가 둥근 직사각형 75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222328" y="1748118"/>
              <a:ext cx="206518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Perception/ Vision 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D435i RGB-D, YOLO/Depth</a:t>
              </a:r>
            </a:p>
            <a:p>
              <a:r>
                <a:rPr lang="en-US" altLang="ko-KR" sz="950" smtClean="0">
                  <a:latin typeface="+mj-ea"/>
                  <a:ea typeface="+mj-ea"/>
                </a:rPr>
                <a:t>Eye-in-hand </a:t>
              </a:r>
              <a:r>
                <a:rPr lang="ko-KR" altLang="en-US" sz="950" smtClean="0">
                  <a:latin typeface="+mj-ea"/>
                  <a:ea typeface="+mj-ea"/>
                </a:rPr>
                <a:t>관측</a:t>
              </a:r>
              <a:endParaRPr lang="en-US" altLang="ko-KR" sz="950" smtClean="0">
                <a:latin typeface="+mj-ea"/>
                <a:ea typeface="+mj-ea"/>
              </a:endParaRPr>
            </a:p>
            <a:p>
              <a:r>
                <a:rPr lang="en-US" altLang="ko-KR" sz="950" smtClean="0">
                  <a:latin typeface="+mj-ea"/>
                  <a:ea typeface="+mj-ea"/>
                </a:rPr>
                <a:t>/box_pose - /distance_status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9082380" y="3497311"/>
            <a:ext cx="2654661" cy="1021976"/>
            <a:chOff x="1196969" y="1710018"/>
            <a:chExt cx="2654661" cy="1021976"/>
          </a:xfrm>
        </p:grpSpPr>
        <p:sp>
          <p:nvSpPr>
            <p:cNvPr id="80" name="모서리가 둥근 직사각형 79"/>
            <p:cNvSpPr/>
            <p:nvPr/>
          </p:nvSpPr>
          <p:spPr>
            <a:xfrm>
              <a:off x="1222328" y="1710018"/>
              <a:ext cx="2629302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1222328" y="1748118"/>
              <a:ext cx="249401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Safety Command Layer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1196969" y="2086672"/>
              <a:ext cx="2039985" cy="530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50" smtClean="0">
                  <a:latin typeface="+mj-ea"/>
                  <a:ea typeface="+mj-ea"/>
                </a:rPr>
                <a:t>cmd_vel_safety_filter</a:t>
              </a:r>
            </a:p>
            <a:p>
              <a:r>
                <a:rPr lang="ko-KR" altLang="en-US" sz="950" smtClean="0">
                  <a:latin typeface="+mj-ea"/>
                  <a:ea typeface="+mj-ea"/>
                </a:rPr>
                <a:t>속도 제한 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· </a:t>
              </a:r>
              <a:r>
                <a:rPr lang="ko-KR" altLang="en-US" sz="950" smtClean="0">
                  <a:solidFill>
                    <a:srgbClr val="444444"/>
                  </a:solidFill>
                  <a:latin typeface="+mj-ea"/>
                  <a:ea typeface="+mj-ea"/>
                  <a:cs typeface="Noto Sans CJK KR" pitchFamily="34" charset="-120"/>
                </a:rPr>
                <a:t>보정</a:t>
              </a:r>
              <a:endParaRPr lang="en-US" altLang="ko-KR" sz="95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</a:rPr>
                <a:t>/cmd_vel_nav </a:t>
              </a:r>
              <a:r>
                <a:rPr lang="en-US" altLang="ko-KR" sz="950" smtClean="0">
                  <a:solidFill>
                    <a:srgbClr val="444444"/>
                  </a:solidFill>
                  <a:latin typeface="+mj-ea"/>
                  <a:ea typeface="+mj-ea"/>
                  <a:sym typeface="Wingdings" panose="05000000000000000000" pitchFamily="2" charset="2"/>
                </a:rPr>
                <a:t> /cmd_vel</a:t>
              </a:r>
              <a:endParaRPr lang="ko-KR" altLang="en-US" sz="950">
                <a:latin typeface="+mj-ea"/>
                <a:ea typeface="+mj-ea"/>
              </a:endParaRPr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346710" y="3550523"/>
            <a:ext cx="2039985" cy="1021976"/>
            <a:chOff x="1196969" y="1710018"/>
            <a:chExt cx="2039985" cy="1021976"/>
          </a:xfrm>
        </p:grpSpPr>
        <p:sp>
          <p:nvSpPr>
            <p:cNvPr id="88" name="모서리가 둥근 직사각형 87"/>
            <p:cNvSpPr/>
            <p:nvPr/>
          </p:nvSpPr>
          <p:spPr>
            <a:xfrm>
              <a:off x="1222328" y="1710018"/>
              <a:ext cx="1989268" cy="1021976"/>
            </a:xfrm>
            <a:prstGeom prst="roundRect">
              <a:avLst>
                <a:gd name="adj" fmla="val 12007"/>
              </a:avLst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222328" y="1748118"/>
              <a:ext cx="148149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latin typeface="+mj-ea"/>
                  <a:ea typeface="+mj-ea"/>
                </a:rPr>
                <a:t>Manipulation</a:t>
              </a:r>
              <a:endParaRPr lang="ko-KR" altLang="en-US" sz="1600" b="1">
                <a:latin typeface="+mj-ea"/>
                <a:ea typeface="+mj-ea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196969" y="2086672"/>
              <a:ext cx="2039985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smtClean="0">
                  <a:latin typeface="+mj-ea"/>
                  <a:ea typeface="+mj-ea"/>
                </a:rPr>
                <a:t>myCobot </a:t>
              </a:r>
              <a:r>
                <a:rPr lang="en-US" altLang="ko-KR" sz="950" smtClean="0">
                  <a:latin typeface="+mj-ea"/>
                  <a:ea typeface="+mj-ea"/>
                </a:rPr>
                <a:t>280Pi</a:t>
              </a:r>
              <a:r>
                <a:rPr lang="en-US" altLang="ko-KR" sz="1000" smtClean="0">
                  <a:latin typeface="+mj-ea"/>
                  <a:ea typeface="+mj-ea"/>
                </a:rPr>
                <a:t> + Gripper</a:t>
              </a:r>
            </a:p>
            <a:p>
              <a:r>
                <a:rPr lang="en-US" altLang="ko-KR" sz="1000" smtClean="0">
                  <a:latin typeface="+mj-ea"/>
                  <a:ea typeface="+mj-ea"/>
                </a:rPr>
                <a:t>Pick / Place </a:t>
              </a:r>
              <a:r>
                <a:rPr lang="ko-KR" altLang="en-US" sz="1000" smtClean="0">
                  <a:latin typeface="+mj-ea"/>
                  <a:ea typeface="+mj-ea"/>
                </a:rPr>
                <a:t>상태 발행</a:t>
              </a:r>
              <a:endParaRPr lang="en-US" altLang="ko-KR" sz="1000" smtClean="0">
                <a:latin typeface="+mj-ea"/>
                <a:ea typeface="+mj-ea"/>
              </a:endParaRPr>
            </a:p>
            <a:p>
              <a:r>
                <a:rPr lang="en-US" altLang="ko-KR" sz="1000" smtClean="0">
                  <a:latin typeface="+mj-ea"/>
                  <a:ea typeface="+mj-ea"/>
                </a:rPr>
                <a:t>/arm_status</a:t>
              </a:r>
              <a:endParaRPr lang="ko-KR" altLang="en-US" sz="1000">
                <a:latin typeface="+mj-ea"/>
                <a:ea typeface="+mj-ea"/>
              </a:endParaRPr>
            </a:p>
          </p:txBody>
        </p:sp>
      </p:grpSp>
      <p:cxnSp>
        <p:nvCxnSpPr>
          <p:cNvPr id="91" name="직선 화살표 연결선 90"/>
          <p:cNvCxnSpPr/>
          <p:nvPr/>
        </p:nvCxnSpPr>
        <p:spPr>
          <a:xfrm flipH="1" flipV="1">
            <a:off x="5250214" y="2272189"/>
            <a:ext cx="1327427" cy="2343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5169028" y="1793892"/>
            <a:ext cx="1418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mtClean="0">
                <a:latin typeface="+mj-ea"/>
                <a:ea typeface="+mj-ea"/>
              </a:rPr>
              <a:t>/place_target </a:t>
            </a:r>
            <a:r>
              <a:rPr lang="en-US" altLang="ko-KR" sz="8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/arm_status</a:t>
            </a:r>
            <a:endParaRPr lang="ko-KR" altLang="en-US" sz="800"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181706" y="2292664"/>
            <a:ext cx="13805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smtClean="0">
                <a:latin typeface="+mj-ea"/>
                <a:ea typeface="+mj-ea"/>
              </a:rPr>
              <a:t>/nav_status </a:t>
            </a:r>
            <a:r>
              <a:rPr lang="en-US" altLang="ko-KR" sz="8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/align_status</a:t>
            </a:r>
            <a:endParaRPr lang="ko-KR" altLang="en-US" sz="800">
              <a:latin typeface="+mj-ea"/>
              <a:ea typeface="+mj-ea"/>
            </a:endParaRP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7616493" y="4529996"/>
            <a:ext cx="0" cy="549260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/>
          <p:cNvGrpSpPr/>
          <p:nvPr/>
        </p:nvGrpSpPr>
        <p:grpSpPr>
          <a:xfrm>
            <a:off x="5828287" y="5147198"/>
            <a:ext cx="6202523" cy="1334461"/>
            <a:chOff x="2512199" y="5180036"/>
            <a:chExt cx="6202523" cy="1334461"/>
          </a:xfrm>
        </p:grpSpPr>
        <p:sp>
          <p:nvSpPr>
            <p:cNvPr id="99" name="모서리가 둥근 직사각형 98"/>
            <p:cNvSpPr/>
            <p:nvPr/>
          </p:nvSpPr>
          <p:spPr>
            <a:xfrm>
              <a:off x="2512199" y="5180036"/>
              <a:ext cx="5958933" cy="1334461"/>
            </a:xfrm>
            <a:prstGeom prst="roundRect">
              <a:avLst>
                <a:gd name="adj" fmla="val 9529"/>
              </a:avLst>
            </a:prstGeom>
            <a:solidFill>
              <a:schemeClr val="bg1">
                <a:lumMod val="85000"/>
              </a:schemeClr>
            </a:solidFill>
            <a:ln w="1905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j-ea"/>
                <a:ea typeface="+mj-ea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961505" y="5237664"/>
              <a:ext cx="4753217" cy="9725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Orin Nano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Vision 처리  </a:t>
              </a:r>
              <a:endParaRPr lang="en-US" altLang="ko-KR" sz="1300" smtClean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300" b="1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AGV </a:t>
              </a: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Jetson Nano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Mission FSM·주행·정렬·Safety Filter  </a:t>
              </a:r>
              <a:endParaRPr lang="en-US" altLang="ko-KR" sz="1300" smtClean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endParaRPr>
            </a:p>
            <a:p>
              <a:pPr>
                <a:lnSpc>
                  <a:spcPct val="110000"/>
                </a:lnSpc>
              </a:pPr>
              <a:r>
                <a:rPr lang="en-US" altLang="ko-KR" sz="1300" b="1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Raspberry </a:t>
              </a:r>
              <a:r>
                <a:rPr lang="en-US" altLang="ko-KR" sz="1300" b="1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Pi</a:t>
              </a: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: 로봇팔 </a:t>
              </a:r>
              <a:r>
                <a:rPr lang="en-US" altLang="ko-KR" sz="1300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제어</a:t>
              </a:r>
            </a:p>
            <a:p>
              <a:pPr>
                <a:lnSpc>
                  <a:spcPct val="110000"/>
                </a:lnSpc>
              </a:pPr>
              <a:r>
                <a:rPr lang="en-US" altLang="ko-KR" sz="1300" smtClean="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 </a:t>
              </a:r>
              <a:endParaRPr lang="en-US" altLang="ko-KR" sz="1300" dirty="0">
                <a:latin typeface="+mj-ea"/>
                <a:ea typeface="+mj-ea"/>
              </a:endParaRPr>
            </a:p>
          </p:txBody>
        </p:sp>
        <p:sp>
          <p:nvSpPr>
            <p:cNvPr id="101" name="Shape 2"/>
            <p:cNvSpPr/>
            <p:nvPr/>
          </p:nvSpPr>
          <p:spPr>
            <a:xfrm>
              <a:off x="2603446" y="5960523"/>
              <a:ext cx="5579396" cy="0"/>
            </a:xfrm>
            <a:prstGeom prst="line">
              <a:avLst/>
            </a:prstGeom>
            <a:noFill/>
            <a:ln w="10160">
              <a:solidFill>
                <a:schemeClr val="tx1"/>
              </a:solidFill>
              <a:prstDash val="solid"/>
            </a:ln>
          </p:spPr>
        </p:sp>
        <p:sp>
          <p:nvSpPr>
            <p:cNvPr id="102" name="TextBox 101"/>
            <p:cNvSpPr txBox="1"/>
            <p:nvPr/>
          </p:nvSpPr>
          <p:spPr>
            <a:xfrm>
              <a:off x="2744505" y="5460060"/>
              <a:ext cx="12474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mtClean="0">
                  <a:latin typeface="+mj-ea"/>
                  <a:ea typeface="+mj-ea"/>
                </a:rPr>
                <a:t>Deployment</a:t>
              </a:r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833718" y="6070859"/>
              <a:ext cx="10212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smtClean="0">
                  <a:latin typeface="+mj-ea"/>
                  <a:ea typeface="+mj-ea"/>
                </a:rPr>
                <a:t>Hardware</a:t>
              </a:r>
              <a:endParaRPr lang="ko-KR" altLang="en-US" sz="1400" b="1">
                <a:latin typeface="+mj-ea"/>
                <a:ea typeface="+mj-ea"/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3985890" y="6070044"/>
              <a:ext cx="2870016" cy="31239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ko-KR" sz="1300">
                  <a:solidFill>
                    <a:srgbClr val="2A2A2A"/>
                  </a:solidFill>
                  <a:latin typeface="+mj-ea"/>
                  <a:ea typeface="+mj-ea"/>
                  <a:cs typeface="Noto Sans CJK KR" pitchFamily="34" charset="-120"/>
                </a:rPr>
                <a:t>myAGV / myCobot / D435i / LiDAR</a:t>
              </a:r>
              <a:endParaRPr lang="en-US" altLang="ko-KR" sz="1300" dirty="0">
                <a:latin typeface="+mj-ea"/>
                <a:ea typeface="+mj-ea"/>
              </a:endParaRPr>
            </a:p>
          </p:txBody>
        </p:sp>
      </p:grpSp>
      <p:cxnSp>
        <p:nvCxnSpPr>
          <p:cNvPr id="107" name="직선 연결선 106"/>
          <p:cNvCxnSpPr/>
          <p:nvPr/>
        </p:nvCxnSpPr>
        <p:spPr>
          <a:xfrm>
            <a:off x="8617626" y="4008299"/>
            <a:ext cx="490113" cy="0"/>
          </a:xfrm>
          <a:prstGeom prst="line">
            <a:avLst/>
          </a:prstGeom>
          <a:ln w="19050">
            <a:solidFill>
              <a:srgbClr val="2F52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/>
          <p:nvPr/>
        </p:nvCxnSpPr>
        <p:spPr>
          <a:xfrm flipH="1">
            <a:off x="2364219" y="4071731"/>
            <a:ext cx="739626" cy="8445"/>
          </a:xfrm>
          <a:prstGeom prst="straightConnector1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842682" y="5261329"/>
            <a:ext cx="2572871" cy="9873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latin typeface="+mj-ea"/>
                <a:ea typeface="+mj-ea"/>
              </a:rPr>
              <a:t>궁님 여기 확인해서 화살표 추가할 거 추가해주세요</a:t>
            </a:r>
            <a:r>
              <a:rPr lang="en-US" altLang="ko-KR" sz="1600" smtClean="0">
                <a:latin typeface="+mj-ea"/>
                <a:ea typeface="+mj-ea"/>
              </a:rPr>
              <a:t>.</a:t>
            </a:r>
            <a:endParaRPr lang="ko-KR" altLang="en-US" sz="1600">
              <a:latin typeface="+mj-ea"/>
              <a:ea typeface="+mj-ea"/>
            </a:endParaRPr>
          </a:p>
        </p:txBody>
      </p:sp>
      <p:sp>
        <p:nvSpPr>
          <p:cNvPr id="113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945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8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altLang="ko-KR" sz="2800" b="1" smtClean="0">
                <a:solidFill>
                  <a:srgbClr val="161616"/>
                </a:solidFill>
                <a:latin typeface="+mj-ea"/>
                <a:ea typeface="+mj-ea"/>
              </a:rPr>
              <a:t>ROS2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제어 </a:t>
            </a:r>
            <a:r>
              <a:rPr lang="en-US" altLang="ko-KR" sz="280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데이터 파이프라인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9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smtClean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06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8" name="Text 4"/>
          <p:cNvSpPr/>
          <p:nvPr/>
        </p:nvSpPr>
        <p:spPr>
          <a:xfrm>
            <a:off x="502920" y="1325880"/>
            <a:ext cx="10881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D7262F"/>
                </a:solidFill>
                <a:latin typeface="+mj-ea"/>
                <a:ea typeface="+mj-ea"/>
                <a:cs typeface="Noto Sans CJK KR" pitchFamily="34" charset="-120"/>
              </a:rPr>
              <a:t>Topic은 “명령 / 상태 / 센서·좌표 데이터”로 분리하고, 실제 구동 명령은 Safety Filter를 거쳐 전달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594360" y="1737360"/>
            <a:ext cx="10972800" cy="1243584"/>
          </a:xfrm>
          <a:prstGeom prst="roundRect">
            <a:avLst>
              <a:gd name="adj" fmla="val 4412"/>
            </a:avLst>
          </a:prstGeom>
          <a:solidFill>
            <a:srgbClr val="F7F7F6"/>
          </a:solidFill>
          <a:ln w="7620">
            <a:solidFill>
              <a:srgbClr val="D4D4D4"/>
            </a:solidFill>
            <a:prstDash val="solid"/>
          </a:ln>
        </p:spPr>
      </p:sp>
      <p:sp>
        <p:nvSpPr>
          <p:cNvPr id="50" name="Shape 6"/>
          <p:cNvSpPr/>
          <p:nvPr/>
        </p:nvSpPr>
        <p:spPr>
          <a:xfrm>
            <a:off x="594360" y="3182112"/>
            <a:ext cx="10972800" cy="1188720"/>
          </a:xfrm>
          <a:prstGeom prst="roundRect">
            <a:avLst>
              <a:gd name="adj" fmla="val 4615"/>
            </a:avLst>
          </a:prstGeom>
          <a:solidFill>
            <a:srgbClr val="F4F8F4"/>
          </a:solidFill>
          <a:ln w="7620">
            <a:solidFill>
              <a:srgbClr val="CAD8CA"/>
            </a:solidFill>
            <a:prstDash val="solid"/>
          </a:ln>
        </p:spPr>
      </p:sp>
      <p:sp>
        <p:nvSpPr>
          <p:cNvPr id="51" name="Shape 7"/>
          <p:cNvSpPr/>
          <p:nvPr/>
        </p:nvSpPr>
        <p:spPr>
          <a:xfrm>
            <a:off x="594360" y="4590288"/>
            <a:ext cx="10972800" cy="1170432"/>
          </a:xfrm>
          <a:prstGeom prst="roundRect">
            <a:avLst>
              <a:gd name="adj" fmla="val 4688"/>
            </a:avLst>
          </a:prstGeom>
          <a:solidFill>
            <a:srgbClr val="F4F8FA"/>
          </a:solidFill>
          <a:ln w="7620">
            <a:solidFill>
              <a:srgbClr val="C6D7DD"/>
            </a:solidFill>
            <a:prstDash val="solid"/>
          </a:ln>
        </p:spPr>
      </p:sp>
      <p:sp>
        <p:nvSpPr>
          <p:cNvPr id="52" name="Text 8"/>
          <p:cNvSpPr/>
          <p:nvPr/>
        </p:nvSpPr>
        <p:spPr>
          <a:xfrm>
            <a:off x="777240" y="1856232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A. 상위 작업·로봇팔 연계</a:t>
            </a:r>
            <a:endParaRPr lang="en-US" sz="920" dirty="0">
              <a:latin typeface="+mj-ea"/>
              <a:ea typeface="+mj-ea"/>
            </a:endParaRPr>
          </a:p>
        </p:txBody>
      </p:sp>
      <p:sp>
        <p:nvSpPr>
          <p:cNvPr id="53" name="Text 9"/>
          <p:cNvSpPr/>
          <p:nvPr/>
        </p:nvSpPr>
        <p:spPr>
          <a:xfrm>
            <a:off x="777240" y="3310128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5C8A54"/>
                </a:solidFill>
                <a:latin typeface="+mj-ea"/>
                <a:ea typeface="+mj-ea"/>
                <a:cs typeface="Noto Sans CJK KR" pitchFamily="34" charset="-120"/>
              </a:rPr>
              <a:t>B. AGV 이동 제어</a:t>
            </a:r>
            <a:endParaRPr lang="en-US" sz="920" dirty="0">
              <a:latin typeface="+mj-ea"/>
              <a:ea typeface="+mj-ea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777240" y="4718304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448B83"/>
                </a:solidFill>
                <a:latin typeface="+mj-ea"/>
                <a:ea typeface="+mj-ea"/>
                <a:cs typeface="Noto Sans CJK KR" pitchFamily="34" charset="-120"/>
              </a:rPr>
              <a:t>C. Vision 기반 최종 정렬</a:t>
            </a:r>
            <a:endParaRPr lang="en-US" sz="920" dirty="0">
              <a:latin typeface="+mj-ea"/>
              <a:ea typeface="+mj-ea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2395728" y="2359152"/>
            <a:ext cx="1078992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2E6FAE"/>
            </a:solidFill>
            <a:prstDash val="solid"/>
            <a:headEnd type="none"/>
            <a:tailEnd type="triangle"/>
          </a:ln>
        </p:spPr>
      </p:sp>
      <p:sp>
        <p:nvSpPr>
          <p:cNvPr id="56" name="Shape 12"/>
          <p:cNvSpPr/>
          <p:nvPr/>
        </p:nvSpPr>
        <p:spPr>
          <a:xfrm>
            <a:off x="5303520" y="2359152"/>
            <a:ext cx="114300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448B83"/>
            </a:solidFill>
            <a:prstDash val="solid"/>
            <a:headEnd type="none"/>
            <a:tailEnd type="triangle"/>
          </a:ln>
        </p:spPr>
      </p:sp>
      <p:sp>
        <p:nvSpPr>
          <p:cNvPr id="57" name="Shape 13"/>
          <p:cNvSpPr/>
          <p:nvPr/>
        </p:nvSpPr>
        <p:spPr>
          <a:xfrm>
            <a:off x="8275320" y="2359152"/>
            <a:ext cx="100584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58" name="Shape 14"/>
          <p:cNvSpPr/>
          <p:nvPr/>
        </p:nvSpPr>
        <p:spPr>
          <a:xfrm>
            <a:off x="2377440" y="3813048"/>
            <a:ext cx="9601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5C8A54"/>
            </a:solidFill>
            <a:prstDash val="solid"/>
            <a:headEnd type="none"/>
            <a:tailEnd type="triangle"/>
          </a:ln>
        </p:spPr>
      </p:sp>
      <p:sp>
        <p:nvSpPr>
          <p:cNvPr id="68" name="Shape 15"/>
          <p:cNvSpPr/>
          <p:nvPr/>
        </p:nvSpPr>
        <p:spPr>
          <a:xfrm>
            <a:off x="4892040" y="3813048"/>
            <a:ext cx="82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5C8A54"/>
            </a:solidFill>
            <a:prstDash val="solid"/>
            <a:headEnd type="none"/>
            <a:tailEnd type="triangle"/>
          </a:ln>
        </p:spPr>
      </p:sp>
      <p:sp>
        <p:nvSpPr>
          <p:cNvPr id="83" name="Shape 16"/>
          <p:cNvSpPr/>
          <p:nvPr/>
        </p:nvSpPr>
        <p:spPr>
          <a:xfrm>
            <a:off x="7269480" y="3813048"/>
            <a:ext cx="82296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C98E2C"/>
            </a:solidFill>
            <a:prstDash val="solid"/>
            <a:headEnd type="none"/>
            <a:tailEnd type="triangle"/>
          </a:ln>
        </p:spPr>
      </p:sp>
      <p:sp>
        <p:nvSpPr>
          <p:cNvPr id="84" name="Shape 17"/>
          <p:cNvSpPr/>
          <p:nvPr/>
        </p:nvSpPr>
        <p:spPr>
          <a:xfrm>
            <a:off x="9345168" y="3813048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85" name="Shape 18"/>
          <p:cNvSpPr/>
          <p:nvPr/>
        </p:nvSpPr>
        <p:spPr>
          <a:xfrm>
            <a:off x="2377440" y="5221224"/>
            <a:ext cx="91440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448B83"/>
            </a:solidFill>
            <a:prstDash val="solid"/>
            <a:headEnd type="none"/>
            <a:tailEnd type="triangle"/>
          </a:ln>
        </p:spPr>
      </p:sp>
      <p:sp>
        <p:nvSpPr>
          <p:cNvPr id="86" name="Shape 19"/>
          <p:cNvSpPr/>
          <p:nvPr/>
        </p:nvSpPr>
        <p:spPr>
          <a:xfrm>
            <a:off x="4800600" y="5221224"/>
            <a:ext cx="86868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448B83"/>
            </a:solidFill>
            <a:prstDash val="solid"/>
            <a:headEnd type="none"/>
            <a:tailEnd type="triangle"/>
          </a:ln>
        </p:spPr>
      </p:sp>
      <p:sp>
        <p:nvSpPr>
          <p:cNvPr id="93" name="Shape 20"/>
          <p:cNvSpPr/>
          <p:nvPr/>
        </p:nvSpPr>
        <p:spPr>
          <a:xfrm>
            <a:off x="7086600" y="5221224"/>
            <a:ext cx="100584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C98E2C"/>
            </a:solidFill>
            <a:prstDash val="solid"/>
            <a:headEnd type="none"/>
            <a:tailEnd type="triangle"/>
          </a:ln>
        </p:spPr>
      </p:sp>
      <p:sp>
        <p:nvSpPr>
          <p:cNvPr id="94" name="Shape 21"/>
          <p:cNvSpPr/>
          <p:nvPr/>
        </p:nvSpPr>
        <p:spPr>
          <a:xfrm>
            <a:off x="9345168" y="5221224"/>
            <a:ext cx="731520" cy="0"/>
          </a:xfrm>
          <a:prstGeom prst="line">
            <a:avLst/>
          </a:prstGeom>
          <a:solidFill>
            <a:srgbClr val="FFFFFF">
              <a:alpha val="0"/>
            </a:srgbClr>
          </a:solidFill>
          <a:ln w="1397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95" name="Shape 22"/>
          <p:cNvSpPr/>
          <p:nvPr/>
        </p:nvSpPr>
        <p:spPr>
          <a:xfrm>
            <a:off x="1024128" y="2148840"/>
            <a:ext cx="13716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C98E2C"/>
            </a:solidFill>
            <a:prstDash val="solid"/>
          </a:ln>
        </p:spPr>
      </p:sp>
      <p:sp>
        <p:nvSpPr>
          <p:cNvPr id="98" name="Text 23"/>
          <p:cNvSpPr/>
          <p:nvPr/>
        </p:nvSpPr>
        <p:spPr>
          <a:xfrm>
            <a:off x="1133856" y="2240280"/>
            <a:ext cx="11521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Brain Node</a:t>
            </a:r>
            <a:endParaRPr lang="en-US" sz="830" dirty="0">
              <a:latin typeface="+mj-ea"/>
              <a:ea typeface="+mj-ea"/>
            </a:endParaRPr>
          </a:p>
        </p:txBody>
      </p:sp>
      <p:sp>
        <p:nvSpPr>
          <p:cNvPr id="106" name="Shape 24"/>
          <p:cNvSpPr/>
          <p:nvPr/>
        </p:nvSpPr>
        <p:spPr>
          <a:xfrm>
            <a:off x="3474720" y="2084832"/>
            <a:ext cx="18288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0160">
            <a:solidFill>
              <a:srgbClr val="2E6FAE"/>
            </a:solidFill>
            <a:prstDash val="solid"/>
          </a:ln>
        </p:spPr>
      </p:sp>
      <p:sp>
        <p:nvSpPr>
          <p:cNvPr id="109" name="Text 25"/>
          <p:cNvSpPr/>
          <p:nvPr/>
        </p:nvSpPr>
        <p:spPr>
          <a:xfrm>
            <a:off x="3584448" y="2176272"/>
            <a:ext cx="16093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2E6FAE"/>
                </a:solidFill>
                <a:latin typeface="+mj-ea"/>
                <a:ea typeface="+mj-ea"/>
                <a:cs typeface="Noto Sans CJK KR" pitchFamily="34" charset="-120"/>
              </a:rPr>
              <a:t>Mission Brain Node</a:t>
            </a:r>
            <a:endParaRPr lang="en-US" sz="830" dirty="0">
              <a:latin typeface="+mj-ea"/>
              <a:ea typeface="+mj-ea"/>
            </a:endParaRPr>
          </a:p>
        </p:txBody>
      </p:sp>
      <p:sp>
        <p:nvSpPr>
          <p:cNvPr id="110" name="Text 26"/>
          <p:cNvSpPr/>
          <p:nvPr/>
        </p:nvSpPr>
        <p:spPr>
          <a:xfrm>
            <a:off x="3584448" y="2468880"/>
            <a:ext cx="1609344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rPr>
              <a:t>AGV FSM / 상태 처리</a:t>
            </a:r>
            <a:endParaRPr lang="en-US" sz="680" dirty="0">
              <a:latin typeface="+mj-ea"/>
              <a:ea typeface="+mj-ea"/>
            </a:endParaRPr>
          </a:p>
        </p:txBody>
      </p:sp>
      <p:sp>
        <p:nvSpPr>
          <p:cNvPr id="111" name="Shape 27"/>
          <p:cNvSpPr/>
          <p:nvPr/>
        </p:nvSpPr>
        <p:spPr>
          <a:xfrm>
            <a:off x="6446520" y="2148840"/>
            <a:ext cx="18288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8E6BBE"/>
            </a:solidFill>
            <a:prstDash val="solid"/>
          </a:ln>
        </p:spPr>
      </p:sp>
      <p:sp>
        <p:nvSpPr>
          <p:cNvPr id="113" name="Text 28"/>
          <p:cNvSpPr/>
          <p:nvPr/>
        </p:nvSpPr>
        <p:spPr>
          <a:xfrm>
            <a:off x="6556248" y="2240280"/>
            <a:ext cx="160934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Robot Arm / Pick</a:t>
            </a:r>
            <a:endParaRPr lang="en-US" sz="830" dirty="0">
              <a:latin typeface="+mj-ea"/>
              <a:ea typeface="+mj-ea"/>
            </a:endParaRPr>
          </a:p>
        </p:txBody>
      </p:sp>
      <p:sp>
        <p:nvSpPr>
          <p:cNvPr id="114" name="Shape 29"/>
          <p:cNvSpPr/>
          <p:nvPr/>
        </p:nvSpPr>
        <p:spPr>
          <a:xfrm>
            <a:off x="9281160" y="2148840"/>
            <a:ext cx="155448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4D4D4"/>
            </a:solidFill>
            <a:prstDash val="solid"/>
          </a:ln>
        </p:spPr>
      </p:sp>
      <p:sp>
        <p:nvSpPr>
          <p:cNvPr id="115" name="Text 30"/>
          <p:cNvSpPr/>
          <p:nvPr/>
        </p:nvSpPr>
        <p:spPr>
          <a:xfrm>
            <a:off x="9390888" y="2240280"/>
            <a:ext cx="13350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Status Return</a:t>
            </a:r>
            <a:endParaRPr lang="en-US" sz="830" dirty="0">
              <a:latin typeface="+mj-ea"/>
              <a:ea typeface="+mj-ea"/>
            </a:endParaRPr>
          </a:p>
        </p:txBody>
      </p:sp>
      <p:sp>
        <p:nvSpPr>
          <p:cNvPr id="116" name="Text 31"/>
          <p:cNvSpPr/>
          <p:nvPr/>
        </p:nvSpPr>
        <p:spPr>
          <a:xfrm>
            <a:off x="2423160" y="2148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2E6FAE"/>
                </a:solidFill>
                <a:latin typeface="+mj-ea"/>
                <a:ea typeface="+mj-ea"/>
                <a:cs typeface="Noto Sans CJK KR" pitchFamily="34" charset="-120"/>
              </a:rPr>
              <a:t>/order_request · /place_target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17" name="Text 32"/>
          <p:cNvSpPr/>
          <p:nvPr/>
        </p:nvSpPr>
        <p:spPr>
          <a:xfrm>
            <a:off x="5358384" y="2148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448B83"/>
                </a:solidFill>
                <a:latin typeface="+mj-ea"/>
                <a:ea typeface="+mj-ea"/>
                <a:cs typeface="Noto Sans CJK KR" pitchFamily="34" charset="-120"/>
              </a:rPr>
              <a:t>/pick_command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18" name="Text 33"/>
          <p:cNvSpPr/>
          <p:nvPr/>
        </p:nvSpPr>
        <p:spPr>
          <a:xfrm>
            <a:off x="8302752" y="214884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55555"/>
                </a:solidFill>
                <a:latin typeface="+mj-ea"/>
                <a:ea typeface="+mj-ea"/>
                <a:cs typeface="Noto Sans CJK KR" pitchFamily="34" charset="-120"/>
              </a:rPr>
              <a:t>/arm_status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19" name="Shape 34"/>
          <p:cNvSpPr/>
          <p:nvPr/>
        </p:nvSpPr>
        <p:spPr>
          <a:xfrm>
            <a:off x="1024128" y="3611880"/>
            <a:ext cx="13533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2E6FAE"/>
            </a:solidFill>
            <a:prstDash val="solid"/>
          </a:ln>
        </p:spPr>
      </p:sp>
      <p:sp>
        <p:nvSpPr>
          <p:cNvPr id="120" name="Text 35"/>
          <p:cNvSpPr/>
          <p:nvPr/>
        </p:nvSpPr>
        <p:spPr>
          <a:xfrm>
            <a:off x="1133856" y="3703320"/>
            <a:ext cx="113385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Mission Brain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121" name="Shape 36"/>
          <p:cNvSpPr/>
          <p:nvPr/>
        </p:nvSpPr>
        <p:spPr>
          <a:xfrm>
            <a:off x="3337560" y="3566160"/>
            <a:ext cx="15544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5C8A54"/>
            </a:solidFill>
            <a:prstDash val="solid"/>
          </a:ln>
        </p:spPr>
      </p:sp>
      <p:sp>
        <p:nvSpPr>
          <p:cNvPr id="122" name="Text 37"/>
          <p:cNvSpPr/>
          <p:nvPr/>
        </p:nvSpPr>
        <p:spPr>
          <a:xfrm>
            <a:off x="3447288" y="3657600"/>
            <a:ext cx="13350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Primitive Route</a:t>
            </a:r>
            <a:endParaRPr lang="en-US" sz="78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Runner</a:t>
            </a:r>
            <a:endParaRPr lang="en-US" sz="780" dirty="0">
              <a:latin typeface="+mj-ea"/>
              <a:ea typeface="+mj-ea"/>
            </a:endParaRPr>
          </a:p>
        </p:txBody>
      </p:sp>
      <p:sp>
        <p:nvSpPr>
          <p:cNvPr id="123" name="Shape 38"/>
          <p:cNvSpPr/>
          <p:nvPr/>
        </p:nvSpPr>
        <p:spPr>
          <a:xfrm>
            <a:off x="5715000" y="3566160"/>
            <a:ext cx="155448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C98E2C"/>
            </a:solidFill>
            <a:prstDash val="solid"/>
          </a:ln>
        </p:spPr>
      </p:sp>
      <p:sp>
        <p:nvSpPr>
          <p:cNvPr id="124" name="Text 39"/>
          <p:cNvSpPr/>
          <p:nvPr/>
        </p:nvSpPr>
        <p:spPr>
          <a:xfrm>
            <a:off x="5824728" y="3657600"/>
            <a:ext cx="133502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8E2C"/>
                </a:solidFill>
                <a:latin typeface="+mj-ea"/>
                <a:ea typeface="+mj-ea"/>
                <a:cs typeface="Noto Sans CJK KR" pitchFamily="34" charset="-120"/>
              </a:rPr>
              <a:t>Safety Filter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125" name="Text 40"/>
          <p:cNvSpPr/>
          <p:nvPr/>
        </p:nvSpPr>
        <p:spPr>
          <a:xfrm>
            <a:off x="5824728" y="3950208"/>
            <a:ext cx="133502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rPr>
              <a:t>limit / smooth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26" name="Shape 41"/>
          <p:cNvSpPr/>
          <p:nvPr/>
        </p:nvSpPr>
        <p:spPr>
          <a:xfrm>
            <a:off x="8092440" y="3611880"/>
            <a:ext cx="125272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27" name="Text 42"/>
          <p:cNvSpPr/>
          <p:nvPr/>
        </p:nvSpPr>
        <p:spPr>
          <a:xfrm>
            <a:off x="8202168" y="3703320"/>
            <a:ext cx="103327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myAGV Driver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128" name="Shape 43"/>
          <p:cNvSpPr/>
          <p:nvPr/>
        </p:nvSpPr>
        <p:spPr>
          <a:xfrm>
            <a:off x="10076688" y="3611880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D4D4D4"/>
            </a:solidFill>
            <a:prstDash val="solid"/>
          </a:ln>
        </p:spPr>
      </p:sp>
      <p:sp>
        <p:nvSpPr>
          <p:cNvPr id="129" name="Text 44"/>
          <p:cNvSpPr/>
          <p:nvPr/>
        </p:nvSpPr>
        <p:spPr>
          <a:xfrm>
            <a:off x="10186416" y="3703320"/>
            <a:ext cx="8595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Odom / Status</a:t>
            </a:r>
            <a:endParaRPr lang="en-US" sz="780" dirty="0">
              <a:latin typeface="+mj-ea"/>
              <a:ea typeface="+mj-ea"/>
            </a:endParaRPr>
          </a:p>
        </p:txBody>
      </p:sp>
      <p:sp>
        <p:nvSpPr>
          <p:cNvPr id="130" name="Text 45"/>
          <p:cNvSpPr/>
          <p:nvPr/>
        </p:nvSpPr>
        <p:spPr>
          <a:xfrm>
            <a:off x="2404872" y="360273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C8A54"/>
                </a:solidFill>
                <a:latin typeface="+mj-ea"/>
                <a:ea typeface="+mj-ea"/>
                <a:cs typeface="Noto Sans CJK KR" pitchFamily="34" charset="-120"/>
              </a:rPr>
              <a:t>/primitive_route_cmd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31" name="Text 46"/>
          <p:cNvSpPr/>
          <p:nvPr/>
        </p:nvSpPr>
        <p:spPr>
          <a:xfrm>
            <a:off x="4919472" y="36027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C8A54"/>
                </a:solidFill>
                <a:latin typeface="+mj-ea"/>
                <a:ea typeface="+mj-ea"/>
                <a:cs typeface="Noto Sans CJK KR" pitchFamily="34" charset="-120"/>
              </a:rPr>
              <a:t>/cmd_vel_nav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32" name="Text 47"/>
          <p:cNvSpPr/>
          <p:nvPr/>
        </p:nvSpPr>
        <p:spPr>
          <a:xfrm>
            <a:off x="7296912" y="360273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C98E2C"/>
                </a:solidFill>
                <a:latin typeface="+mj-ea"/>
                <a:ea typeface="+mj-ea"/>
                <a:cs typeface="Noto Sans CJK KR" pitchFamily="34" charset="-120"/>
              </a:rPr>
              <a:t>/cmd_vel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33" name="Text 48"/>
          <p:cNvSpPr/>
          <p:nvPr/>
        </p:nvSpPr>
        <p:spPr>
          <a:xfrm>
            <a:off x="9345168" y="3401568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555555"/>
                </a:solidFill>
                <a:latin typeface="+mj-ea"/>
                <a:ea typeface="+mj-ea"/>
                <a:cs typeface="Noto Sans CJK KR" pitchFamily="34" charset="-120"/>
              </a:rPr>
              <a:t>/odom · /nav_status</a:t>
            </a:r>
            <a:endParaRPr lang="en-US" sz="570" dirty="0">
              <a:latin typeface="+mj-ea"/>
              <a:ea typeface="+mj-ea"/>
            </a:endParaRPr>
          </a:p>
        </p:txBody>
      </p:sp>
      <p:sp>
        <p:nvSpPr>
          <p:cNvPr id="134" name="Shape 49"/>
          <p:cNvSpPr/>
          <p:nvPr/>
        </p:nvSpPr>
        <p:spPr>
          <a:xfrm>
            <a:off x="1024128" y="5020056"/>
            <a:ext cx="135331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2E6FAE"/>
            </a:solidFill>
            <a:prstDash val="solid"/>
          </a:ln>
        </p:spPr>
      </p:sp>
      <p:sp>
        <p:nvSpPr>
          <p:cNvPr id="135" name="Text 50"/>
          <p:cNvSpPr/>
          <p:nvPr/>
        </p:nvSpPr>
        <p:spPr>
          <a:xfrm>
            <a:off x="1133856" y="5111496"/>
            <a:ext cx="113385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Mission Brain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136" name="Shape 51"/>
          <p:cNvSpPr/>
          <p:nvPr/>
        </p:nvSpPr>
        <p:spPr>
          <a:xfrm>
            <a:off x="3291840" y="4974336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448B83"/>
            </a:solidFill>
            <a:prstDash val="solid"/>
          </a:ln>
        </p:spPr>
      </p:sp>
      <p:sp>
        <p:nvSpPr>
          <p:cNvPr id="137" name="Text 52"/>
          <p:cNvSpPr/>
          <p:nvPr/>
        </p:nvSpPr>
        <p:spPr>
          <a:xfrm>
            <a:off x="3401568" y="5065776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448B83"/>
                </a:solidFill>
                <a:latin typeface="+mj-ea"/>
                <a:ea typeface="+mj-ea"/>
                <a:cs typeface="Noto Sans CJK KR" pitchFamily="34" charset="-120"/>
              </a:rPr>
              <a:t>ArUco Align</a:t>
            </a:r>
            <a:endParaRPr lang="en-US" sz="78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sz="780" b="1" dirty="0">
                <a:solidFill>
                  <a:srgbClr val="448B83"/>
                </a:solidFill>
                <a:latin typeface="+mj-ea"/>
                <a:ea typeface="+mj-ea"/>
                <a:cs typeface="Noto Sans CJK KR" pitchFamily="34" charset="-120"/>
              </a:rPr>
              <a:t>Node</a:t>
            </a:r>
            <a:endParaRPr lang="en-US" sz="780" dirty="0">
              <a:latin typeface="+mj-ea"/>
              <a:ea typeface="+mj-ea"/>
            </a:endParaRPr>
          </a:p>
        </p:txBody>
      </p:sp>
      <p:sp>
        <p:nvSpPr>
          <p:cNvPr id="138" name="Shape 53"/>
          <p:cNvSpPr/>
          <p:nvPr/>
        </p:nvSpPr>
        <p:spPr>
          <a:xfrm>
            <a:off x="5669280" y="4974336"/>
            <a:ext cx="14173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0160">
            <a:solidFill>
              <a:srgbClr val="448B83"/>
            </a:solidFill>
            <a:prstDash val="solid"/>
          </a:ln>
        </p:spPr>
      </p:sp>
      <p:sp>
        <p:nvSpPr>
          <p:cNvPr id="139" name="Text 54"/>
          <p:cNvSpPr/>
          <p:nvPr/>
        </p:nvSpPr>
        <p:spPr>
          <a:xfrm>
            <a:off x="5779008" y="5065776"/>
            <a:ext cx="119786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48B83"/>
                </a:solidFill>
                <a:latin typeface="+mj-ea"/>
                <a:ea typeface="+mj-ea"/>
                <a:cs typeface="Noto Sans CJK KR" pitchFamily="34" charset="-120"/>
              </a:rPr>
              <a:t>Align Bridge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140" name="Text 55"/>
          <p:cNvSpPr/>
          <p:nvPr/>
        </p:nvSpPr>
        <p:spPr>
          <a:xfrm>
            <a:off x="5779008" y="5358384"/>
            <a:ext cx="1197864" cy="91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660" dirty="0">
                <a:solidFill>
                  <a:srgbClr val="2A2A2A"/>
                </a:solidFill>
                <a:latin typeface="+mj-ea"/>
                <a:ea typeface="+mj-ea"/>
                <a:cs typeface="Noto Sans CJK KR" pitchFamily="34" charset="-120"/>
              </a:rPr>
              <a:t>/agv_align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41" name="Shape 56"/>
          <p:cNvSpPr/>
          <p:nvPr/>
        </p:nvSpPr>
        <p:spPr>
          <a:xfrm>
            <a:off x="8092440" y="5020056"/>
            <a:ext cx="1252728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C98E2C"/>
            </a:solidFill>
            <a:prstDash val="solid"/>
          </a:ln>
        </p:spPr>
      </p:sp>
      <p:sp>
        <p:nvSpPr>
          <p:cNvPr id="142" name="Text 57"/>
          <p:cNvSpPr/>
          <p:nvPr/>
        </p:nvSpPr>
        <p:spPr>
          <a:xfrm>
            <a:off x="8202168" y="5111496"/>
            <a:ext cx="1033272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8E2C"/>
                </a:solidFill>
                <a:latin typeface="+mj-ea"/>
                <a:ea typeface="+mj-ea"/>
                <a:cs typeface="Noto Sans CJK KR" pitchFamily="34" charset="-120"/>
              </a:rPr>
              <a:t>Safety Filter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143" name="Shape 58"/>
          <p:cNvSpPr/>
          <p:nvPr/>
        </p:nvSpPr>
        <p:spPr>
          <a:xfrm>
            <a:off x="10076688" y="5020056"/>
            <a:ext cx="1078992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0160">
            <a:solidFill>
              <a:srgbClr val="555555"/>
            </a:solidFill>
            <a:prstDash val="solid"/>
          </a:ln>
        </p:spPr>
      </p:sp>
      <p:sp>
        <p:nvSpPr>
          <p:cNvPr id="144" name="Text 59"/>
          <p:cNvSpPr/>
          <p:nvPr/>
        </p:nvSpPr>
        <p:spPr>
          <a:xfrm>
            <a:off x="10186416" y="5111496"/>
            <a:ext cx="85953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myAGV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145" name="Text 60"/>
          <p:cNvSpPr/>
          <p:nvPr/>
        </p:nvSpPr>
        <p:spPr>
          <a:xfrm>
            <a:off x="2743200" y="4846320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480" dirty="0">
                <a:solidFill>
                  <a:srgbClr val="448B83"/>
                </a:solidFill>
                <a:latin typeface="+mj-ea"/>
                <a:ea typeface="+mj-ea"/>
                <a:cs typeface="Noto Sans CJK KR" pitchFamily="34" charset="-120"/>
              </a:rPr>
              <a:t>/marker_align_target</a:t>
            </a:r>
            <a:endParaRPr lang="en-US" sz="480" dirty="0">
              <a:latin typeface="+mj-ea"/>
              <a:ea typeface="+mj-ea"/>
            </a:endParaRPr>
          </a:p>
          <a:p>
            <a:pPr marL="0" indent="0" algn="ctr">
              <a:buNone/>
            </a:pPr>
            <a:r>
              <a:rPr lang="en-US" sz="480" dirty="0">
                <a:solidFill>
                  <a:srgbClr val="448B83"/>
                </a:solidFill>
                <a:latin typeface="+mj-ea"/>
                <a:ea typeface="+mj-ea"/>
                <a:cs typeface="Noto Sans CJK KR" pitchFamily="34" charset="-120"/>
              </a:rPr>
              <a:t>/agv_align_enable</a:t>
            </a:r>
            <a:endParaRPr lang="en-US" sz="480" dirty="0">
              <a:latin typeface="+mj-ea"/>
              <a:ea typeface="+mj-ea"/>
            </a:endParaRPr>
          </a:p>
        </p:txBody>
      </p:sp>
      <p:sp>
        <p:nvSpPr>
          <p:cNvPr id="146" name="Text 61"/>
          <p:cNvSpPr/>
          <p:nvPr/>
        </p:nvSpPr>
        <p:spPr>
          <a:xfrm>
            <a:off x="7114032" y="5010912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C98E2C"/>
                </a:solidFill>
                <a:latin typeface="+mj-ea"/>
                <a:ea typeface="+mj-ea"/>
                <a:cs typeface="Noto Sans CJK KR" pitchFamily="34" charset="-120"/>
              </a:rPr>
              <a:t>/cmd_vel_nav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47" name="Text 62"/>
          <p:cNvSpPr/>
          <p:nvPr/>
        </p:nvSpPr>
        <p:spPr>
          <a:xfrm>
            <a:off x="9372600" y="5010912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555555"/>
                </a:solidFill>
                <a:latin typeface="+mj-ea"/>
                <a:ea typeface="+mj-ea"/>
                <a:cs typeface="Noto Sans CJK KR" pitchFamily="34" charset="-120"/>
              </a:rPr>
              <a:t>/cmd_vel</a:t>
            </a:r>
            <a:endParaRPr lang="en-US" sz="660" dirty="0">
              <a:latin typeface="+mj-ea"/>
              <a:ea typeface="+mj-ea"/>
            </a:endParaRPr>
          </a:p>
        </p:txBody>
      </p:sp>
      <p:sp>
        <p:nvSpPr>
          <p:cNvPr id="148" name="Shape 63"/>
          <p:cNvSpPr/>
          <p:nvPr/>
        </p:nvSpPr>
        <p:spPr>
          <a:xfrm>
            <a:off x="594360" y="6062472"/>
            <a:ext cx="10972800" cy="0"/>
          </a:xfrm>
          <a:prstGeom prst="line">
            <a:avLst/>
          </a:prstGeom>
          <a:noFill/>
          <a:ln w="7620">
            <a:solidFill>
              <a:srgbClr val="B7B7B7"/>
            </a:solidFill>
            <a:prstDash val="solid"/>
          </a:ln>
        </p:spPr>
      </p:sp>
      <p:sp>
        <p:nvSpPr>
          <p:cNvPr id="149" name="Text 64"/>
          <p:cNvSpPr/>
          <p:nvPr/>
        </p:nvSpPr>
        <p:spPr>
          <a:xfrm>
            <a:off x="685800" y="6199632"/>
            <a:ext cx="475488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11111"/>
                </a:solidFill>
                <a:latin typeface="+mj-ea"/>
                <a:ea typeface="+mj-ea"/>
                <a:cs typeface="Noto Sans CJK KR" pitchFamily="34" charset="-120"/>
              </a:rPr>
              <a:t>Legend</a:t>
            </a:r>
            <a:endParaRPr lang="en-US" sz="750" dirty="0">
              <a:latin typeface="+mj-ea"/>
              <a:ea typeface="+mj-ea"/>
            </a:endParaRPr>
          </a:p>
        </p:txBody>
      </p:sp>
      <p:sp>
        <p:nvSpPr>
          <p:cNvPr id="150" name="Text 65"/>
          <p:cNvSpPr/>
          <p:nvPr/>
        </p:nvSpPr>
        <p:spPr>
          <a:xfrm>
            <a:off x="1234440" y="6199632"/>
            <a:ext cx="713232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55555"/>
                </a:solidFill>
                <a:latin typeface="+mj-ea"/>
                <a:ea typeface="+mj-ea"/>
                <a:cs typeface="Noto Sans CJK KR" pitchFamily="34" charset="-120"/>
              </a:rPr>
              <a:t>파란색: 작업 명령  ·  초록/청록: 주행·정렬 명령  ·  회색: 상태 피드백  ·  주황: 안정화 계층</a:t>
            </a:r>
            <a:endParaRPr lang="en-US" sz="740" dirty="0">
              <a:latin typeface="+mj-ea"/>
              <a:ea typeface="+mj-ea"/>
            </a:endParaRPr>
          </a:p>
        </p:txBody>
      </p:sp>
      <p:sp>
        <p:nvSpPr>
          <p:cNvPr id="151" name="Text 66"/>
          <p:cNvSpPr/>
          <p:nvPr/>
        </p:nvSpPr>
        <p:spPr>
          <a:xfrm>
            <a:off x="8641080" y="6199632"/>
            <a:ext cx="2468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555555"/>
                </a:solidFill>
                <a:latin typeface="+mj-ea"/>
                <a:ea typeface="+mj-ea"/>
                <a:cs typeface="Noto Sans CJK KR" pitchFamily="34" charset="-120"/>
              </a:rPr>
              <a:t>ROS2 Topic / CycloneDDS 기반 분산 통신</a:t>
            </a:r>
            <a:endParaRPr lang="en-US" sz="74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13179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SYSTEM OVERVIEW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8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altLang="ko-KR" sz="2800" b="1" smtClean="0">
                <a:solidFill>
                  <a:srgbClr val="161616"/>
                </a:solidFill>
                <a:latin typeface="+mj-ea"/>
                <a:ea typeface="+mj-ea"/>
              </a:rPr>
              <a:t>Mission FSM </a:t>
            </a:r>
            <a:r>
              <a:rPr lang="ko-KR" altLang="en-US" sz="2800" b="1" smtClean="0">
                <a:solidFill>
                  <a:srgbClr val="161616"/>
                </a:solidFill>
                <a:latin typeface="+mj-ea"/>
                <a:ea typeface="+mj-ea"/>
              </a:rPr>
              <a:t>및 예외 처리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grpSp>
        <p:nvGrpSpPr>
          <p:cNvPr id="82" name="그룹 81"/>
          <p:cNvGrpSpPr/>
          <p:nvPr/>
        </p:nvGrpSpPr>
        <p:grpSpPr>
          <a:xfrm>
            <a:off x="4431522" y="1541976"/>
            <a:ext cx="3778298" cy="5126462"/>
            <a:chOff x="1279042" y="1177531"/>
            <a:chExt cx="3365839" cy="4566830"/>
          </a:xfrm>
        </p:grpSpPr>
        <p:grpSp>
          <p:nvGrpSpPr>
            <p:cNvPr id="49" name="그룹 48"/>
            <p:cNvGrpSpPr/>
            <p:nvPr/>
          </p:nvGrpSpPr>
          <p:grpSpPr>
            <a:xfrm>
              <a:off x="1279042" y="1177531"/>
              <a:ext cx="2523656" cy="4353608"/>
              <a:chOff x="1659410" y="1237322"/>
              <a:chExt cx="2523656" cy="4353608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1668466" y="1263040"/>
                <a:ext cx="2514600" cy="4327890"/>
                <a:chOff x="1655445" y="1252729"/>
                <a:chExt cx="2514600" cy="4327890"/>
              </a:xfrm>
            </p:grpSpPr>
            <p:sp>
              <p:nvSpPr>
                <p:cNvPr id="23" name="모서리가 둥근 직사각형 22"/>
                <p:cNvSpPr/>
                <p:nvPr/>
              </p:nvSpPr>
              <p:spPr>
                <a:xfrm>
                  <a:off x="1655445" y="1252729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	[IDLE]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" name="모서리가 둥근 직사각형 24"/>
                <p:cNvSpPr/>
                <p:nvPr/>
              </p:nvSpPr>
              <p:spPr>
                <a:xfrm>
                  <a:off x="1655445" y="1821180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[NAV_TO_RACK]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" name="모서리가 둥근 직사각형 25"/>
                <p:cNvSpPr/>
                <p:nvPr/>
              </p:nvSpPr>
              <p:spPr>
                <a:xfrm>
                  <a:off x="1655445" y="2383536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[VISION]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모서리가 둥근 직사각형 26"/>
                <p:cNvSpPr/>
                <p:nvPr/>
              </p:nvSpPr>
              <p:spPr>
                <a:xfrm>
                  <a:off x="1655445" y="2951987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[PICKING]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모서리가 둥근 직사각형 27"/>
                <p:cNvSpPr/>
                <p:nvPr/>
              </p:nvSpPr>
              <p:spPr>
                <a:xfrm>
                  <a:off x="1655445" y="3508745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[NAV_TO_DEST]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9" name="모서리가 둥근 직사각형 28"/>
                <p:cNvSpPr/>
                <p:nvPr/>
              </p:nvSpPr>
              <p:spPr>
                <a:xfrm>
                  <a:off x="1655445" y="4077196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[VISION_PLACE]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모서리가 둥근 직사각형 29"/>
                <p:cNvSpPr/>
                <p:nvPr/>
              </p:nvSpPr>
              <p:spPr>
                <a:xfrm>
                  <a:off x="1655445" y="4645647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[PLACING]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1" name="모서리가 둥근 직사각형 30"/>
                <p:cNvSpPr/>
                <p:nvPr/>
              </p:nvSpPr>
              <p:spPr>
                <a:xfrm>
                  <a:off x="1655445" y="5214098"/>
                  <a:ext cx="2514600" cy="366521"/>
                </a:xfrm>
                <a:prstGeom prst="roundRect">
                  <a:avLst>
                    <a:gd name="adj" fmla="val 7571"/>
                  </a:avLst>
                </a:prstGeom>
                <a:solidFill>
                  <a:schemeClr val="tx2">
                    <a:lumMod val="60000"/>
                    <a:lumOff val="40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1600" b="1" smtClean="0">
                      <a:solidFill>
                        <a:schemeClr val="tx1"/>
                      </a:solidFill>
                    </a:rPr>
                    <a:t>[GO_PARKING]</a:t>
                  </a:r>
                  <a:endParaRPr lang="ko-KR" altLang="en-US" sz="1600" b="1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6" name="직선 화살표 연결선 35"/>
                <p:cNvCxnSpPr/>
                <p:nvPr/>
              </p:nvCxnSpPr>
              <p:spPr>
                <a:xfrm>
                  <a:off x="2921000" y="1631155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직선 화살표 연결선 38"/>
                <p:cNvCxnSpPr/>
                <p:nvPr/>
              </p:nvCxnSpPr>
              <p:spPr>
                <a:xfrm>
                  <a:off x="2920206" y="2197225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화살표 연결선 39"/>
                <p:cNvCxnSpPr/>
                <p:nvPr/>
              </p:nvCxnSpPr>
              <p:spPr>
                <a:xfrm>
                  <a:off x="2920206" y="2762757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화살표 연결선 40"/>
                <p:cNvCxnSpPr/>
                <p:nvPr/>
              </p:nvCxnSpPr>
              <p:spPr>
                <a:xfrm>
                  <a:off x="2918248" y="333491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/>
                <p:cNvCxnSpPr/>
                <p:nvPr/>
              </p:nvCxnSpPr>
              <p:spPr>
                <a:xfrm>
                  <a:off x="2921000" y="390098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화살표 연결선 42"/>
                <p:cNvCxnSpPr/>
                <p:nvPr/>
              </p:nvCxnSpPr>
              <p:spPr>
                <a:xfrm>
                  <a:off x="2921000" y="4466516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화살표 연결선 43"/>
                <p:cNvCxnSpPr/>
                <p:nvPr/>
              </p:nvCxnSpPr>
              <p:spPr>
                <a:xfrm>
                  <a:off x="2918415" y="5033124"/>
                  <a:ext cx="0" cy="173831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직사각형 44"/>
              <p:cNvSpPr/>
              <p:nvPr/>
            </p:nvSpPr>
            <p:spPr>
              <a:xfrm>
                <a:off x="1668466" y="1807705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/>
                  <a:t>② </a:t>
                </a:r>
                <a:endParaRPr lang="ko-KR" altLang="en-US" sz="2000"/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1668466" y="2372961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/>
                  <a:t>③ </a:t>
                </a:r>
                <a:endParaRPr lang="ko-KR" altLang="en-US" sz="2000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1664828" y="1237322"/>
                <a:ext cx="392988" cy="356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b="1"/>
                  <a:t>①</a:t>
                </a:r>
                <a:endParaRPr lang="ko-KR" altLang="en-US" sz="2000"/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1668466" y="2930398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/>
                  <a:t>④</a:t>
                </a:r>
                <a:r>
                  <a:rPr lang="en-US" altLang="ko-KR" sz="2000" b="1" smtClean="0"/>
                  <a:t> </a:t>
                </a:r>
                <a:endParaRPr lang="ko-KR" altLang="en-US" sz="2000"/>
              </a:p>
            </p:txBody>
          </p:sp>
          <p:sp>
            <p:nvSpPr>
              <p:cNvPr id="68" name="직사각형 67"/>
              <p:cNvSpPr/>
              <p:nvPr/>
            </p:nvSpPr>
            <p:spPr>
              <a:xfrm>
                <a:off x="1663048" y="4075811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/>
                  <a:t>⑥ </a:t>
                </a:r>
                <a:endParaRPr lang="ko-KR" altLang="en-US" sz="2000"/>
              </a:p>
            </p:txBody>
          </p:sp>
          <p:sp>
            <p:nvSpPr>
              <p:cNvPr id="69" name="직사각형 68"/>
              <p:cNvSpPr/>
              <p:nvPr/>
            </p:nvSpPr>
            <p:spPr>
              <a:xfrm>
                <a:off x="1663048" y="4641067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/>
                  <a:t>⑦</a:t>
                </a:r>
                <a:r>
                  <a:rPr lang="en-US" altLang="ko-KR" sz="2000" b="1" smtClean="0"/>
                  <a:t> </a:t>
                </a:r>
                <a:endParaRPr lang="ko-KR" altLang="en-US" sz="2000"/>
              </a:p>
            </p:txBody>
          </p:sp>
          <p:sp>
            <p:nvSpPr>
              <p:cNvPr id="70" name="직사각형 69"/>
              <p:cNvSpPr/>
              <p:nvPr/>
            </p:nvSpPr>
            <p:spPr>
              <a:xfrm>
                <a:off x="1659410" y="3505428"/>
                <a:ext cx="392988" cy="3564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2000" b="1" smtClean="0"/>
                  <a:t>⑤</a:t>
                </a:r>
                <a:endParaRPr lang="ko-KR" altLang="en-US" sz="2000"/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1663048" y="5198504"/>
                <a:ext cx="497252" cy="3564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ko-KR" sz="2000" b="1" smtClean="0"/>
                  <a:t>⑧ </a:t>
                </a:r>
                <a:endParaRPr lang="ko-KR" altLang="en-US" sz="2000"/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2647879" y="1546863"/>
              <a:ext cx="1552533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주문 수신</a:t>
              </a:r>
              <a:r>
                <a:rPr lang="en-US" altLang="ko-KR" sz="1050" smtClean="0"/>
                <a:t>( /place_target)</a:t>
              </a:r>
              <a:endParaRPr lang="ko-KR" altLang="en-US" sz="105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648474" y="2108630"/>
              <a:ext cx="1578237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랙 도착</a:t>
              </a:r>
              <a:r>
                <a:rPr lang="en-US" altLang="ko-KR" sz="1050" smtClean="0"/>
                <a:t>( /arrived_objects)</a:t>
              </a:r>
              <a:endParaRPr lang="ko-KR" altLang="en-US" sz="105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2649069" y="3250058"/>
              <a:ext cx="1231231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피킹 완료</a:t>
              </a:r>
              <a:r>
                <a:rPr lang="en-US" altLang="ko-KR" sz="1050" smtClean="0"/>
                <a:t>( /picked)</a:t>
              </a:r>
              <a:endParaRPr lang="ko-KR" altLang="en-US" sz="105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2649069" y="3814969"/>
              <a:ext cx="1239799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구역 도착</a:t>
              </a:r>
              <a:r>
                <a:rPr lang="en-US" altLang="ko-KR" sz="1050" smtClean="0"/>
                <a:t>( /arrived)</a:t>
              </a:r>
              <a:endParaRPr lang="ko-KR" altLang="en-US" sz="105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649664" y="4376736"/>
              <a:ext cx="1995217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smtClean="0"/>
                <a:t>QR </a:t>
              </a:r>
              <a:r>
                <a:rPr lang="ko-KR" altLang="en-US" sz="1050" smtClean="0"/>
                <a:t>기반 좌표 수신</a:t>
              </a:r>
              <a:r>
                <a:rPr lang="en-US" altLang="ko-KR" sz="1050" smtClean="0"/>
                <a:t>( /place_pose)</a:t>
              </a:r>
              <a:endParaRPr lang="ko-KR" altLang="en-US" sz="105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2649664" y="4956397"/>
              <a:ext cx="1234088" cy="226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배치 완료</a:t>
              </a:r>
              <a:r>
                <a:rPr lang="en-US" altLang="ko-KR" sz="1050" smtClean="0"/>
                <a:t>( /placed)</a:t>
              </a:r>
              <a:endParaRPr lang="ko-KR" altLang="en-US" sz="105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650259" y="5518164"/>
              <a:ext cx="1246939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주차</a:t>
              </a:r>
              <a:r>
                <a:rPr lang="en-US" altLang="ko-KR" sz="1050" smtClean="0"/>
                <a:t> </a:t>
              </a:r>
              <a:r>
                <a:rPr lang="ko-KR" altLang="en-US" sz="1050" smtClean="0"/>
                <a:t>완료</a:t>
              </a:r>
              <a:r>
                <a:rPr lang="en-US" altLang="ko-KR" sz="1050" smtClean="0"/>
                <a:t>( /parked)</a:t>
              </a:r>
              <a:endParaRPr lang="ko-KR" altLang="en-US" sz="105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648474" y="2688291"/>
              <a:ext cx="1669630" cy="2261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블록 좌표 수신</a:t>
              </a:r>
              <a:r>
                <a:rPr lang="en-US" altLang="ko-KR" sz="1050" smtClean="0"/>
                <a:t>( /box_pose)</a:t>
              </a:r>
              <a:endParaRPr lang="ko-KR" altLang="en-US" sz="1050"/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2770021" y="3076194"/>
            <a:ext cx="163321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C00000"/>
                </a:solidFill>
              </a:rPr>
              <a:t>/emergency_stop</a:t>
            </a:r>
          </a:p>
          <a:p>
            <a:pPr algn="ctr"/>
            <a:r>
              <a:rPr lang="ko-KR" altLang="en-US" sz="1100" b="1" smtClean="0">
                <a:solidFill>
                  <a:srgbClr val="C00000"/>
                </a:solidFill>
              </a:rPr>
              <a:t>수신 시</a:t>
            </a:r>
            <a:endParaRPr lang="en-US" altLang="ko-KR" sz="1100" b="1" smtClean="0">
              <a:solidFill>
                <a:srgbClr val="C00000"/>
              </a:solidFill>
            </a:endParaRPr>
          </a:p>
          <a:p>
            <a:pPr algn="ctr"/>
            <a:r>
              <a:rPr lang="ko-KR" altLang="en-US" sz="1100" b="1" smtClean="0">
                <a:solidFill>
                  <a:srgbClr val="C00000"/>
                </a:solidFill>
              </a:rPr>
              <a:t>즉시 전환</a:t>
            </a:r>
            <a:endParaRPr lang="ko-KR" altLang="en-US" sz="1100" b="1">
              <a:solidFill>
                <a:srgbClr val="C00000"/>
              </a:solidFill>
            </a:endParaRPr>
          </a:p>
        </p:txBody>
      </p:sp>
      <p:grpSp>
        <p:nvGrpSpPr>
          <p:cNvPr id="112" name="그룹 111"/>
          <p:cNvGrpSpPr/>
          <p:nvPr/>
        </p:nvGrpSpPr>
        <p:grpSpPr>
          <a:xfrm>
            <a:off x="209647" y="3376012"/>
            <a:ext cx="2557500" cy="1361770"/>
            <a:chOff x="380370" y="2778430"/>
            <a:chExt cx="2557500" cy="1361770"/>
          </a:xfrm>
        </p:grpSpPr>
        <p:sp>
          <p:nvSpPr>
            <p:cNvPr id="104" name="모서리가 둥근 직사각형 103"/>
            <p:cNvSpPr/>
            <p:nvPr/>
          </p:nvSpPr>
          <p:spPr>
            <a:xfrm>
              <a:off x="380370" y="2778430"/>
              <a:ext cx="2557500" cy="1361770"/>
            </a:xfrm>
            <a:prstGeom prst="roundRect">
              <a:avLst>
                <a:gd name="adj" fmla="val 7571"/>
              </a:avLst>
            </a:prstGeom>
            <a:solidFill>
              <a:srgbClr val="150910"/>
            </a:solidFill>
            <a:ln w="19050">
              <a:solidFill>
                <a:srgbClr val="EF3A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1400" b="1"/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802431" y="2878608"/>
              <a:ext cx="205165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b="1" smtClean="0">
                  <a:solidFill>
                    <a:srgbClr val="EF3A34"/>
                  </a:solidFill>
                </a:rPr>
                <a:t>EMERGENCY_STOP</a:t>
              </a:r>
              <a:endParaRPr lang="ko-KR" altLang="en-US" sz="1600" b="1">
                <a:solidFill>
                  <a:srgbClr val="EF3A34"/>
                </a:solidFill>
              </a:endParaRPr>
            </a:p>
          </p:txBody>
        </p:sp>
        <p:cxnSp>
          <p:nvCxnSpPr>
            <p:cNvPr id="108" name="직선 연결선 107"/>
            <p:cNvCxnSpPr/>
            <p:nvPr/>
          </p:nvCxnSpPr>
          <p:spPr>
            <a:xfrm>
              <a:off x="802431" y="3246843"/>
              <a:ext cx="1979667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468272" y="3327035"/>
              <a:ext cx="2350016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200" smtClean="0">
                  <a:solidFill>
                    <a:schemeClr val="bg1"/>
                  </a:solidFill>
                </a:rPr>
                <a:t>모든 콜백은 처리 전 비상정지 여부 먼저 확인</a:t>
              </a:r>
              <a:endParaRPr lang="en-US" altLang="ko-KR" sz="1200" smtClean="0">
                <a:solidFill>
                  <a:schemeClr val="bg1"/>
                </a:solidFill>
              </a:endParaRPr>
            </a:p>
            <a:p>
              <a:endParaRPr lang="en-US" altLang="ko-KR" sz="500" smtClean="0">
                <a:solidFill>
                  <a:schemeClr val="bg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200" smtClean="0">
                  <a:solidFill>
                    <a:schemeClr val="bg1"/>
                  </a:solidFill>
                </a:rPr>
                <a:t>reset </a:t>
              </a:r>
              <a:r>
                <a:rPr lang="ko-KR" altLang="en-US" sz="1200" smtClean="0">
                  <a:solidFill>
                    <a:schemeClr val="bg1"/>
                  </a:solidFill>
                </a:rPr>
                <a:t>수신 시 </a:t>
              </a:r>
              <a:r>
                <a:rPr lang="en-US" altLang="ko-KR" sz="1200" smtClean="0">
                  <a:solidFill>
                    <a:schemeClr val="bg1"/>
                  </a:solidFill>
                </a:rPr>
                <a:t>IDLE</a:t>
              </a:r>
              <a:r>
                <a:rPr lang="ko-KR" altLang="en-US" sz="1200" smtClean="0">
                  <a:solidFill>
                    <a:schemeClr val="bg1"/>
                  </a:solidFill>
                </a:rPr>
                <a:t>로 복귀</a:t>
              </a:r>
              <a:endParaRPr lang="ko-KR" altLang="en-US" sz="1200">
                <a:solidFill>
                  <a:schemeClr val="bg1"/>
                </a:solidFill>
              </a:endParaRPr>
            </a:p>
          </p:txBody>
        </p:sp>
        <p:pic>
          <p:nvPicPr>
            <p:cNvPr id="111" name="그림 110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53" t="38254" r="91137" b="52791"/>
            <a:stretch/>
          </p:blipFill>
          <p:spPr>
            <a:xfrm>
              <a:off x="494178" y="2860478"/>
              <a:ext cx="364700" cy="352125"/>
            </a:xfrm>
            <a:prstGeom prst="rect">
              <a:avLst/>
            </a:prstGeom>
            <a:solidFill>
              <a:srgbClr val="081A30"/>
            </a:solidFill>
          </p:spPr>
        </p:pic>
      </p:grpSp>
      <p:cxnSp>
        <p:nvCxnSpPr>
          <p:cNvPr id="114" name="직선 화살표 연결선 113"/>
          <p:cNvCxnSpPr>
            <a:endCxn id="23" idx="3"/>
          </p:cNvCxnSpPr>
          <p:nvPr/>
        </p:nvCxnSpPr>
        <p:spPr>
          <a:xfrm flipH="1">
            <a:off x="7264434" y="1765702"/>
            <a:ext cx="1389857" cy="108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9" name="그룹 128"/>
          <p:cNvGrpSpPr/>
          <p:nvPr/>
        </p:nvGrpSpPr>
        <p:grpSpPr>
          <a:xfrm>
            <a:off x="8584349" y="1519833"/>
            <a:ext cx="2931802" cy="1056723"/>
            <a:chOff x="8699171" y="1296312"/>
            <a:chExt cx="2931802" cy="1056723"/>
          </a:xfrm>
        </p:grpSpPr>
        <p:grpSp>
          <p:nvGrpSpPr>
            <p:cNvPr id="117" name="그룹 116"/>
            <p:cNvGrpSpPr/>
            <p:nvPr/>
          </p:nvGrpSpPr>
          <p:grpSpPr>
            <a:xfrm>
              <a:off x="8699171" y="1296312"/>
              <a:ext cx="2931802" cy="1056723"/>
              <a:chOff x="380370" y="2778430"/>
              <a:chExt cx="2931802" cy="1056723"/>
            </a:xfrm>
          </p:grpSpPr>
          <p:sp>
            <p:nvSpPr>
              <p:cNvPr id="118" name="모서리가 둥근 직사각형 117"/>
              <p:cNvSpPr/>
              <p:nvPr/>
            </p:nvSpPr>
            <p:spPr>
              <a:xfrm>
                <a:off x="380370" y="2778430"/>
                <a:ext cx="2842622" cy="1056723"/>
              </a:xfrm>
              <a:prstGeom prst="roundRect">
                <a:avLst>
                  <a:gd name="adj" fmla="val 7571"/>
                </a:avLst>
              </a:prstGeom>
              <a:solidFill>
                <a:srgbClr val="09182C"/>
              </a:solidFill>
              <a:ln w="190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sz="1400" b="1"/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1415820" y="2850918"/>
                <a:ext cx="14580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600" b="1" smtClean="0">
                    <a:solidFill>
                      <a:schemeClr val="accent5">
                        <a:lumMod val="75000"/>
                      </a:schemeClr>
                    </a:solidFill>
                  </a:rPr>
                  <a:t>Order Queue</a:t>
                </a:r>
                <a:endParaRPr lang="ko-KR" altLang="en-US" sz="1600" b="1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21" name="TextBox 120"/>
              <p:cNvSpPr txBox="1"/>
              <p:nvPr/>
            </p:nvSpPr>
            <p:spPr>
              <a:xfrm>
                <a:off x="1415820" y="3235385"/>
                <a:ext cx="189635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smtClean="0">
                    <a:solidFill>
                      <a:schemeClr val="bg1"/>
                    </a:solidFill>
                  </a:rPr>
                  <a:t>작업 중 들어온 주문은</a:t>
                </a:r>
                <a:endParaRPr lang="en-US" altLang="ko-KR" sz="1200" smtClean="0">
                  <a:solidFill>
                    <a:schemeClr val="bg1"/>
                  </a:solidFill>
                </a:endParaRPr>
              </a:p>
              <a:p>
                <a:endParaRPr lang="en-US" altLang="ko-KR" sz="400" smtClean="0">
                  <a:solidFill>
                    <a:schemeClr val="bg1"/>
                  </a:solidFill>
                </a:endParaRPr>
              </a:p>
              <a:p>
                <a:r>
                  <a:rPr lang="ko-KR" altLang="en-US" sz="1200" smtClean="0">
                    <a:solidFill>
                      <a:schemeClr val="bg1"/>
                    </a:solidFill>
                  </a:rPr>
                  <a:t>큐에 저장 후 순차 처리</a:t>
                </a:r>
                <a:endParaRPr lang="en-US" altLang="ko-KR" sz="1200" smtClean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124" name="직선 연결선 123"/>
            <p:cNvCxnSpPr/>
            <p:nvPr/>
          </p:nvCxnSpPr>
          <p:spPr>
            <a:xfrm>
              <a:off x="9620321" y="1378360"/>
              <a:ext cx="0" cy="907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8" name="그림 12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524" t="13209" r="21278" b="74957"/>
            <a:stretch/>
          </p:blipFill>
          <p:spPr>
            <a:xfrm>
              <a:off x="8831478" y="1492306"/>
              <a:ext cx="657225" cy="704850"/>
            </a:xfrm>
            <a:prstGeom prst="rect">
              <a:avLst/>
            </a:prstGeom>
            <a:solidFill>
              <a:srgbClr val="081A30"/>
            </a:solidFill>
          </p:spPr>
        </p:pic>
      </p:grpSp>
      <p:grpSp>
        <p:nvGrpSpPr>
          <p:cNvPr id="142" name="그룹 141"/>
          <p:cNvGrpSpPr/>
          <p:nvPr/>
        </p:nvGrpSpPr>
        <p:grpSpPr>
          <a:xfrm>
            <a:off x="8725722" y="3258513"/>
            <a:ext cx="2842622" cy="1131008"/>
            <a:chOff x="8059879" y="2704493"/>
            <a:chExt cx="2842622" cy="1131008"/>
          </a:xfrm>
        </p:grpSpPr>
        <p:grpSp>
          <p:nvGrpSpPr>
            <p:cNvPr id="130" name="그룹 129"/>
            <p:cNvGrpSpPr/>
            <p:nvPr/>
          </p:nvGrpSpPr>
          <p:grpSpPr>
            <a:xfrm>
              <a:off x="8059879" y="2704493"/>
              <a:ext cx="2842622" cy="1131008"/>
              <a:chOff x="8699171" y="1296312"/>
              <a:chExt cx="2842622" cy="1131008"/>
            </a:xfrm>
          </p:grpSpPr>
          <p:grpSp>
            <p:nvGrpSpPr>
              <p:cNvPr id="131" name="그룹 130"/>
              <p:cNvGrpSpPr/>
              <p:nvPr/>
            </p:nvGrpSpPr>
            <p:grpSpPr>
              <a:xfrm>
                <a:off x="8699171" y="1296312"/>
                <a:ext cx="2842622" cy="1131008"/>
                <a:chOff x="380370" y="2778430"/>
                <a:chExt cx="2842622" cy="1131008"/>
              </a:xfrm>
            </p:grpSpPr>
            <p:sp>
              <p:nvSpPr>
                <p:cNvPr id="134" name="모서리가 둥근 직사각형 133"/>
                <p:cNvSpPr/>
                <p:nvPr/>
              </p:nvSpPr>
              <p:spPr>
                <a:xfrm>
                  <a:off x="380370" y="2778430"/>
                  <a:ext cx="2842622" cy="1131008"/>
                </a:xfrm>
                <a:prstGeom prst="roundRect">
                  <a:avLst>
                    <a:gd name="adj" fmla="val 7571"/>
                  </a:avLst>
                </a:prstGeom>
                <a:solidFill>
                  <a:srgbClr val="1D0F0F"/>
                </a:solidFill>
                <a:ln w="19050">
                  <a:solidFill>
                    <a:srgbClr val="F8934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b="1"/>
                </a:p>
              </p:txBody>
            </p:sp>
            <p:sp>
              <p:nvSpPr>
                <p:cNvPr id="135" name="TextBox 134"/>
                <p:cNvSpPr txBox="1"/>
                <p:nvPr/>
              </p:nvSpPr>
              <p:spPr>
                <a:xfrm>
                  <a:off x="1212826" y="2850918"/>
                  <a:ext cx="183646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b="1" smtClean="0">
                      <a:solidFill>
                        <a:srgbClr val="F89345"/>
                      </a:solidFill>
                    </a:rPr>
                    <a:t>Timeout / RETRY</a:t>
                  </a:r>
                  <a:endParaRPr lang="ko-KR" altLang="en-US" sz="1600" b="1">
                    <a:solidFill>
                      <a:srgbClr val="F89345"/>
                    </a:solidFill>
                  </a:endParaRPr>
                </a:p>
              </p:txBody>
            </p:sp>
            <p:sp>
              <p:nvSpPr>
                <p:cNvPr id="136" name="TextBox 135"/>
                <p:cNvSpPr txBox="1"/>
                <p:nvPr/>
              </p:nvSpPr>
              <p:spPr>
                <a:xfrm>
                  <a:off x="1225560" y="3228720"/>
                  <a:ext cx="18963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sz="1200" smtClean="0">
                      <a:solidFill>
                        <a:schemeClr val="bg1"/>
                      </a:solidFill>
                    </a:rPr>
                    <a:t>Pick error </a:t>
                  </a:r>
                  <a:r>
                    <a:rPr lang="ko-KR" altLang="en-US" sz="1200" smtClean="0">
                      <a:solidFill>
                        <a:schemeClr val="bg1"/>
                      </a:solidFill>
                    </a:rPr>
                    <a:t>수신 시</a:t>
                  </a:r>
                  <a:endParaRPr lang="en-US" altLang="ko-KR" sz="1200">
                    <a:solidFill>
                      <a:schemeClr val="bg1"/>
                    </a:solidFill>
                  </a:endParaRPr>
                </a:p>
                <a:p>
                  <a:endParaRPr lang="en-US" altLang="ko-KR" sz="400" smtClean="0">
                    <a:solidFill>
                      <a:schemeClr val="bg1"/>
                    </a:solidFill>
                  </a:endParaRPr>
                </a:p>
                <a:p>
                  <a:r>
                    <a:rPr lang="en-US" altLang="ko-KR" sz="1200" smtClean="0">
                      <a:solidFill>
                        <a:schemeClr val="bg1"/>
                      </a:solidFill>
                    </a:rPr>
                    <a:t>ERROR </a:t>
                  </a:r>
                  <a:r>
                    <a:rPr lang="ko-KR" altLang="en-US" sz="1200" smtClean="0">
                      <a:solidFill>
                        <a:schemeClr val="bg1"/>
                      </a:solidFill>
                    </a:rPr>
                    <a:t>전환</a:t>
                  </a:r>
                  <a:endParaRPr lang="en-US" altLang="ko-KR" sz="1200" smtClean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32" name="직선 연결선 131"/>
              <p:cNvCxnSpPr/>
              <p:nvPr/>
            </p:nvCxnSpPr>
            <p:spPr>
              <a:xfrm flipH="1">
                <a:off x="9604508" y="1707354"/>
                <a:ext cx="1763584" cy="0"/>
              </a:xfrm>
              <a:prstGeom prst="line">
                <a:avLst/>
              </a:prstGeom>
              <a:ln>
                <a:solidFill>
                  <a:srgbClr val="F8934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38" name="그림 13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3651" t="39616" r="20600" b="50683"/>
            <a:stretch/>
          </p:blipFill>
          <p:spPr>
            <a:xfrm>
              <a:off x="8143698" y="2830555"/>
              <a:ext cx="659372" cy="625029"/>
            </a:xfrm>
            <a:prstGeom prst="rect">
              <a:avLst/>
            </a:prstGeom>
            <a:solidFill>
              <a:srgbClr val="081A30"/>
            </a:solidFill>
          </p:spPr>
        </p:pic>
      </p:grpSp>
      <p:grpSp>
        <p:nvGrpSpPr>
          <p:cNvPr id="159" name="그룹 158"/>
          <p:cNvGrpSpPr/>
          <p:nvPr/>
        </p:nvGrpSpPr>
        <p:grpSpPr>
          <a:xfrm>
            <a:off x="8163333" y="4947148"/>
            <a:ext cx="3994634" cy="1176709"/>
            <a:chOff x="7636339" y="4469084"/>
            <a:chExt cx="3994634" cy="1176709"/>
          </a:xfrm>
        </p:grpSpPr>
        <p:grpSp>
          <p:nvGrpSpPr>
            <p:cNvPr id="152" name="그룹 151"/>
            <p:cNvGrpSpPr/>
            <p:nvPr/>
          </p:nvGrpSpPr>
          <p:grpSpPr>
            <a:xfrm>
              <a:off x="7636339" y="4469084"/>
              <a:ext cx="3994634" cy="1176709"/>
              <a:chOff x="8699171" y="1296312"/>
              <a:chExt cx="3994634" cy="1176709"/>
            </a:xfrm>
          </p:grpSpPr>
          <p:grpSp>
            <p:nvGrpSpPr>
              <p:cNvPr id="153" name="그룹 152"/>
              <p:cNvGrpSpPr/>
              <p:nvPr/>
            </p:nvGrpSpPr>
            <p:grpSpPr>
              <a:xfrm>
                <a:off x="8699171" y="1296312"/>
                <a:ext cx="3994634" cy="1176709"/>
                <a:chOff x="380370" y="2778430"/>
                <a:chExt cx="3994634" cy="1176709"/>
              </a:xfrm>
            </p:grpSpPr>
            <p:sp>
              <p:nvSpPr>
                <p:cNvPr id="156" name="모서리가 둥근 직사각형 155"/>
                <p:cNvSpPr/>
                <p:nvPr/>
              </p:nvSpPr>
              <p:spPr>
                <a:xfrm>
                  <a:off x="380370" y="2778430"/>
                  <a:ext cx="3905454" cy="1176709"/>
                </a:xfrm>
                <a:prstGeom prst="roundRect">
                  <a:avLst>
                    <a:gd name="adj" fmla="val 7571"/>
                  </a:avLst>
                </a:prstGeom>
                <a:solidFill>
                  <a:srgbClr val="09182C"/>
                </a:solidFill>
                <a:ln w="1905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b="1"/>
                </a:p>
              </p:txBody>
            </p:sp>
            <p:sp>
              <p:nvSpPr>
                <p:cNvPr id="157" name="TextBox 156"/>
                <p:cNvSpPr txBox="1"/>
                <p:nvPr/>
              </p:nvSpPr>
              <p:spPr>
                <a:xfrm>
                  <a:off x="1415820" y="2850918"/>
                  <a:ext cx="1355243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1600" b="1" smtClean="0">
                      <a:solidFill>
                        <a:schemeClr val="accent5"/>
                      </a:solidFill>
                    </a:rPr>
                    <a:t>State Guard</a:t>
                  </a:r>
                  <a:endParaRPr lang="ko-KR" altLang="en-US" sz="1600" b="1">
                    <a:solidFill>
                      <a:schemeClr val="accent5"/>
                    </a:solidFill>
                  </a:endParaRPr>
                </a:p>
              </p:txBody>
            </p:sp>
            <p:sp>
              <p:nvSpPr>
                <p:cNvPr id="158" name="TextBox 157"/>
                <p:cNvSpPr txBox="1"/>
                <p:nvPr/>
              </p:nvSpPr>
              <p:spPr>
                <a:xfrm>
                  <a:off x="1415820" y="3235385"/>
                  <a:ext cx="295918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1200" smtClean="0">
                      <a:solidFill>
                        <a:schemeClr val="bg1"/>
                      </a:solidFill>
                    </a:rPr>
                    <a:t>현재 상태에서 허용된 </a:t>
                  </a:r>
                  <a:r>
                    <a:rPr lang="en-US" altLang="ko-KR" sz="1200" smtClean="0">
                      <a:solidFill>
                        <a:schemeClr val="bg1"/>
                      </a:solidFill>
                    </a:rPr>
                    <a:t>Topic</a:t>
                  </a:r>
                  <a:r>
                    <a:rPr lang="ko-KR" altLang="en-US" sz="1200" smtClean="0">
                      <a:solidFill>
                        <a:schemeClr val="bg1"/>
                      </a:solidFill>
                    </a:rPr>
                    <a:t>만 수신</a:t>
                  </a:r>
                  <a:endParaRPr lang="en-US" altLang="ko-KR" sz="1200" smtClean="0">
                    <a:solidFill>
                      <a:schemeClr val="bg1"/>
                    </a:solidFill>
                  </a:endParaRPr>
                </a:p>
                <a:p>
                  <a:endParaRPr lang="en-US" altLang="ko-KR" sz="400" smtClean="0">
                    <a:solidFill>
                      <a:schemeClr val="bg1"/>
                    </a:solidFill>
                  </a:endParaRP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ko-KR" altLang="en-US" sz="1200" smtClean="0">
                      <a:solidFill>
                        <a:schemeClr val="bg1"/>
                      </a:solidFill>
                    </a:rPr>
                    <a:t>그 외 신호는 경고 로그 후 폐기</a:t>
                  </a:r>
                  <a:endParaRPr lang="en-US" altLang="ko-KR" sz="1200" smtClean="0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54" name="직선 연결선 153"/>
              <p:cNvCxnSpPr/>
              <p:nvPr/>
            </p:nvCxnSpPr>
            <p:spPr>
              <a:xfrm>
                <a:off x="9620321" y="1378360"/>
                <a:ext cx="0" cy="90768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43" name="그림 142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9047" t="63677" r="25204" b="22678"/>
            <a:stretch/>
          </p:blipFill>
          <p:spPr>
            <a:xfrm>
              <a:off x="7791329" y="4591045"/>
              <a:ext cx="609600" cy="812800"/>
            </a:xfrm>
            <a:prstGeom prst="rect">
              <a:avLst/>
            </a:prstGeom>
            <a:solidFill>
              <a:srgbClr val="081A30"/>
            </a:solidFill>
          </p:spPr>
        </p:pic>
      </p:grpSp>
      <p:cxnSp>
        <p:nvCxnSpPr>
          <p:cNvPr id="160" name="직선 화살표 연결선 159"/>
          <p:cNvCxnSpPr/>
          <p:nvPr/>
        </p:nvCxnSpPr>
        <p:spPr>
          <a:xfrm>
            <a:off x="6936031" y="3682577"/>
            <a:ext cx="1640668" cy="0"/>
          </a:xfrm>
          <a:prstGeom prst="straightConnector1">
            <a:avLst/>
          </a:prstGeom>
          <a:ln w="28575">
            <a:solidFill>
              <a:srgbClr val="F8934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직사각형 162"/>
          <p:cNvSpPr/>
          <p:nvPr/>
        </p:nvSpPr>
        <p:spPr>
          <a:xfrm>
            <a:off x="7250207" y="3648304"/>
            <a:ext cx="1466485" cy="406603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mtClean="0">
                <a:solidFill>
                  <a:schemeClr val="tx1"/>
                </a:solidFill>
                <a:latin typeface="+mj-ea"/>
                <a:ea typeface="+mj-ea"/>
              </a:rPr>
              <a:t>         /pick_error</a:t>
            </a:r>
            <a:endParaRPr lang="ko-KR" altLang="en-US" sz="12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174" name="그림 17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7147" y="1640630"/>
            <a:ext cx="1700369" cy="473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2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908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AGV 주행 전략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08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전략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19659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7752" y="137617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장점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1655064"/>
            <a:ext cx="3291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137617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리스크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52160" y="1655064"/>
            <a:ext cx="29718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1392" y="137617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적용 위치</a:t>
            </a:r>
            <a:endParaRPr lang="en-US" sz="1120" dirty="0">
              <a:latin typeface="+mj-ea"/>
              <a:ea typeface="+mj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823960" y="1655064"/>
            <a:ext cx="28346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4360" y="2139696"/>
            <a:ext cx="19659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1709928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AMCL, local costmap, obstacle avoidance, replanning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0320" y="2139696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709928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미세 cmd가 myAGV deadzone과 불일치 가능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2160" y="2139696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17099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장애물 회피가 필요한 일반 구간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823960" y="2139696"/>
            <a:ext cx="28346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9456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2624328"/>
            <a:ext cx="19659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1945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회전-직진-회전을 분리하여 명령이 명확함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60320" y="2624328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19456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복잡한 장애물 회피 능력 제한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52160" y="2624328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2194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시연 경로, 랙 접근, 반복 route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823960" y="2624328"/>
            <a:ext cx="28346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791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+ Safety Filter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606040" y="267919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기능 유지 + 하드웨어 보호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897880" y="2679192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filter parameter tuning 필요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869680" y="267919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최종 통합 후보 구조</a:t>
            </a:r>
            <a:endParaRPr lang="en-US" sz="1070" dirty="0">
              <a:latin typeface="+mj-ea"/>
              <a:ea typeface="+mj-ea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5216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823960" y="1325880"/>
            <a:ext cx="0" cy="17830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31089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32473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Primitive Route 4단계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94360" y="3653917"/>
            <a:ext cx="4698443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3636645"/>
            <a:ext cx="5394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1380" dirty="0">
              <a:latin typeface="+mj-ea"/>
              <a:ea typeface="+mj-ea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622290" y="3319271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설계 의미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622290" y="3648455"/>
            <a:ext cx="53949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2290" y="3818855"/>
            <a:ext cx="6005299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하드웨어 </a:t>
            </a: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안정성을 확보하기 위한 motion primitive abstraction</a:t>
            </a:r>
            <a:endParaRPr lang="en-US" sz="1370" dirty="0">
              <a:latin typeface="+mj-ea"/>
              <a:ea typeface="+mj-ea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Nav2: </a:t>
            </a: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general </a:t>
            </a: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navigation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역할  |   </a:t>
            </a: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primitive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route: </a:t>
            </a:r>
            <a:r>
              <a:rPr lang="en-US" sz="137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안정 </a:t>
            </a:r>
            <a:r>
              <a:rPr lang="en-US" sz="137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주행 </a:t>
            </a:r>
            <a:r>
              <a:rPr 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기준선 </a:t>
            </a:r>
            <a:r>
              <a:rPr lang="ko-KR" altLang="en-US" sz="1370" smtClean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역할</a:t>
            </a:r>
            <a:endParaRPr lang="en-US" sz="1370" dirty="0">
              <a:latin typeface="+mj-ea"/>
              <a:ea typeface="+mj-ea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368594" y="3742908"/>
            <a:ext cx="4383451" cy="3014472"/>
            <a:chOff x="158069" y="3733800"/>
            <a:chExt cx="4383451" cy="3014472"/>
          </a:xfrm>
        </p:grpSpPr>
        <p:grpSp>
          <p:nvGrpSpPr>
            <p:cNvPr id="72" name="그룹 71"/>
            <p:cNvGrpSpPr/>
            <p:nvPr/>
          </p:nvGrpSpPr>
          <p:grpSpPr>
            <a:xfrm>
              <a:off x="158069" y="3733800"/>
              <a:ext cx="4383451" cy="3014472"/>
              <a:chOff x="11939462" y="388925"/>
              <a:chExt cx="4383451" cy="3014472"/>
            </a:xfrm>
          </p:grpSpPr>
          <p:sp>
            <p:nvSpPr>
              <p:cNvPr id="71" name="직사각형 70"/>
              <p:cNvSpPr/>
              <p:nvPr/>
            </p:nvSpPr>
            <p:spPr>
              <a:xfrm>
                <a:off x="11990071" y="388925"/>
                <a:ext cx="4332842" cy="3014472"/>
              </a:xfrm>
              <a:prstGeom prst="rect">
                <a:avLst/>
              </a:prstGeom>
              <a:solidFill>
                <a:schemeClr val="accent1">
                  <a:alpha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j-ea"/>
                  <a:ea typeface="+mj-ea"/>
                </a:endParaRPr>
              </a:p>
            </p:txBody>
          </p:sp>
          <p:grpSp>
            <p:nvGrpSpPr>
              <p:cNvPr id="70" name="그룹 69"/>
              <p:cNvGrpSpPr/>
              <p:nvPr/>
            </p:nvGrpSpPr>
            <p:grpSpPr>
              <a:xfrm>
                <a:off x="11939462" y="549196"/>
                <a:ext cx="3936296" cy="2678256"/>
                <a:chOff x="2152080" y="3851614"/>
                <a:chExt cx="3936296" cy="2678256"/>
              </a:xfrm>
            </p:grpSpPr>
            <p:sp>
              <p:nvSpPr>
                <p:cNvPr id="50" name="모서리가 둥근 직사각형 49"/>
                <p:cNvSpPr/>
                <p:nvPr/>
              </p:nvSpPr>
              <p:spPr>
                <a:xfrm>
                  <a:off x="3183845" y="5793778"/>
                  <a:ext cx="506994" cy="736092"/>
                </a:xfrm>
                <a:prstGeom prst="roundRect">
                  <a:avLst/>
                </a:prstGeom>
                <a:solidFill>
                  <a:schemeClr val="accent1"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54" name="모서리가 둥근 직사각형 53"/>
                <p:cNvSpPr/>
                <p:nvPr/>
              </p:nvSpPr>
              <p:spPr>
                <a:xfrm rot="2262662">
                  <a:off x="3203696" y="5793778"/>
                  <a:ext cx="506994" cy="736092"/>
                </a:xfrm>
                <a:prstGeom prst="round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57" name="모서리가 둥근 직사각형 56"/>
                <p:cNvSpPr/>
                <p:nvPr/>
              </p:nvSpPr>
              <p:spPr>
                <a:xfrm>
                  <a:off x="4244493" y="4271077"/>
                  <a:ext cx="506994" cy="736092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49" name="직선 화살표 연결선 48"/>
                <p:cNvCxnSpPr/>
                <p:nvPr/>
              </p:nvCxnSpPr>
              <p:spPr>
                <a:xfrm flipV="1">
                  <a:off x="3457194" y="5061913"/>
                  <a:ext cx="787299" cy="1099914"/>
                </a:xfrm>
                <a:prstGeom prst="straightConnector1">
                  <a:avLst/>
                </a:prstGeom>
                <a:ln w="12700">
                  <a:solidFill>
                    <a:schemeClr val="bg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모서리가 둥근 직사각형 50"/>
                <p:cNvSpPr/>
                <p:nvPr/>
              </p:nvSpPr>
              <p:spPr>
                <a:xfrm rot="2074124">
                  <a:off x="4275861" y="4276527"/>
                  <a:ext cx="506994" cy="736092"/>
                </a:xfrm>
                <a:prstGeom prst="roundRect">
                  <a:avLst/>
                </a:prstGeom>
                <a:solidFill>
                  <a:schemeClr val="accent6">
                    <a:lumMod val="75000"/>
                    <a:alpha val="50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j-ea"/>
                    <a:ea typeface="+mj-ea"/>
                  </a:endParaRPr>
                </a:p>
              </p:txBody>
            </p:sp>
            <p:sp>
              <p:nvSpPr>
                <p:cNvPr id="60" name="직사각형 59"/>
                <p:cNvSpPr/>
                <p:nvPr/>
              </p:nvSpPr>
              <p:spPr>
                <a:xfrm>
                  <a:off x="4106274" y="5229471"/>
                  <a:ext cx="1662635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② DRIVE_STRAIGHT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1" name="직사각형 60"/>
                <p:cNvSpPr/>
                <p:nvPr/>
              </p:nvSpPr>
              <p:spPr>
                <a:xfrm>
                  <a:off x="2152080" y="5321213"/>
                  <a:ext cx="200029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① ROTATE_TO_HEADING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2" name="직사각형 61"/>
                <p:cNvSpPr/>
                <p:nvPr/>
              </p:nvSpPr>
              <p:spPr>
                <a:xfrm>
                  <a:off x="3977734" y="3851614"/>
                  <a:ext cx="211064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③ ROTATE_TO_GOAL_YAW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5" name="U자형 화살표 64"/>
                <p:cNvSpPr/>
                <p:nvPr/>
              </p:nvSpPr>
              <p:spPr>
                <a:xfrm rot="21329867">
                  <a:off x="3435154" y="5641907"/>
                  <a:ext cx="418378" cy="359977"/>
                </a:xfrm>
                <a:custGeom>
                  <a:avLst/>
                  <a:gdLst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56016 w 1800000"/>
                    <a:gd name="connsiteY14" fmla="*/ 1800000 h 1800000"/>
                    <a:gd name="connsiteX15" fmla="*/ 0 w 1800000"/>
                    <a:gd name="connsiteY15" fmla="*/ 1800000 h 1800000"/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272710 w 1800000"/>
                    <a:gd name="connsiteY14" fmla="*/ 264094 h 1800000"/>
                    <a:gd name="connsiteX15" fmla="*/ 0 w 1800000"/>
                    <a:gd name="connsiteY15" fmla="*/ 1800000 h 180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56016 w 1800000"/>
                    <a:gd name="connsiteY13" fmla="*/ 787500 h 1350000"/>
                    <a:gd name="connsiteX14" fmla="*/ 272710 w 1800000"/>
                    <a:gd name="connsiteY14" fmla="*/ 264094 h 1350000"/>
                    <a:gd name="connsiteX15" fmla="*/ 230982 w 1800000"/>
                    <a:gd name="connsiteY15" fmla="*/ 209325 h 135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272710 w 1800000"/>
                    <a:gd name="connsiteY13" fmla="*/ 264094 h 1350000"/>
                    <a:gd name="connsiteX14" fmla="*/ 230982 w 1800000"/>
                    <a:gd name="connsiteY14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69018" h="1350000">
                      <a:moveTo>
                        <a:pt x="0" y="209325"/>
                      </a:moveTo>
                      <a:cubicBezTo>
                        <a:pt x="185506" y="139550"/>
                        <a:pt x="244806" y="60250"/>
                        <a:pt x="556518" y="0"/>
                      </a:cubicBezTo>
                      <a:lnTo>
                        <a:pt x="695280" y="0"/>
                      </a:lnTo>
                      <a:cubicBezTo>
                        <a:pt x="1130204" y="0"/>
                        <a:pt x="1482780" y="352576"/>
                        <a:pt x="1482780" y="787500"/>
                      </a:cubicBezTo>
                      <a:lnTo>
                        <a:pt x="1482780" y="1214334"/>
                      </a:lnTo>
                      <a:lnTo>
                        <a:pt x="1569018" y="1214334"/>
                      </a:lnTo>
                      <a:lnTo>
                        <a:pt x="1454772" y="1350000"/>
                      </a:lnTo>
                      <a:lnTo>
                        <a:pt x="1340526" y="1214334"/>
                      </a:lnTo>
                      <a:lnTo>
                        <a:pt x="1426764" y="1214334"/>
                      </a:lnTo>
                      <a:lnTo>
                        <a:pt x="1426764" y="787500"/>
                      </a:lnTo>
                      <a:cubicBezTo>
                        <a:pt x="1426764" y="383513"/>
                        <a:pt x="1099267" y="56016"/>
                        <a:pt x="695280" y="56016"/>
                      </a:cubicBezTo>
                      <a:lnTo>
                        <a:pt x="556518" y="56016"/>
                      </a:lnTo>
                      <a:cubicBezTo>
                        <a:pt x="280906" y="121652"/>
                        <a:pt x="134481" y="238542"/>
                        <a:pt x="41728" y="264094"/>
                      </a:cubicBezTo>
                      <a:lnTo>
                        <a:pt x="0" y="20932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68" name="U자형 화살표 64"/>
                <p:cNvSpPr/>
                <p:nvPr/>
              </p:nvSpPr>
              <p:spPr>
                <a:xfrm rot="5142278" flipH="1">
                  <a:off x="4526514" y="4173558"/>
                  <a:ext cx="418378" cy="359977"/>
                </a:xfrm>
                <a:custGeom>
                  <a:avLst/>
                  <a:gdLst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56016 w 1800000"/>
                    <a:gd name="connsiteY14" fmla="*/ 1800000 h 1800000"/>
                    <a:gd name="connsiteX15" fmla="*/ 0 w 1800000"/>
                    <a:gd name="connsiteY15" fmla="*/ 1800000 h 1800000"/>
                    <a:gd name="connsiteX0" fmla="*/ 0 w 1800000"/>
                    <a:gd name="connsiteY0" fmla="*/ 1800000 h 1800000"/>
                    <a:gd name="connsiteX1" fmla="*/ 0 w 1800000"/>
                    <a:gd name="connsiteY1" fmla="*/ 787500 h 1800000"/>
                    <a:gd name="connsiteX2" fmla="*/ 787500 w 1800000"/>
                    <a:gd name="connsiteY2" fmla="*/ 0 h 1800000"/>
                    <a:gd name="connsiteX3" fmla="*/ 926262 w 1800000"/>
                    <a:gd name="connsiteY3" fmla="*/ 0 h 1800000"/>
                    <a:gd name="connsiteX4" fmla="*/ 1713762 w 1800000"/>
                    <a:gd name="connsiteY4" fmla="*/ 787500 h 1800000"/>
                    <a:gd name="connsiteX5" fmla="*/ 1713762 w 1800000"/>
                    <a:gd name="connsiteY5" fmla="*/ 1214334 h 1800000"/>
                    <a:gd name="connsiteX6" fmla="*/ 1800000 w 1800000"/>
                    <a:gd name="connsiteY6" fmla="*/ 1214334 h 1800000"/>
                    <a:gd name="connsiteX7" fmla="*/ 1685754 w 1800000"/>
                    <a:gd name="connsiteY7" fmla="*/ 1350000 h 1800000"/>
                    <a:gd name="connsiteX8" fmla="*/ 1571508 w 1800000"/>
                    <a:gd name="connsiteY8" fmla="*/ 1214334 h 1800000"/>
                    <a:gd name="connsiteX9" fmla="*/ 1657746 w 1800000"/>
                    <a:gd name="connsiteY9" fmla="*/ 1214334 h 1800000"/>
                    <a:gd name="connsiteX10" fmla="*/ 1657746 w 1800000"/>
                    <a:gd name="connsiteY10" fmla="*/ 787500 h 1800000"/>
                    <a:gd name="connsiteX11" fmla="*/ 926262 w 1800000"/>
                    <a:gd name="connsiteY11" fmla="*/ 56016 h 1800000"/>
                    <a:gd name="connsiteX12" fmla="*/ 787500 w 1800000"/>
                    <a:gd name="connsiteY12" fmla="*/ 56016 h 1800000"/>
                    <a:gd name="connsiteX13" fmla="*/ 56016 w 1800000"/>
                    <a:gd name="connsiteY13" fmla="*/ 787500 h 1800000"/>
                    <a:gd name="connsiteX14" fmla="*/ 272710 w 1800000"/>
                    <a:gd name="connsiteY14" fmla="*/ 264094 h 1800000"/>
                    <a:gd name="connsiteX15" fmla="*/ 0 w 1800000"/>
                    <a:gd name="connsiteY15" fmla="*/ 1800000 h 180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56016 w 1800000"/>
                    <a:gd name="connsiteY13" fmla="*/ 787500 h 1350000"/>
                    <a:gd name="connsiteX14" fmla="*/ 272710 w 1800000"/>
                    <a:gd name="connsiteY14" fmla="*/ 264094 h 1350000"/>
                    <a:gd name="connsiteX15" fmla="*/ 230982 w 1800000"/>
                    <a:gd name="connsiteY15" fmla="*/ 209325 h 1350000"/>
                    <a:gd name="connsiteX0" fmla="*/ 230982 w 1800000"/>
                    <a:gd name="connsiteY0" fmla="*/ 209325 h 1350000"/>
                    <a:gd name="connsiteX1" fmla="*/ 0 w 1800000"/>
                    <a:gd name="connsiteY1" fmla="*/ 787500 h 1350000"/>
                    <a:gd name="connsiteX2" fmla="*/ 787500 w 1800000"/>
                    <a:gd name="connsiteY2" fmla="*/ 0 h 1350000"/>
                    <a:gd name="connsiteX3" fmla="*/ 926262 w 1800000"/>
                    <a:gd name="connsiteY3" fmla="*/ 0 h 1350000"/>
                    <a:gd name="connsiteX4" fmla="*/ 1713762 w 1800000"/>
                    <a:gd name="connsiteY4" fmla="*/ 787500 h 1350000"/>
                    <a:gd name="connsiteX5" fmla="*/ 1713762 w 1800000"/>
                    <a:gd name="connsiteY5" fmla="*/ 1214334 h 1350000"/>
                    <a:gd name="connsiteX6" fmla="*/ 1800000 w 1800000"/>
                    <a:gd name="connsiteY6" fmla="*/ 1214334 h 1350000"/>
                    <a:gd name="connsiteX7" fmla="*/ 1685754 w 1800000"/>
                    <a:gd name="connsiteY7" fmla="*/ 1350000 h 1350000"/>
                    <a:gd name="connsiteX8" fmla="*/ 1571508 w 1800000"/>
                    <a:gd name="connsiteY8" fmla="*/ 1214334 h 1350000"/>
                    <a:gd name="connsiteX9" fmla="*/ 1657746 w 1800000"/>
                    <a:gd name="connsiteY9" fmla="*/ 1214334 h 1350000"/>
                    <a:gd name="connsiteX10" fmla="*/ 1657746 w 1800000"/>
                    <a:gd name="connsiteY10" fmla="*/ 787500 h 1350000"/>
                    <a:gd name="connsiteX11" fmla="*/ 926262 w 1800000"/>
                    <a:gd name="connsiteY11" fmla="*/ 56016 h 1350000"/>
                    <a:gd name="connsiteX12" fmla="*/ 787500 w 1800000"/>
                    <a:gd name="connsiteY12" fmla="*/ 56016 h 1350000"/>
                    <a:gd name="connsiteX13" fmla="*/ 272710 w 1800000"/>
                    <a:gd name="connsiteY13" fmla="*/ 264094 h 1350000"/>
                    <a:gd name="connsiteX14" fmla="*/ 230982 w 1800000"/>
                    <a:gd name="connsiteY14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  <a:gd name="connsiteX0" fmla="*/ 0 w 1569018"/>
                    <a:gd name="connsiteY0" fmla="*/ 209325 h 1350000"/>
                    <a:gd name="connsiteX1" fmla="*/ 556518 w 1569018"/>
                    <a:gd name="connsiteY1" fmla="*/ 0 h 1350000"/>
                    <a:gd name="connsiteX2" fmla="*/ 695280 w 1569018"/>
                    <a:gd name="connsiteY2" fmla="*/ 0 h 1350000"/>
                    <a:gd name="connsiteX3" fmla="*/ 1482780 w 1569018"/>
                    <a:gd name="connsiteY3" fmla="*/ 787500 h 1350000"/>
                    <a:gd name="connsiteX4" fmla="*/ 1482780 w 1569018"/>
                    <a:gd name="connsiteY4" fmla="*/ 1214334 h 1350000"/>
                    <a:gd name="connsiteX5" fmla="*/ 1569018 w 1569018"/>
                    <a:gd name="connsiteY5" fmla="*/ 1214334 h 1350000"/>
                    <a:gd name="connsiteX6" fmla="*/ 1454772 w 1569018"/>
                    <a:gd name="connsiteY6" fmla="*/ 1350000 h 1350000"/>
                    <a:gd name="connsiteX7" fmla="*/ 1340526 w 1569018"/>
                    <a:gd name="connsiteY7" fmla="*/ 1214334 h 1350000"/>
                    <a:gd name="connsiteX8" fmla="*/ 1426764 w 1569018"/>
                    <a:gd name="connsiteY8" fmla="*/ 1214334 h 1350000"/>
                    <a:gd name="connsiteX9" fmla="*/ 1426764 w 1569018"/>
                    <a:gd name="connsiteY9" fmla="*/ 787500 h 1350000"/>
                    <a:gd name="connsiteX10" fmla="*/ 695280 w 1569018"/>
                    <a:gd name="connsiteY10" fmla="*/ 56016 h 1350000"/>
                    <a:gd name="connsiteX11" fmla="*/ 556518 w 1569018"/>
                    <a:gd name="connsiteY11" fmla="*/ 56016 h 1350000"/>
                    <a:gd name="connsiteX12" fmla="*/ 41728 w 1569018"/>
                    <a:gd name="connsiteY12" fmla="*/ 264094 h 1350000"/>
                    <a:gd name="connsiteX13" fmla="*/ 0 w 1569018"/>
                    <a:gd name="connsiteY13" fmla="*/ 209325 h 1350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569018" h="1350000">
                      <a:moveTo>
                        <a:pt x="0" y="209325"/>
                      </a:moveTo>
                      <a:cubicBezTo>
                        <a:pt x="185506" y="139550"/>
                        <a:pt x="244806" y="60250"/>
                        <a:pt x="556518" y="0"/>
                      </a:cubicBezTo>
                      <a:lnTo>
                        <a:pt x="695280" y="0"/>
                      </a:lnTo>
                      <a:cubicBezTo>
                        <a:pt x="1130204" y="0"/>
                        <a:pt x="1482780" y="352576"/>
                        <a:pt x="1482780" y="787500"/>
                      </a:cubicBezTo>
                      <a:lnTo>
                        <a:pt x="1482780" y="1214334"/>
                      </a:lnTo>
                      <a:lnTo>
                        <a:pt x="1569018" y="1214334"/>
                      </a:lnTo>
                      <a:lnTo>
                        <a:pt x="1454772" y="1350000"/>
                      </a:lnTo>
                      <a:lnTo>
                        <a:pt x="1340526" y="1214334"/>
                      </a:lnTo>
                      <a:lnTo>
                        <a:pt x="1426764" y="1214334"/>
                      </a:lnTo>
                      <a:lnTo>
                        <a:pt x="1426764" y="787500"/>
                      </a:lnTo>
                      <a:cubicBezTo>
                        <a:pt x="1426764" y="383513"/>
                        <a:pt x="1099267" y="56016"/>
                        <a:pt x="695280" y="56016"/>
                      </a:cubicBezTo>
                      <a:lnTo>
                        <a:pt x="556518" y="56016"/>
                      </a:lnTo>
                      <a:cubicBezTo>
                        <a:pt x="280906" y="121652"/>
                        <a:pt x="134481" y="238542"/>
                        <a:pt x="41728" y="264094"/>
                      </a:cubicBezTo>
                      <a:lnTo>
                        <a:pt x="0" y="20932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직사각형 68"/>
                <p:cNvSpPr/>
                <p:nvPr/>
              </p:nvSpPr>
              <p:spPr>
                <a:xfrm>
                  <a:off x="3055153" y="4285440"/>
                  <a:ext cx="127644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200" b="1">
                      <a:solidFill>
                        <a:srgbClr val="444444"/>
                      </a:solidFill>
                      <a:latin typeface="+mj-ea"/>
                      <a:ea typeface="+mj-ea"/>
                      <a:cs typeface="Noto Sans CJK KR" pitchFamily="34" charset="-120"/>
                    </a:rPr>
                    <a:t>④ STOP_HOLD</a:t>
                  </a:r>
                  <a:endParaRPr lang="en-US" altLang="ko-KR" sz="1200" b="1" dirty="0">
                    <a:latin typeface="+mj-ea"/>
                    <a:ea typeface="+mj-ea"/>
                  </a:endParaRPr>
                </a:p>
              </p:txBody>
            </p:sp>
          </p:grpSp>
        </p:grpSp>
        <p:cxnSp>
          <p:nvCxnSpPr>
            <p:cNvPr id="46" name="직선 화살표 연결선 45"/>
            <p:cNvCxnSpPr/>
            <p:nvPr/>
          </p:nvCxnSpPr>
          <p:spPr>
            <a:xfrm>
              <a:off x="2812694" y="4910052"/>
              <a:ext cx="419622" cy="0"/>
            </a:xfrm>
            <a:prstGeom prst="straightConnector1">
              <a:avLst/>
            </a:prstGeom>
            <a:ln w="12700">
              <a:solidFill>
                <a:srgbClr val="1D0F0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184531" y="4802330"/>
              <a:ext cx="87235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smtClean="0">
                  <a:solidFill>
                    <a:srgbClr val="444444"/>
                  </a:solidFill>
                  <a:latin typeface="+mj-ea"/>
                  <a:ea typeface="+mj-ea"/>
                </a:rPr>
                <a:t>DESTINATION</a:t>
              </a:r>
              <a:endParaRPr lang="ko-KR" altLang="en-US" sz="800" b="1">
                <a:solidFill>
                  <a:srgbClr val="444444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  <a:latin typeface="+mj-ea"/>
                <a:ea typeface="+mj-ea"/>
              </a:rPr>
              <a:t>CORE ENGINEERING</a:t>
            </a:r>
            <a:endParaRPr lang="en-US" sz="1050" dirty="0">
              <a:latin typeface="+mj-ea"/>
              <a:ea typeface="+mj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  <a:latin typeface="+mj-ea"/>
                <a:ea typeface="+mj-ea"/>
              </a:rPr>
              <a:t>Safety Filter</a:t>
            </a: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+mj-ea"/>
                <a:ea typeface="+mj-ea"/>
                <a:cs typeface="Noto Sans CJK KR" pitchFamily="34" charset="-120"/>
              </a:rPr>
              <a:t>09</a:t>
            </a:r>
            <a:endParaRPr lang="en-US" sz="950" dirty="0">
              <a:latin typeface="+mj-ea"/>
              <a:ea typeface="+mj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navigation 의도와 하드웨어 실행 명령을 분리하여 myAGV의 deadzone, overshoot, stale command 문제를 흡수했습니다.</a:t>
            </a:r>
            <a:endParaRPr lang="en-US" sz="1700" dirty="0">
              <a:latin typeface="+mj-ea"/>
              <a:ea typeface="+mj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문제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33375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3337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작은 angular.z 명령이 실제 회전으로 이어지지 않는 deadzone</a:t>
            </a:r>
            <a:endParaRPr lang="en-US" sz="134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회전과 직진 성분이 섞일 때 차체 불안정</a:t>
            </a:r>
            <a:endParaRPr lang="en-US" sz="134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회전 종료 직후 다음 명령이 들어오며 순간 튐 발생</a:t>
            </a:r>
            <a:endParaRPr lang="en-US" sz="134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목표 근처에서 Nav2가 작은 yaw 명령을 지속 발행</a:t>
            </a:r>
            <a:endParaRPr lang="en-US" sz="1340" dirty="0">
              <a:latin typeface="+mj-ea"/>
              <a:ea typeface="+mj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87952" y="1719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구조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87952" y="2048256"/>
            <a:ext cx="32461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87952" y="2157984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Nav2 / primitive / align node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/cmd_vel_nav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cmd_vel_safety_filter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/cmd_vel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↓</a:t>
            </a:r>
            <a:endParaRPr lang="en-US" sz="15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5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myAGV driver / MCU</a:t>
            </a:r>
            <a:endParaRPr lang="en-US" sz="1550" dirty="0">
              <a:latin typeface="+mj-ea"/>
              <a:ea typeface="+mj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80960" y="17190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효과</a:t>
            </a:r>
            <a:endParaRPr lang="en-US" sz="1520" dirty="0">
              <a:latin typeface="+mj-ea"/>
              <a:ea typeface="+mj-ea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680960" y="2048256"/>
            <a:ext cx="39776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2157984"/>
            <a:ext cx="3977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상위 노드는 “이동 의도”를 출력</a:t>
            </a:r>
            <a:endParaRPr lang="en-US" sz="13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filter는 실제 하드웨어가 수행 가능한 명령으로 변환</a:t>
            </a:r>
            <a:endParaRPr lang="en-US" sz="13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펌웨어 수정 없이 ROS2 상위 계층에서 비선형 응답을 완화</a:t>
            </a:r>
            <a:endParaRPr lang="en-US" sz="1350" dirty="0">
              <a:latin typeface="+mj-ea"/>
              <a:ea typeface="+mj-ea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444444"/>
                </a:solidFill>
                <a:latin typeface="+mj-ea"/>
                <a:ea typeface="+mj-ea"/>
                <a:cs typeface="Noto Sans CJK KR" pitchFamily="34" charset="-120"/>
              </a:rPr>
              <a:t>· 급발진, yaw deadzone, stale cmd 리스크를 통합 처리</a:t>
            </a:r>
            <a:endParaRPr lang="en-US" sz="1350" dirty="0">
              <a:latin typeface="+mj-ea"/>
              <a:ea typeface="+mj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1792" y="4027932"/>
            <a:ext cx="2185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Mode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4306824"/>
            <a:ext cx="22402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62072" y="402793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목적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834640" y="4306824"/>
            <a:ext cx="3840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02552" y="4027932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해결 문제</a:t>
            </a:r>
            <a:endParaRPr lang="en-US" sz="1080" dirty="0">
              <a:latin typeface="+mj-ea"/>
              <a:ea typeface="+mj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4306824"/>
            <a:ext cx="4983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61688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STOP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94360" y="4575048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4361688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입력 없음/timeout 시 정지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834640" y="4575048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4361688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stale command 방지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75120" y="4575048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29912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STRAIGHT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94360" y="4843272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629912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직진 중 회전 성분 제거/제한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834640" y="4843272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4629912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직진 안정성 확보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675120" y="4843272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98136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TURN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94360" y="5111496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4898136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 중 linear.x 제거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2834640" y="5111496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4898136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회전-직진 혼합 튐 방지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675120" y="5111496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166360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LATERAL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94360" y="5379720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5166360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메카넘 lateral 이동 허용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834640" y="5379720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5166360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ArUco/AGV align 지원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675120" y="5379720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434584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INPLACE_SMALL_TURN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94360" y="5647944"/>
            <a:ext cx="22402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0360" y="5434584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작은 wz 지속 시 boost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834640" y="5647944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20840" y="5434584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Nav2 yaw deadzone 대응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6675120" y="5647944"/>
            <a:ext cx="4983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702808"/>
            <a:ext cx="21488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TURN_EXIT_HOLD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2880360" y="5702808"/>
            <a:ext cx="3749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회전 종료 후 정지 유지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720840" y="5702808"/>
            <a:ext cx="489204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+mj-ea"/>
                <a:ea typeface="+mj-ea"/>
                <a:cs typeface="Noto Sans CJK KR" pitchFamily="34" charset="-120"/>
              </a:rPr>
              <a:t>관성/전환 충돌 완화</a:t>
            </a:r>
            <a:endParaRPr lang="en-US" sz="1030" dirty="0">
              <a:latin typeface="+mj-ea"/>
              <a:ea typeface="+mj-ea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834640" y="3977640"/>
            <a:ext cx="0" cy="193852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75120" y="3977640"/>
            <a:ext cx="0" cy="193852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" y="397764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4360" y="59161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AGV KPI 검증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Velocity Safety Filter </a:t>
            </a:r>
            <a:r>
              <a:rPr lang="en-US" sz="1700" b="1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적용 </a:t>
            </a:r>
            <a:r>
              <a:rPr lang="en-US" sz="1700" b="1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전-후 </a:t>
            </a:r>
            <a:r>
              <a:rPr lang="en-US" sz="17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/cmd_vel과 /odometry/filtered 정합성 및 peak overshoot</a:t>
            </a:r>
            <a:r>
              <a:rPr lang="en-US" sz="1700" b="1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를 </a:t>
            </a:r>
            <a:r>
              <a:rPr lang="en-US" sz="1700" b="1" smtClean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46.8% → 17.6%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94360" y="2313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Linear.x NRMSE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615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cmd_vel–odom tracking error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94360" y="2880360"/>
            <a:ext cx="274320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8562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76.3% → 28.0%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611880" y="23134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Angular.z NRMSE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11880" y="26151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cmd_vel–odom tracking error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3611880" y="2880360"/>
            <a:ext cx="274320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85623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0.31 → 0.01 m/s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629400" y="23134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Linear Peak Overshoot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261518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−96.8% 개선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629400" y="2880360"/>
            <a:ext cx="242316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85623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B7A3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0.87 → 0.22 rad/s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9326880" y="231343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Angular Peak Overshoot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326880" y="2615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−74.7% 개선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326880" y="2880360"/>
            <a:ext cx="233172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36042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94360" y="3639312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9192" y="3360420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방법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2651760" y="3639312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96712" y="3360420"/>
            <a:ext cx="3374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필요 Topic / Log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5669280" y="3639312"/>
            <a:ext cx="34290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25712" y="3360420"/>
            <a:ext cx="2505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해석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9098280" y="3639312"/>
            <a:ext cx="2560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94176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 tracking NRMSE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94360" y="400324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3694176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/cmd_vel과 /odometry/filtered 속도 비교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2651760" y="4003243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694176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/cmd_vel_nav, /cmd_vel, /odometry/filtered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5669280" y="4003243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0" y="3694176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적용 후 RMS error 감소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9098280" y="4003243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058107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peak overshoot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94360" y="4367174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4058107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odom peak - command peak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2651760" y="4367174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4058107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동일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5669280" y="4367174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4058107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급발진/순간 튐 억제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9098280" y="4367174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422038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settling time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594360" y="473110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97480" y="4422038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명령 후 속도 임계값 이하까지 시간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2651760" y="4731106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4422038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/cmd_vel, /odometry/filtered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5669280" y="4731106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44000" y="4422038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 안정성 검증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9098280" y="4731106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785970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position/yaw error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594360" y="5095037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97480" y="4785970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pose와 도착 pose 차이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2651760" y="5095037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4785970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goals.yaml, /amcl_pose</a:t>
            </a:r>
            <a:endParaRPr lang="en-US" sz="1040" dirty="0"/>
          </a:p>
        </p:txBody>
      </p:sp>
      <p:sp>
        <p:nvSpPr>
          <p:cNvPr id="61" name="Shape 59"/>
          <p:cNvSpPr/>
          <p:nvPr/>
        </p:nvSpPr>
        <p:spPr>
          <a:xfrm>
            <a:off x="5669280" y="5095037"/>
            <a:ext cx="3429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0" y="4785970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 정확도</a:t>
            </a:r>
            <a:endParaRPr lang="en-US" sz="1040" dirty="0"/>
          </a:p>
        </p:txBody>
      </p:sp>
      <p:sp>
        <p:nvSpPr>
          <p:cNvPr id="63" name="Shape 61"/>
          <p:cNvSpPr/>
          <p:nvPr/>
        </p:nvSpPr>
        <p:spPr>
          <a:xfrm>
            <a:off x="9098280" y="5095037"/>
            <a:ext cx="2560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5149901"/>
            <a:ext cx="19659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route success rate</a:t>
            </a:r>
            <a:endParaRPr lang="en-US" sz="1040" dirty="0"/>
          </a:p>
        </p:txBody>
      </p:sp>
      <p:sp>
        <p:nvSpPr>
          <p:cNvPr id="65" name="Text 63"/>
          <p:cNvSpPr/>
          <p:nvPr/>
        </p:nvSpPr>
        <p:spPr>
          <a:xfrm>
            <a:off x="2697480" y="5149901"/>
            <a:ext cx="29260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 중 goal 도착 성공 횟수</a:t>
            </a:r>
            <a:endParaRPr lang="en-US" sz="1040" dirty="0"/>
          </a:p>
        </p:txBody>
      </p:sp>
      <p:sp>
        <p:nvSpPr>
          <p:cNvPr id="66" name="Text 64"/>
          <p:cNvSpPr/>
          <p:nvPr/>
        </p:nvSpPr>
        <p:spPr>
          <a:xfrm>
            <a:off x="5715000" y="5149901"/>
            <a:ext cx="333756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 log</a:t>
            </a:r>
            <a:endParaRPr lang="en-US" sz="1040" dirty="0"/>
          </a:p>
        </p:txBody>
      </p:sp>
      <p:sp>
        <p:nvSpPr>
          <p:cNvPr id="67" name="Text 65"/>
          <p:cNvSpPr/>
          <p:nvPr/>
        </p:nvSpPr>
        <p:spPr>
          <a:xfrm>
            <a:off x="9144000" y="5149901"/>
            <a:ext cx="2468880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안정성</a:t>
            </a:r>
            <a:endParaRPr lang="en-US" sz="1040" dirty="0"/>
          </a:p>
        </p:txBody>
      </p:sp>
      <p:sp>
        <p:nvSpPr>
          <p:cNvPr id="68" name="Shape 66"/>
          <p:cNvSpPr/>
          <p:nvPr/>
        </p:nvSpPr>
        <p:spPr>
          <a:xfrm>
            <a:off x="265176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6928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98280" y="3310128"/>
            <a:ext cx="0" cy="21488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4360" y="331012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94360" y="54589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" y="5650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해석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594360" y="5980176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4360" y="6089904"/>
            <a:ext cx="11064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 filter는 순간 cmd_vel을 그대로 추종시키는 것이 아니라, myAGV 하위 구동계의 angular deadzone과 응답 지연을 고려해 effective command로 변환하여 odom peak와 RMS error를 낮췄습니다.</a:t>
            </a:r>
            <a:endParaRPr lang="en-US" sz="12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745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Eye-in-Hand Vision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카메라가 그리퍼에 부착되어 있어, 비전 좌표 계산은 로봇팔 관측 자세와 반드시 동기화되어야 합니다.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719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관측 동기화 Flow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594360" y="2048256"/>
            <a:ext cx="37490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57984"/>
            <a:ext cx="37490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brain_node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/observe_move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pick_eyeinhand_node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send_angles(SHELF_ANGLES[level])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settle wait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/observe_ready + /observe_pose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vision_eyeinhand_node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T_cam2base 갱신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YOLO + depth</a:t>
            </a:r>
            <a:endParaRPr lang="en-US" sz="1370" dirty="0"/>
          </a:p>
          <a:p>
            <a:pPr marL="0" indent="0" algn="l">
              <a:buNone/>
            </a:pPr>
            <a:r>
              <a:rPr lang="en-US" sz="137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/box_pose 또는 /distance_status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461772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설계 근거</a:t>
            </a:r>
            <a:endParaRPr lang="en-US" sz="1520" dirty="0"/>
          </a:p>
        </p:txBody>
      </p:sp>
      <p:sp>
        <p:nvSpPr>
          <p:cNvPr id="12" name="Shape 10"/>
          <p:cNvSpPr/>
          <p:nvPr/>
        </p:nvSpPr>
        <p:spPr>
          <a:xfrm>
            <a:off x="4617720" y="2048256"/>
            <a:ext cx="333756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157984"/>
            <a:ext cx="3337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eye-in-hand 구조에서는 카메라 좌표계가 arm 자세에 따라 계속 바뀜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arm이 관측 자세에 도달하기 전 좌표 계산 시 오차 발생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/observe_ready는 흔들림/미도달 상태에서 vision 실행되는 문제를 줄임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send_coords 대신 send_angles 사용으로 IK 복수해 문제를 회피</a:t>
            </a:r>
            <a:endParaRPr lang="en-US" sz="1330" dirty="0"/>
          </a:p>
        </p:txBody>
      </p:sp>
      <p:sp>
        <p:nvSpPr>
          <p:cNvPr id="14" name="Text 12"/>
          <p:cNvSpPr/>
          <p:nvPr/>
        </p:nvSpPr>
        <p:spPr>
          <a:xfrm>
            <a:off x="8211312" y="1719072"/>
            <a:ext cx="3447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 KPI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8211312" y="2048256"/>
            <a:ext cx="3447288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157984"/>
            <a:ext cx="34472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detection success rate: N회 중 YOLO/depth 좌표 생성 성공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depth valid ratio: ROI 내 valid depth pixel 비율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pose latency: observe_ready → box_pose 시간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coordinate repeatability: 동일 물체 x/y/z 분산</a:t>
            </a:r>
            <a:endParaRPr lang="en-US" sz="1330" dirty="0"/>
          </a:p>
          <a:p>
            <a:pPr marL="0" indent="0" algn="l">
              <a:buNone/>
            </a:pPr>
            <a:r>
              <a:rPr lang="en-US" sz="13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failure cause: depth invalid / frame cut / bbox reject</a:t>
            </a:r>
            <a:endParaRPr lang="en-US" sz="1330" dirty="0"/>
          </a:p>
        </p:txBody>
      </p:sp>
      <p:sp>
        <p:nvSpPr>
          <p:cNvPr id="17" name="Text 15"/>
          <p:cNvSpPr/>
          <p:nvPr/>
        </p:nvSpPr>
        <p:spPr>
          <a:xfrm>
            <a:off x="594360" y="5715000"/>
            <a:ext cx="1106424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[RGB-D 검출 이미지 / depth valid pixel / 좌표 분산 그래프 삽입 위치]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Manipulation &amp; AGV Align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Sequence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31546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64792"/>
            <a:ext cx="3154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1. 관측 자세 이동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물체 좌표 수신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3. 물체 위 waypoint 접근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4. 하강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5. gripper close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6. gripper value로 성공 확인</a:t>
            </a:r>
            <a:endParaRPr lang="en-US" sz="1460" dirty="0"/>
          </a:p>
          <a:p>
            <a:pPr marL="0" indent="0" algn="l">
              <a:buNone/>
            </a:pPr>
            <a:r>
              <a:rPr lang="en-US" sz="146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7. 실패 시 재관측 루프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4023360" y="1325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AGV-Arm Align Loop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4023360" y="1655064"/>
            <a:ext cx="370332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764792"/>
            <a:ext cx="37033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vision_eyeinhand_node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/distance_status 또는 /marker_agv_pose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agv_align_node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/agv_align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agv_align_bridge_node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/cmd_vel_nav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cmd_vel_safety_filter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 /cmd_vel</a:t>
            </a:r>
            <a:endParaRPr lang="en-US" sz="1390" dirty="0"/>
          </a:p>
          <a:p>
            <a:pPr marL="0" indent="0" algn="l">
              <a:buNone/>
            </a:pPr>
            <a:r>
              <a:rPr lang="en-US" sz="139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 → 재측정 → 짧게 이동 → 반복</a:t>
            </a:r>
            <a:endParaRPr lang="en-US" sz="1390" dirty="0"/>
          </a:p>
        </p:txBody>
      </p:sp>
      <p:sp>
        <p:nvSpPr>
          <p:cNvPr id="13" name="Text 11"/>
          <p:cNvSpPr/>
          <p:nvPr/>
        </p:nvSpPr>
        <p:spPr>
          <a:xfrm>
            <a:off x="8028432" y="1325880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시스템 오차 관점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028432" y="1655064"/>
            <a:ext cx="3630168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1764792"/>
            <a:ext cx="363016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실패는 로봇팔 단독 문제가 아니라 다음 오차의 합입니다.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좌표 계산 오차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실제 관절 도달 오차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gripper offset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AGV 정차 x/y/yaw 오차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랙 높이와 선반 간격 제약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 상태 측정 → 짧은 보정 → 재관측 구조로 누적 오차를 줄였습니다.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621792" y="567385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94360" y="5952744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39312" y="5673852"/>
            <a:ext cx="7991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측정값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611880" y="5952744"/>
            <a:ext cx="80467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007608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 rate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94360" y="6025896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6007608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 중 pick_done 비율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611880" y="6025896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080760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retry success rate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94360" y="6099048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6080760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1차 실패 후 재관측 성공률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3611880" y="6099048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153912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 align 후 성공률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94360" y="6172200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6153912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too_far/too_close 보정 후 성공 여부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3611880" y="6172200"/>
            <a:ext cx="8046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227064"/>
            <a:ext cx="29260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gripper check result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657600" y="6227064"/>
            <a:ext cx="79552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close 후 gripper value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611880" y="5623560"/>
            <a:ext cx="0" cy="621792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" y="56235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6245352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8010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통합 KPI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1133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11887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376172"/>
            <a:ext cx="2551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1655064"/>
            <a:ext cx="26060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16552" y="137617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/ 측정 방법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1655064"/>
            <a:ext cx="3703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9872" y="1376172"/>
            <a:ext cx="3511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655064"/>
            <a:ext cx="35661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94360" y="2128266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1709928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cmd tracking NRMSE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1783080" y="2128266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709928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 vs /odometry/filtered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389120" y="212826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1709928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효과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8092440" y="2128266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83130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94360" y="2601468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2183130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peak overshoot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1783080" y="2601468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183130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odom peak - command peak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389120" y="260146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2183130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급발진 억제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092440" y="2601468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656332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594360" y="3074670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0" y="2656332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position/yaw error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1783080" y="3074670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2656332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pose와 도착 pose 차이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4389120" y="3074670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38160" y="2656332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도착 정확도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8092440" y="3074670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129534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94360" y="3547872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0" y="3129534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align success/time/error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1783080" y="3547872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3129534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비율, start~done, center error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4389120" y="3547872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3129534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 성능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8092440" y="3547872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602736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Vision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594360" y="4021074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828800" y="3602736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detection/depth/latency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1783080" y="4021074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34840" y="3602736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box_pose, valid depth, 처리 시간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4389120" y="4021074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138160" y="3602736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인지 신뢰도</a:t>
            </a:r>
            <a:endParaRPr lang="en-US" sz="1030" dirty="0"/>
          </a:p>
        </p:txBody>
      </p:sp>
      <p:sp>
        <p:nvSpPr>
          <p:cNvPr id="54" name="Shape 52"/>
          <p:cNvSpPr/>
          <p:nvPr/>
        </p:nvSpPr>
        <p:spPr>
          <a:xfrm>
            <a:off x="8092440" y="4021074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4075938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Arm</a:t>
            </a:r>
            <a:endParaRPr lang="en-US" sz="1030" dirty="0"/>
          </a:p>
        </p:txBody>
      </p:sp>
      <p:sp>
        <p:nvSpPr>
          <p:cNvPr id="56" name="Shape 54"/>
          <p:cNvSpPr/>
          <p:nvPr/>
        </p:nvSpPr>
        <p:spPr>
          <a:xfrm>
            <a:off x="594360" y="4494276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4075938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success/retry success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1783080" y="4494276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34840" y="4075938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/pick_status, brain log</a:t>
            </a:r>
            <a:endParaRPr lang="en-US" sz="1030" dirty="0"/>
          </a:p>
        </p:txBody>
      </p:sp>
      <p:sp>
        <p:nvSpPr>
          <p:cNvPr id="60" name="Shape 58"/>
          <p:cNvSpPr/>
          <p:nvPr/>
        </p:nvSpPr>
        <p:spPr>
          <a:xfrm>
            <a:off x="4389120" y="449427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138160" y="4075938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조작 성공률</a:t>
            </a:r>
            <a:endParaRPr lang="en-US" sz="1030" dirty="0"/>
          </a:p>
        </p:txBody>
      </p:sp>
      <p:sp>
        <p:nvSpPr>
          <p:cNvPr id="62" name="Shape 60"/>
          <p:cNvSpPr/>
          <p:nvPr/>
        </p:nvSpPr>
        <p:spPr>
          <a:xfrm>
            <a:off x="8092440" y="4494276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549140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</a:t>
            </a:r>
            <a:endParaRPr lang="en-US" sz="1030" dirty="0"/>
          </a:p>
        </p:txBody>
      </p:sp>
      <p:sp>
        <p:nvSpPr>
          <p:cNvPr id="64" name="Shape 62"/>
          <p:cNvSpPr/>
          <p:nvPr/>
        </p:nvSpPr>
        <p:spPr>
          <a:xfrm>
            <a:off x="594360" y="4967478"/>
            <a:ext cx="11887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0" y="4549140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E2E success/cycle time</a:t>
            </a:r>
            <a:endParaRPr lang="en-US" sz="1030" dirty="0"/>
          </a:p>
        </p:txBody>
      </p:sp>
      <p:sp>
        <p:nvSpPr>
          <p:cNvPr id="66" name="Shape 64"/>
          <p:cNvSpPr/>
          <p:nvPr/>
        </p:nvSpPr>
        <p:spPr>
          <a:xfrm>
            <a:off x="1783080" y="4967478"/>
            <a:ext cx="26060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34840" y="4549140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주문 수신~완료 반환</a:t>
            </a:r>
            <a:endParaRPr lang="en-US" sz="1030" dirty="0"/>
          </a:p>
        </p:txBody>
      </p:sp>
      <p:sp>
        <p:nvSpPr>
          <p:cNvPr id="68" name="Shape 66"/>
          <p:cNvSpPr/>
          <p:nvPr/>
        </p:nvSpPr>
        <p:spPr>
          <a:xfrm>
            <a:off x="4389120" y="496747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0" y="4549140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완성도</a:t>
            </a:r>
            <a:endParaRPr lang="en-US" sz="1030" dirty="0"/>
          </a:p>
        </p:txBody>
      </p:sp>
      <p:sp>
        <p:nvSpPr>
          <p:cNvPr id="70" name="Shape 68"/>
          <p:cNvSpPr/>
          <p:nvPr/>
        </p:nvSpPr>
        <p:spPr>
          <a:xfrm>
            <a:off x="8092440" y="4967478"/>
            <a:ext cx="35661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5022342"/>
            <a:ext cx="10972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System</a:t>
            </a:r>
            <a:endParaRPr lang="en-US" sz="1030" dirty="0"/>
          </a:p>
        </p:txBody>
      </p:sp>
      <p:sp>
        <p:nvSpPr>
          <p:cNvPr id="72" name="Text 70"/>
          <p:cNvSpPr/>
          <p:nvPr/>
        </p:nvSpPr>
        <p:spPr>
          <a:xfrm>
            <a:off x="1828800" y="5022342"/>
            <a:ext cx="251460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manual intervention/CPU/FPS</a:t>
            </a:r>
            <a:endParaRPr lang="en-US" sz="1030" dirty="0"/>
          </a:p>
        </p:txBody>
      </p:sp>
      <p:sp>
        <p:nvSpPr>
          <p:cNvPr id="73" name="Text 71"/>
          <p:cNvSpPr/>
          <p:nvPr/>
        </p:nvSpPr>
        <p:spPr>
          <a:xfrm>
            <a:off x="4434840" y="5022342"/>
            <a:ext cx="361188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개입, resource log, topic hz</a:t>
            </a:r>
            <a:endParaRPr lang="en-US" sz="1030" dirty="0"/>
          </a:p>
        </p:txBody>
      </p:sp>
      <p:sp>
        <p:nvSpPr>
          <p:cNvPr id="74" name="Text 72"/>
          <p:cNvSpPr/>
          <p:nvPr/>
        </p:nvSpPr>
        <p:spPr>
          <a:xfrm>
            <a:off x="8138160" y="5022342"/>
            <a:ext cx="3474720" cy="390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수준과 병목</a:t>
            </a:r>
            <a:endParaRPr lang="en-US" sz="1030" dirty="0"/>
          </a:p>
        </p:txBody>
      </p:sp>
      <p:sp>
        <p:nvSpPr>
          <p:cNvPr id="75" name="Shape 73"/>
          <p:cNvSpPr/>
          <p:nvPr/>
        </p:nvSpPr>
        <p:spPr>
          <a:xfrm>
            <a:off x="178308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38912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92440" y="1325880"/>
            <a:ext cx="0" cy="41148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4360" y="54406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94360" y="56509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 작성 원칙</a:t>
            </a:r>
            <a:endParaRPr lang="en-US" sz="1180" dirty="0"/>
          </a:p>
        </p:txBody>
      </p:sp>
      <p:sp>
        <p:nvSpPr>
          <p:cNvPr id="81" name="Shape 79"/>
          <p:cNvSpPr/>
          <p:nvPr/>
        </p:nvSpPr>
        <p:spPr>
          <a:xfrm>
            <a:off x="594360" y="5980176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4360" y="6089904"/>
            <a:ext cx="11064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성공률은 표본 수 n을 반드시 병기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평균값뿐 아니라 peak, worst case, 실패 횟수 함께 제시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before/after 비교 항목은 그래프 사용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영상 시연 결과와 rosbag/log 데이터를 연결</a:t>
            </a:r>
            <a:endParaRPr lang="en-US" sz="1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PROBLEM SOLVING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Troubleshooting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79192" y="1376172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원인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651760" y="1655064"/>
            <a:ext cx="36576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376172"/>
            <a:ext cx="3236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해결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309360" y="1655064"/>
            <a:ext cx="32918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28632" y="1376172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지표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9601200" y="1655064"/>
            <a:ext cx="20574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 급발진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4360" y="2512771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1709928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cmd가 바로 하드웨어에 전달되어 myAGV deadzone/응답 지연으로 odom peak 발생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651760" y="2512771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709928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/cmd_vel_nav와 /cmd_vel 분리 + mode 기반 safety filter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309360" y="2512771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46920" y="1709928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NRMSE, peak overshoot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9601200" y="2512771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67635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정차 정밀도 부족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3370478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567635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 navigation 도착만으로 랙 앞 x/y/yaw 오차 잔존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651760" y="3370478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567635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 근접 이동 + ArUco final alignment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309360" y="3370478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2567635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 error, align success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9601200" y="3370478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425342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Eye-in-hand 좌표 불일치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94360" y="422818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3425342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 좌표계가 arm 자세에 따라 변화, 관측 자세 미도달 중 좌표 계산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2651760" y="4228186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3425342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observe_ready/observe_pose 후 T_cam2base 갱신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309360" y="4228186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46920" y="3425342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coordinate std, pose latency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9601200" y="4228186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283050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실패 원인 다중화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94360" y="508589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97480" y="4283050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계산, 관절 도달, gripper offset, AGV 정차 오차가 누적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2651760" y="5085893"/>
            <a:ext cx="36576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4283050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재관측 루프 + AGV-Arm cooperative align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309360" y="5085893"/>
            <a:ext cx="32918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46920" y="4283050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success, retry success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9601200" y="5085893"/>
            <a:ext cx="20574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140757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CPU/FPS 병목</a:t>
            </a:r>
            <a:endParaRPr lang="en-US" sz="1020" dirty="0"/>
          </a:p>
        </p:txBody>
      </p:sp>
      <p:sp>
        <p:nvSpPr>
          <p:cNvPr id="48" name="Text 46"/>
          <p:cNvSpPr/>
          <p:nvPr/>
        </p:nvSpPr>
        <p:spPr>
          <a:xfrm>
            <a:off x="2697480" y="5140757"/>
            <a:ext cx="35661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Nano/Orin 처리 분산 부족 시 camera topic hz 저하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355080" y="5140757"/>
            <a:ext cx="320040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D435 처리 Orin 분리, TensorRT 후보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9646920" y="5140757"/>
            <a:ext cx="196596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FPS, CPU, latency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265176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601200" y="1325880"/>
            <a:ext cx="0" cy="461772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" y="594360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6108192"/>
            <a:ext cx="11064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[각 Case별 로그 캡처 / before-after 그래프 / 실패 영상 캡처 삽입 위치]</a:t>
            </a:r>
            <a:endParaRPr lang="en-US" sz="1450" dirty="0"/>
          </a:p>
        </p:txBody>
      </p:sp>
      <p:sp>
        <p:nvSpPr>
          <p:cNvPr id="88" name="Text 16"/>
          <p:cNvSpPr/>
          <p:nvPr/>
        </p:nvSpPr>
        <p:spPr>
          <a:xfrm>
            <a:off x="4333675" y="-575309"/>
            <a:ext cx="1179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구분</a:t>
            </a:r>
            <a:endParaRPr lang="en-US" sz="1070" dirty="0"/>
          </a:p>
        </p:txBody>
      </p:sp>
      <p:sp>
        <p:nvSpPr>
          <p:cNvPr id="89" name="Shape 17"/>
          <p:cNvSpPr/>
          <p:nvPr/>
        </p:nvSpPr>
        <p:spPr>
          <a:xfrm>
            <a:off x="4306243" y="-296417"/>
            <a:ext cx="1234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0" name="Text 18"/>
          <p:cNvSpPr/>
          <p:nvPr/>
        </p:nvSpPr>
        <p:spPr>
          <a:xfrm>
            <a:off x="5568115" y="-575309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기존 문제</a:t>
            </a:r>
            <a:endParaRPr lang="en-US" sz="1070" dirty="0"/>
          </a:p>
        </p:txBody>
      </p:sp>
      <p:sp>
        <p:nvSpPr>
          <p:cNvPr id="91" name="Shape 19"/>
          <p:cNvSpPr/>
          <p:nvPr/>
        </p:nvSpPr>
        <p:spPr>
          <a:xfrm>
            <a:off x="5540683" y="-296417"/>
            <a:ext cx="448056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2" name="Text 20"/>
          <p:cNvSpPr/>
          <p:nvPr/>
        </p:nvSpPr>
        <p:spPr>
          <a:xfrm>
            <a:off x="10048675" y="-575309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프로젝트 해결 방향</a:t>
            </a:r>
            <a:endParaRPr lang="en-US" sz="1070" dirty="0"/>
          </a:p>
        </p:txBody>
      </p:sp>
      <p:sp>
        <p:nvSpPr>
          <p:cNvPr id="93" name="Shape 21"/>
          <p:cNvSpPr/>
          <p:nvPr/>
        </p:nvSpPr>
        <p:spPr>
          <a:xfrm>
            <a:off x="10021243" y="-296417"/>
            <a:ext cx="5303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4" name="Text 22"/>
          <p:cNvSpPr/>
          <p:nvPr/>
        </p:nvSpPr>
        <p:spPr>
          <a:xfrm>
            <a:off x="4351963" y="-241553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</a:t>
            </a:r>
            <a:endParaRPr lang="en-US" sz="1040" dirty="0"/>
          </a:p>
        </p:txBody>
      </p:sp>
      <p:sp>
        <p:nvSpPr>
          <p:cNvPr id="95" name="Shape 23"/>
          <p:cNvSpPr/>
          <p:nvPr/>
        </p:nvSpPr>
        <p:spPr>
          <a:xfrm>
            <a:off x="4306243" y="-35813"/>
            <a:ext cx="1234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96" name="Text 24"/>
          <p:cNvSpPr/>
          <p:nvPr/>
        </p:nvSpPr>
        <p:spPr>
          <a:xfrm>
            <a:off x="5586403" y="-241553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cmd와 myAGV 실제 응답 불일치</a:t>
            </a:r>
            <a:endParaRPr lang="en-US" sz="1040" dirty="0"/>
          </a:p>
        </p:txBody>
      </p:sp>
      <p:sp>
        <p:nvSpPr>
          <p:cNvPr id="97" name="Shape 25"/>
          <p:cNvSpPr/>
          <p:nvPr/>
        </p:nvSpPr>
        <p:spPr>
          <a:xfrm>
            <a:off x="5540683" y="-35813"/>
            <a:ext cx="44805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98" name="Text 26"/>
          <p:cNvSpPr/>
          <p:nvPr/>
        </p:nvSpPr>
        <p:spPr>
          <a:xfrm>
            <a:off x="10066963" y="-241553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/cmd_vel_nav와 /cmd_vel 분리 + safety filter</a:t>
            </a:r>
            <a:endParaRPr lang="en-US" sz="1040" dirty="0"/>
          </a:p>
        </p:txBody>
      </p:sp>
      <p:sp>
        <p:nvSpPr>
          <p:cNvPr id="99" name="Shape 27"/>
          <p:cNvSpPr/>
          <p:nvPr/>
        </p:nvSpPr>
        <p:spPr>
          <a:xfrm>
            <a:off x="10021243" y="-35813"/>
            <a:ext cx="5303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0" name="Text 28"/>
          <p:cNvSpPr/>
          <p:nvPr/>
        </p:nvSpPr>
        <p:spPr>
          <a:xfrm>
            <a:off x="4351963" y="19051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</a:t>
            </a:r>
            <a:endParaRPr lang="en-US" sz="1040" dirty="0"/>
          </a:p>
        </p:txBody>
      </p:sp>
      <p:sp>
        <p:nvSpPr>
          <p:cNvPr id="101" name="Shape 29"/>
          <p:cNvSpPr/>
          <p:nvPr/>
        </p:nvSpPr>
        <p:spPr>
          <a:xfrm>
            <a:off x="4306243" y="224791"/>
            <a:ext cx="1234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2" name="Text 30"/>
          <p:cNvSpPr/>
          <p:nvPr/>
        </p:nvSpPr>
        <p:spPr>
          <a:xfrm>
            <a:off x="5586403" y="19051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 goal 도착만으로 파지 정밀도 부족</a:t>
            </a:r>
            <a:endParaRPr lang="en-US" sz="1040" dirty="0"/>
          </a:p>
        </p:txBody>
      </p:sp>
      <p:sp>
        <p:nvSpPr>
          <p:cNvPr id="103" name="Shape 31"/>
          <p:cNvSpPr/>
          <p:nvPr/>
        </p:nvSpPr>
        <p:spPr>
          <a:xfrm>
            <a:off x="5540683" y="224791"/>
            <a:ext cx="44805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4" name="Text 32"/>
          <p:cNvSpPr/>
          <p:nvPr/>
        </p:nvSpPr>
        <p:spPr>
          <a:xfrm>
            <a:off x="10066963" y="19051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 final alignment + AGV-Arm align</a:t>
            </a:r>
            <a:endParaRPr lang="en-US" sz="1040" dirty="0"/>
          </a:p>
        </p:txBody>
      </p:sp>
      <p:sp>
        <p:nvSpPr>
          <p:cNvPr id="105" name="Shape 33"/>
          <p:cNvSpPr/>
          <p:nvPr/>
        </p:nvSpPr>
        <p:spPr>
          <a:xfrm>
            <a:off x="10021243" y="224791"/>
            <a:ext cx="5303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6" name="Text 34"/>
          <p:cNvSpPr/>
          <p:nvPr/>
        </p:nvSpPr>
        <p:spPr>
          <a:xfrm>
            <a:off x="4351963" y="279655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비전</a:t>
            </a:r>
            <a:endParaRPr lang="en-US" sz="1040" dirty="0"/>
          </a:p>
        </p:txBody>
      </p:sp>
      <p:sp>
        <p:nvSpPr>
          <p:cNvPr id="107" name="Shape 35"/>
          <p:cNvSpPr/>
          <p:nvPr/>
        </p:nvSpPr>
        <p:spPr>
          <a:xfrm>
            <a:off x="4306243" y="485395"/>
            <a:ext cx="1234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08" name="Text 36"/>
          <p:cNvSpPr/>
          <p:nvPr/>
        </p:nvSpPr>
        <p:spPr>
          <a:xfrm>
            <a:off x="5586403" y="279655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eye-in-hand 카메라 좌표계가 arm 자세에 따라 변화</a:t>
            </a:r>
            <a:endParaRPr lang="en-US" sz="1040" dirty="0"/>
          </a:p>
        </p:txBody>
      </p:sp>
      <p:sp>
        <p:nvSpPr>
          <p:cNvPr id="109" name="Shape 37"/>
          <p:cNvSpPr/>
          <p:nvPr/>
        </p:nvSpPr>
        <p:spPr>
          <a:xfrm>
            <a:off x="5540683" y="485395"/>
            <a:ext cx="448056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0" name="Text 38"/>
          <p:cNvSpPr/>
          <p:nvPr/>
        </p:nvSpPr>
        <p:spPr>
          <a:xfrm>
            <a:off x="10066963" y="279655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observe_ready/observe_pose 기반 T_cam2base 갱신</a:t>
            </a:r>
            <a:endParaRPr lang="en-US" sz="1040" dirty="0"/>
          </a:p>
        </p:txBody>
      </p:sp>
      <p:sp>
        <p:nvSpPr>
          <p:cNvPr id="111" name="Shape 39"/>
          <p:cNvSpPr/>
          <p:nvPr/>
        </p:nvSpPr>
        <p:spPr>
          <a:xfrm>
            <a:off x="10021243" y="485395"/>
            <a:ext cx="5303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2" name="Text 40"/>
          <p:cNvSpPr/>
          <p:nvPr/>
        </p:nvSpPr>
        <p:spPr>
          <a:xfrm>
            <a:off x="4351963" y="540259"/>
            <a:ext cx="114300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</a:t>
            </a:r>
            <a:endParaRPr lang="en-US" sz="1040" dirty="0"/>
          </a:p>
        </p:txBody>
      </p:sp>
      <p:sp>
        <p:nvSpPr>
          <p:cNvPr id="113" name="Text 41"/>
          <p:cNvSpPr/>
          <p:nvPr/>
        </p:nvSpPr>
        <p:spPr>
          <a:xfrm>
            <a:off x="5586403" y="540259"/>
            <a:ext cx="43891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노드 단독 동작은 가능하지만 시나리오 중 오류 누적</a:t>
            </a:r>
            <a:endParaRPr lang="en-US" sz="1040" dirty="0"/>
          </a:p>
        </p:txBody>
      </p:sp>
      <p:sp>
        <p:nvSpPr>
          <p:cNvPr id="114" name="Text 42"/>
          <p:cNvSpPr/>
          <p:nvPr/>
        </p:nvSpPr>
        <p:spPr>
          <a:xfrm>
            <a:off x="10066963" y="540259"/>
            <a:ext cx="52120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Mission FSM + timeout/retry/exception handling</a:t>
            </a:r>
            <a:endParaRPr lang="en-US" sz="1040" dirty="0"/>
          </a:p>
        </p:txBody>
      </p:sp>
      <p:sp>
        <p:nvSpPr>
          <p:cNvPr id="115" name="Shape 43"/>
          <p:cNvSpPr/>
          <p:nvPr/>
        </p:nvSpPr>
        <p:spPr>
          <a:xfrm>
            <a:off x="5540683" y="-625601"/>
            <a:ext cx="0" cy="13716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6" name="Shape 44"/>
          <p:cNvSpPr/>
          <p:nvPr/>
        </p:nvSpPr>
        <p:spPr>
          <a:xfrm flipH="1">
            <a:off x="10021243" y="-587501"/>
            <a:ext cx="8128" cy="133350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17" name="Shape 45"/>
          <p:cNvSpPr/>
          <p:nvPr/>
        </p:nvSpPr>
        <p:spPr>
          <a:xfrm>
            <a:off x="4306243" y="-625601"/>
            <a:ext cx="1101852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118" name="Shape 46"/>
          <p:cNvSpPr/>
          <p:nvPr/>
        </p:nvSpPr>
        <p:spPr>
          <a:xfrm>
            <a:off x="4306243" y="745999"/>
            <a:ext cx="1101852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한계 및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한계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9260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376172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측정 근거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3520440" y="1655064"/>
            <a:ext cx="39319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376172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방향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7452360" y="1655064"/>
            <a:ext cx="42062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09928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CPU/FPS 자원 병목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94360" y="2201875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709928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camera topic hz, tegrastats, 처리 latency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520440" y="2201875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709928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TensorRT FP16, pipeline 분리, Orin 활용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52360" y="2201875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256739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카메라/마커 calibration 오차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94360" y="2748686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2256739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좌표 반복도, marker center error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520440" y="2748686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2256739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calibration 자동화, TF 고정값 재검증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7452360" y="2748686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03550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주행 반복도 편차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94360" y="3295498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2803550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goal position/yaw error, odom slip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3520440" y="3295498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2803550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EKF/robot_localization tuning, PID/velocity control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452360" y="3295498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350362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반복도 편차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594360" y="3842309"/>
            <a:ext cx="29260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350362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success/retry count, gripper value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3520440" y="3842309"/>
            <a:ext cx="3931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350362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gripper offset 보정, 관측 자세 표준화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7452360" y="3842309"/>
            <a:ext cx="42062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97173"/>
            <a:ext cx="283464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복잡 장애물 회피 제한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3566160" y="3897173"/>
            <a:ext cx="384048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 route success/failure case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7498080" y="3897173"/>
            <a:ext cx="4114800" cy="46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+ safety filter 고도화, DWB parameter tuning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3520440" y="1325880"/>
            <a:ext cx="0" cy="30632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1325880"/>
            <a:ext cx="0" cy="306324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" y="438912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800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로드맵 구조</a:t>
            </a:r>
            <a:endParaRPr lang="en-US" sz="1320" dirty="0"/>
          </a:p>
        </p:txBody>
      </p:sp>
      <p:sp>
        <p:nvSpPr>
          <p:cNvPr id="45" name="Shape 43"/>
          <p:cNvSpPr/>
          <p:nvPr/>
        </p:nvSpPr>
        <p:spPr>
          <a:xfrm>
            <a:off x="594360" y="5129784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2395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Measured Bottleneck → Engineering Cause → Software/Control Improvement → KPI Re-test</a:t>
            </a:r>
            <a:endParaRPr lang="en-US" sz="1530" dirty="0"/>
          </a:p>
          <a:p>
            <a:pPr marL="0" indent="0" algn="l">
              <a:buNone/>
            </a:pPr>
            <a:endParaRPr lang="en-US" sz="1530" dirty="0"/>
          </a:p>
          <a:p>
            <a:pPr marL="0" indent="0" algn="l">
              <a:buNone/>
            </a:pPr>
            <a:r>
              <a:rPr lang="en-US" sz="153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한계는 변명이 아니라, 다음 고도화 방향을 정하는 측정 기반 입력으로 정리합니다.</a:t>
            </a:r>
            <a:endParaRPr lang="en-US" sz="15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최종 결론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AGV, 로봇팔, 비전, WMS 상태를 ROS2 topic과 Mission FSM으로 연결했습니다.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모듈의 단독 동작보다, 주문-주행-인식-파지-배치-복귀를 하나의 workflow로 완성한 점이 핵심입니다.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4340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현실성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4340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myAGV deadzone, 정차 오차, eye-in-hand 좌표 오차, camera/FPS 병목 등 실제 하드웨어 문제를 설계에 반영했습니다.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단순 기능 구현이 아니라 하드웨어 한계에 맞춘 제어 구조를 적용했습니다.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92440" y="14173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가능성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92440" y="174650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1856232"/>
            <a:ext cx="3520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 filter KPI, align error, pick success rate, cycle time 등 정량 지표로 시스템 성능을 설명할 수 있습니다.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시연과 rosbag/log 기반 검증이 같은 시나리오 위에서 연결됩니다.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4892040"/>
            <a:ext cx="1554480" cy="329184"/>
          </a:xfrm>
          <a:prstGeom prst="rect">
            <a:avLst/>
          </a:prstGeom>
          <a:solidFill>
            <a:srgbClr val="161616"/>
          </a:solidFill>
          <a:ln>
            <a:solidFill>
              <a:srgbClr val="161616">
                <a:alpha val="0"/>
              </a:srgbClr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Statement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4809744"/>
            <a:ext cx="923544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프로젝트는 AGV, 로봇팔, 비전 시스템을 실제 하드웨어 조건에서 통합하고, 발생한 물리적 오차와 제어 한계를 ROS2 기반 구조와 KPI 검증으로 해결한 실하드웨어 통합 로봇 시스템입니다.</a:t>
            </a:r>
            <a:endParaRPr lang="en-US" sz="1820" dirty="0"/>
          </a:p>
        </p:txBody>
      </p:sp>
      <p:sp>
        <p:nvSpPr>
          <p:cNvPr id="18" name="Text 16"/>
          <p:cNvSpPr/>
          <p:nvPr/>
        </p:nvSpPr>
        <p:spPr>
          <a:xfrm>
            <a:off x="59436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[Q&amp;A / 백업 슬라이드: 코드 구조, 주요 파라미터, 로그 캡처, 상세 그래프]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CORE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ArUco 최종 정렬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 정의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33832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6479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map navigation의 목표 도착만으로는 로봇팔 작업에 필요한 정차 정밀도를 항상 확보하기 어려움</a:t>
            </a:r>
            <a:endParaRPr lang="en-US" sz="1380" dirty="0"/>
          </a:p>
          <a:p>
            <a:pPr marL="0" indent="0" algn="l">
              <a:buNone/>
            </a:pP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랙 앞 수 cm x/y 오차와 yaw 오차가 곧바로 파지 실패로 이어짐</a:t>
            </a:r>
            <a:endParaRPr lang="en-US" sz="1380" dirty="0"/>
          </a:p>
        </p:txBody>
      </p:sp>
      <p:sp>
        <p:nvSpPr>
          <p:cNvPr id="10" name="Text 8"/>
          <p:cNvSpPr/>
          <p:nvPr/>
        </p:nvSpPr>
        <p:spPr>
          <a:xfrm>
            <a:off x="4251960" y="132588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제어 구조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4251960" y="1655064"/>
            <a:ext cx="361188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764792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Navigation: 랙 또는 목적지 근처까지 이동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Visual Final Alignment: 카메라 + ArUco marker로 마지막 10~30cm 정렬</a:t>
            </a:r>
            <a:endParaRPr lang="en-US" sz="1280" dirty="0"/>
          </a:p>
          <a:p>
            <a:pPr marL="0" indent="0" algn="l">
              <a:buNone/>
            </a:pP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 error → linear.y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marker size → linear.x</a:t>
            </a:r>
            <a:endParaRPr lang="en-US" sz="1280" dirty="0"/>
          </a:p>
          <a:p>
            <a:pPr marL="0" indent="0" algn="l">
              <a:buNone/>
            </a:pPr>
            <a:r>
              <a:rPr lang="en-US" sz="12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count → /aruco_align_done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813816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Debug 구조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138160" y="1655064"/>
            <a:ext cx="35204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764792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target ID 오류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marker 미검출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크기/비율 조건 reject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center error 과대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frame cut / 화면 이탈</a:t>
            </a:r>
            <a:endParaRPr lang="en-US" sz="1380" dirty="0"/>
          </a:p>
          <a:p>
            <a:pPr marL="0" indent="0" algn="l">
              <a:buNone/>
            </a:pPr>
            <a:r>
              <a:rPr lang="en-US" sz="138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timeout / force stop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21792" y="3296412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3575304"/>
            <a:ext cx="22860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3296412"/>
            <a:ext cx="2962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계산 / 측정 방법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880360" y="3575304"/>
            <a:ext cx="30175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25312" y="3296412"/>
            <a:ext cx="2734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Topic / Log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897880" y="3575304"/>
            <a:ext cx="27889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14232" y="329641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의미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8686800" y="3575304"/>
            <a:ext cx="29718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630168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marker detection rate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952037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630168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처리 프레임 중 target 검출 비율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880360" y="3952037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3630168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/aruco_align/debug_json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897880" y="3952037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3630168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인식 안정성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0" y="3952037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006901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align success rate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" y="4328770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0" y="4006901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 중 /aruco_align_done=True 비율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880360" y="4328770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4006901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/aruco_align_done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97880" y="4328770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4006901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정렬 성공률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686800" y="4328770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383634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align time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" y="4705502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4383634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start~done 시간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2880360" y="4705502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0" y="4383634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/aruco_align_cmd, /aruco_align_done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897880" y="4705502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732520" y="4383634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 소요 시간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686800" y="4705502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4760366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final center error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94360" y="5082235"/>
            <a:ext cx="2286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4760366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done 시점 marker center 오차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880360" y="5082235"/>
            <a:ext cx="30175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4760366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debug JSON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897880" y="5082235"/>
            <a:ext cx="27889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732520" y="4760366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정렬 정밀도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686800" y="5082235"/>
            <a:ext cx="29718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137099"/>
            <a:ext cx="21945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lost recovery count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2926080" y="5137099"/>
            <a:ext cx="29260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lost recovery 발생 횟수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943600" y="5137099"/>
            <a:ext cx="26974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debug JSON/log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732520" y="5137099"/>
            <a:ext cx="288036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화면 이탈 빈도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2880360" y="3246120"/>
            <a:ext cx="0" cy="221284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97880" y="3246120"/>
            <a:ext cx="0" cy="221284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86800" y="3246120"/>
            <a:ext cx="0" cy="2212848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4360" y="324612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94360" y="5458968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436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[ArUco 검출 이미지 / center error before-after 삽입 위치]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06060"/>
                </a:solidFill>
              </a:rPr>
              <a:t>VERIFICATION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61616"/>
                </a:solidFill>
              </a:rPr>
              <a:t>실험 설계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1155680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589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LogiFlow Team · ROS2 AGV-Arm Integrated Picking System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201400" y="65196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7373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1376172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실험군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655064"/>
            <a:ext cx="237744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37617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71800" y="1655064"/>
            <a:ext cx="384048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1376172"/>
            <a:ext cx="1088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1655064"/>
            <a:ext cx="114300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82712" y="1376172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산출물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1655064"/>
            <a:ext cx="3703320" cy="0"/>
          </a:xfrm>
          <a:prstGeom prst="line">
            <a:avLst/>
          </a:prstGeom>
          <a:noFill/>
          <a:ln w="6985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709928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stationary cmd test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94360" y="2045208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709928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정지/timeout 안정성 확인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2971800" y="2045208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1709928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812280" y="2045208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709928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stop settling time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7955280" y="204520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100072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short goal direct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594360" y="2435352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100072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단거리 goal 도착 정확도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971800" y="2435352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100072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812280" y="2435352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100072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position/yaw error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955280" y="2435352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490216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obstacle detect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94360" y="2825496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2490216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장애물 앞 감속/정지 확인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2971800" y="2825496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2490216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6812280" y="2825496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01000" y="2490216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scan/costmap/cmd 변화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7955280" y="282549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2880360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obstacle avoid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594360" y="3215640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2880360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회피 가능성 확인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2971800" y="3215640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880360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812280" y="3215640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01000" y="2880360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success rate, path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7955280" y="3215640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3270504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active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594360" y="3605784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3270504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없이 기준 데이터 확보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2971800" y="3605784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0" y="3270504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6812280" y="3605784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01000" y="3270504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overshoot 기준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7955280" y="3605784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3660648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Nav2 + filter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594360" y="3995928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0" y="3660648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filter 적용 데이터 확보</a:t>
            </a:r>
            <a:endParaRPr lang="en-US" sz="1020" dirty="0"/>
          </a:p>
        </p:txBody>
      </p:sp>
      <p:sp>
        <p:nvSpPr>
          <p:cNvPr id="58" name="Shape 56"/>
          <p:cNvSpPr/>
          <p:nvPr/>
        </p:nvSpPr>
        <p:spPr>
          <a:xfrm>
            <a:off x="2971800" y="3995928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0" y="3660648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6812280" y="3995928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01000" y="3660648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before/after 비교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7955280" y="3995928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4050792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primitive route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594360" y="4386072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0" y="4050792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안정 주행 기준 데이터 확보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2971800" y="4386072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8000" y="4050792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3회</a:t>
            </a:r>
            <a:endParaRPr lang="en-US" sz="1020" dirty="0"/>
          </a:p>
        </p:txBody>
      </p:sp>
      <p:sp>
        <p:nvSpPr>
          <p:cNvPr id="68" name="Shape 66"/>
          <p:cNvSpPr/>
          <p:nvPr/>
        </p:nvSpPr>
        <p:spPr>
          <a:xfrm>
            <a:off x="6812280" y="4386072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01000" y="4050792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cycle time, error</a:t>
            </a:r>
            <a:endParaRPr lang="en-US" sz="1020" dirty="0"/>
          </a:p>
        </p:txBody>
      </p:sp>
      <p:sp>
        <p:nvSpPr>
          <p:cNvPr id="70" name="Shape 68"/>
          <p:cNvSpPr/>
          <p:nvPr/>
        </p:nvSpPr>
        <p:spPr>
          <a:xfrm>
            <a:off x="7955280" y="4386072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4440936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ArUco align</a:t>
            </a:r>
            <a:endParaRPr lang="en-US" sz="1020" dirty="0"/>
          </a:p>
        </p:txBody>
      </p:sp>
      <p:sp>
        <p:nvSpPr>
          <p:cNvPr id="72" name="Shape 70"/>
          <p:cNvSpPr/>
          <p:nvPr/>
        </p:nvSpPr>
        <p:spPr>
          <a:xfrm>
            <a:off x="594360" y="4776216"/>
            <a:ext cx="237744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017520" y="4440936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center/distance 정렬 성능 확인</a:t>
            </a:r>
            <a:endParaRPr lang="en-US" sz="1020" dirty="0"/>
          </a:p>
        </p:txBody>
      </p:sp>
      <p:sp>
        <p:nvSpPr>
          <p:cNvPr id="74" name="Shape 72"/>
          <p:cNvSpPr/>
          <p:nvPr/>
        </p:nvSpPr>
        <p:spPr>
          <a:xfrm>
            <a:off x="2971800" y="4776216"/>
            <a:ext cx="384048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0" y="4440936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5회 이상</a:t>
            </a:r>
            <a:endParaRPr lang="en-US" sz="1020" dirty="0"/>
          </a:p>
        </p:txBody>
      </p:sp>
      <p:sp>
        <p:nvSpPr>
          <p:cNvPr id="76" name="Shape 74"/>
          <p:cNvSpPr/>
          <p:nvPr/>
        </p:nvSpPr>
        <p:spPr>
          <a:xfrm>
            <a:off x="6812280" y="4776216"/>
            <a:ext cx="114300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01000" y="4440936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center error, align time</a:t>
            </a:r>
            <a:endParaRPr lang="en-US" sz="1020" dirty="0"/>
          </a:p>
        </p:txBody>
      </p:sp>
      <p:sp>
        <p:nvSpPr>
          <p:cNvPr id="78" name="Shape 76"/>
          <p:cNvSpPr/>
          <p:nvPr/>
        </p:nvSpPr>
        <p:spPr>
          <a:xfrm>
            <a:off x="7955280" y="4776216"/>
            <a:ext cx="3703320" cy="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831080"/>
            <a:ext cx="228600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pick success</a:t>
            </a:r>
            <a:endParaRPr lang="en-US" sz="1020" dirty="0"/>
          </a:p>
        </p:txBody>
      </p:sp>
      <p:sp>
        <p:nvSpPr>
          <p:cNvPr id="80" name="Text 78"/>
          <p:cNvSpPr/>
          <p:nvPr/>
        </p:nvSpPr>
        <p:spPr>
          <a:xfrm>
            <a:off x="3017520" y="4831080"/>
            <a:ext cx="374904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파지 성공률 및 retry 검증</a:t>
            </a:r>
            <a:endParaRPr lang="en-US" sz="1020" dirty="0"/>
          </a:p>
        </p:txBody>
      </p:sp>
      <p:sp>
        <p:nvSpPr>
          <p:cNvPr id="81" name="Text 79"/>
          <p:cNvSpPr/>
          <p:nvPr/>
        </p:nvSpPr>
        <p:spPr>
          <a:xfrm>
            <a:off x="6858000" y="4831080"/>
            <a:ext cx="105156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N회</a:t>
            </a:r>
            <a:endParaRPr lang="en-US" sz="1020" dirty="0"/>
          </a:p>
        </p:txBody>
      </p:sp>
      <p:sp>
        <p:nvSpPr>
          <p:cNvPr id="82" name="Text 80"/>
          <p:cNvSpPr/>
          <p:nvPr/>
        </p:nvSpPr>
        <p:spPr>
          <a:xfrm>
            <a:off x="8001000" y="4831080"/>
            <a:ext cx="3611880" cy="307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success/attempt</a:t>
            </a:r>
            <a:endParaRPr lang="en-US" sz="1020" dirty="0"/>
          </a:p>
        </p:txBody>
      </p:sp>
      <p:sp>
        <p:nvSpPr>
          <p:cNvPr id="83" name="Shape 81"/>
          <p:cNvSpPr/>
          <p:nvPr/>
        </p:nvSpPr>
        <p:spPr>
          <a:xfrm>
            <a:off x="2971800" y="1325880"/>
            <a:ext cx="0" cy="38404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812280" y="1325880"/>
            <a:ext cx="0" cy="38404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955280" y="1325880"/>
            <a:ext cx="0" cy="3840480"/>
          </a:xfrm>
          <a:prstGeom prst="line">
            <a:avLst/>
          </a:prstGeom>
          <a:noFill/>
          <a:ln w="4445">
            <a:solidFill>
              <a:srgbClr val="BFBFB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4360" y="132588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94360" y="5166360"/>
            <a:ext cx="11064240" cy="0"/>
          </a:xfrm>
          <a:prstGeom prst="line">
            <a:avLst/>
          </a:prstGeom>
          <a:noFill/>
          <a:ln w="7620">
            <a:solidFill>
              <a:srgbClr val="BFBFB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94360" y="54406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16161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rosbag 권장 토픽</a:t>
            </a:r>
            <a:endParaRPr lang="en-US" sz="1180" dirty="0"/>
          </a:p>
        </p:txBody>
      </p:sp>
      <p:sp>
        <p:nvSpPr>
          <p:cNvPr id="89" name="Shape 87"/>
          <p:cNvSpPr/>
          <p:nvPr/>
        </p:nvSpPr>
        <p:spPr>
          <a:xfrm>
            <a:off x="594360" y="5769864"/>
            <a:ext cx="1106424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4360" y="5879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ros2 bag record /cmd_vel_nav /cmd_vel /odometry/filtered /amcl_pose /tf /scan /plan /debug/nav_status /nav_status /brain_status /aruco_align_status /aruco_align_done /aruco_align/debug_json /observe_ready /observe_pose /box_pose /distance_status /pick_status /arm_status /wms_update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2764</Words>
  <Application>Microsoft Office PowerPoint</Application>
  <PresentationFormat>와이드스크린</PresentationFormat>
  <Paragraphs>654</Paragraphs>
  <Slides>21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Noto Sans CJK KR</vt:lpstr>
      <vt:lpstr>맑은 고딕</vt:lpstr>
      <vt:lpstr>Arial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LogiFlow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ROS2_AGV로봇팔_최종발표_내용정리본</dc:title>
  <dc:subject>ROS2 AGV Arm Final Presentation Content Pack</dc:subject>
  <dc:creator>OpenAI</dc:creator>
  <cp:lastModifiedBy>김윤정</cp:lastModifiedBy>
  <cp:revision>196</cp:revision>
  <dcterms:created xsi:type="dcterms:W3CDTF">2026-07-10T02:06:54Z</dcterms:created>
  <dcterms:modified xsi:type="dcterms:W3CDTF">2026-07-11T05:11:49Z</dcterms:modified>
</cp:coreProperties>
</file>