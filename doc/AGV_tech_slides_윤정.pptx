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2" r:id="rId2"/>
    <p:sldId id="261" r:id="rId3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B486"/>
    <a:srgbClr val="122738"/>
    <a:srgbClr val="091925"/>
    <a:srgbClr val="2D9CDB"/>
    <a:srgbClr val="EB5757"/>
    <a:srgbClr val="F2994A"/>
    <a:srgbClr val="2F80ED"/>
    <a:srgbClr val="D5AF8E"/>
    <a:srgbClr val="6C63FF"/>
    <a:srgbClr val="1EAD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07" autoAdjust="0"/>
    <p:restoredTop sz="92497" autoAdjust="0"/>
  </p:normalViewPr>
  <p:slideViewPr>
    <p:cSldViewPr snapToGrid="0" snapToObjects="1">
      <p:cViewPr>
        <p:scale>
          <a:sx n="75" d="100"/>
          <a:sy n="75" d="100"/>
        </p:scale>
        <p:origin x="1578" y="21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65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04800" y="2032000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914400" y="7823200"/>
            <a:ext cx="7315200" cy="64008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CORNER / TURN_180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에서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odom yaw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기반 처리</a:t>
            </a:r>
            <a:endParaRPr lang="en-US" altLang="ko-KR" sz="1200" b="0" smtClean="0">
              <a:solidFill>
                <a:schemeClr val="bg2"/>
              </a:solidFill>
              <a:latin typeface="Malgun Gothic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일반 추종은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angular.z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대신 </a:t>
            </a:r>
            <a:r>
              <a:rPr lang="en-US" altLang="ko-KR" sz="1200" b="0" smtClean="0">
                <a:solidFill>
                  <a:schemeClr val="bg2"/>
                </a:solidFill>
                <a:latin typeface="Malgun Gothic"/>
              </a:rPr>
              <a:t>mecanum linear.y </a:t>
            </a:r>
            <a:r>
              <a:rPr lang="ko-KR" altLang="en-US" sz="1200" b="0" smtClean="0">
                <a:solidFill>
                  <a:schemeClr val="bg2"/>
                </a:solidFill>
                <a:latin typeface="Malgun Gothic"/>
              </a:rPr>
              <a:t>보정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0" smtClean="0">
              <a:solidFill>
                <a:schemeClr val="bg2"/>
              </a:solidFill>
              <a:latin typeface="Malgun Gothic"/>
            </a:endParaRP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11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smtClean="0">
                <a:solidFill>
                  <a:srgbClr val="2C4A4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해석: safety filter는 순간 cmd_vel을 그대로 추종시키는 것이 아니라, myAGV 하위 구동계의 angular deadzone을 고려해 effective command로 변환하여 odom peak와 RMS error를 낮춘다.</a:t>
            </a:r>
            <a:endParaRPr lang="en-US" altLang="ko-KR" sz="120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8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 userDrawn="1"/>
        </p:nvSpPr>
        <p:spPr>
          <a:xfrm>
            <a:off x="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 userDrawn="1"/>
        </p:nvSpPr>
        <p:spPr>
          <a:xfrm>
            <a:off x="228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 userDrawn="1"/>
        </p:nvSpPr>
        <p:spPr>
          <a:xfrm>
            <a:off x="476758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 userDrawn="1"/>
        </p:nvSpPr>
        <p:spPr>
          <a:xfrm>
            <a:off x="685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 userDrawn="1"/>
        </p:nvSpPr>
        <p:spPr>
          <a:xfrm>
            <a:off x="914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 userDrawn="1"/>
        </p:nvSpPr>
        <p:spPr>
          <a:xfrm>
            <a:off x="1143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 userDrawn="1"/>
        </p:nvSpPr>
        <p:spPr>
          <a:xfrm>
            <a:off x="1371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 userDrawn="1"/>
        </p:nvSpPr>
        <p:spPr>
          <a:xfrm>
            <a:off x="1600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 userDrawn="1"/>
        </p:nvSpPr>
        <p:spPr>
          <a:xfrm>
            <a:off x="1828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 userDrawn="1"/>
        </p:nvSpPr>
        <p:spPr>
          <a:xfrm>
            <a:off x="2057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 userDrawn="1"/>
        </p:nvSpPr>
        <p:spPr>
          <a:xfrm>
            <a:off x="2286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 userDrawn="1"/>
        </p:nvSpPr>
        <p:spPr>
          <a:xfrm>
            <a:off x="2514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 userDrawn="1"/>
        </p:nvSpPr>
        <p:spPr>
          <a:xfrm>
            <a:off x="2743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 userDrawn="1"/>
        </p:nvSpPr>
        <p:spPr>
          <a:xfrm>
            <a:off x="2971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 userDrawn="1"/>
        </p:nvSpPr>
        <p:spPr>
          <a:xfrm>
            <a:off x="3200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 userDrawn="1"/>
        </p:nvSpPr>
        <p:spPr>
          <a:xfrm>
            <a:off x="3429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 userDrawn="1"/>
        </p:nvSpPr>
        <p:spPr>
          <a:xfrm>
            <a:off x="3657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 userDrawn="1"/>
        </p:nvSpPr>
        <p:spPr>
          <a:xfrm>
            <a:off x="3886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 userDrawn="1"/>
        </p:nvSpPr>
        <p:spPr>
          <a:xfrm>
            <a:off x="4114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 userDrawn="1"/>
        </p:nvSpPr>
        <p:spPr>
          <a:xfrm>
            <a:off x="4343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 userDrawn="1"/>
        </p:nvSpPr>
        <p:spPr>
          <a:xfrm>
            <a:off x="4572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 userDrawn="1"/>
        </p:nvSpPr>
        <p:spPr>
          <a:xfrm>
            <a:off x="4800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 userDrawn="1"/>
        </p:nvSpPr>
        <p:spPr>
          <a:xfrm>
            <a:off x="5029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 userDrawn="1"/>
        </p:nvSpPr>
        <p:spPr>
          <a:xfrm>
            <a:off x="5257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 userDrawn="1"/>
        </p:nvSpPr>
        <p:spPr>
          <a:xfrm>
            <a:off x="5486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 userDrawn="1"/>
        </p:nvSpPr>
        <p:spPr>
          <a:xfrm>
            <a:off x="5715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 userDrawn="1"/>
        </p:nvSpPr>
        <p:spPr>
          <a:xfrm>
            <a:off x="5943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 userDrawn="1"/>
        </p:nvSpPr>
        <p:spPr>
          <a:xfrm>
            <a:off x="6172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 userDrawn="1"/>
        </p:nvSpPr>
        <p:spPr>
          <a:xfrm>
            <a:off x="6400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 userDrawn="1"/>
        </p:nvSpPr>
        <p:spPr>
          <a:xfrm>
            <a:off x="6629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 userDrawn="1"/>
        </p:nvSpPr>
        <p:spPr>
          <a:xfrm>
            <a:off x="6858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 userDrawn="1"/>
        </p:nvSpPr>
        <p:spPr>
          <a:xfrm>
            <a:off x="7086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 userDrawn="1"/>
        </p:nvSpPr>
        <p:spPr>
          <a:xfrm>
            <a:off x="7315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 userDrawn="1"/>
        </p:nvSpPr>
        <p:spPr>
          <a:xfrm>
            <a:off x="7543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 userDrawn="1"/>
        </p:nvSpPr>
        <p:spPr>
          <a:xfrm>
            <a:off x="7772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 userDrawn="1"/>
        </p:nvSpPr>
        <p:spPr>
          <a:xfrm>
            <a:off x="8001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 userDrawn="1"/>
        </p:nvSpPr>
        <p:spPr>
          <a:xfrm>
            <a:off x="8229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 userDrawn="1"/>
        </p:nvSpPr>
        <p:spPr>
          <a:xfrm>
            <a:off x="8458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 userDrawn="1"/>
        </p:nvSpPr>
        <p:spPr>
          <a:xfrm>
            <a:off x="8686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 userDrawn="1"/>
        </p:nvSpPr>
        <p:spPr>
          <a:xfrm>
            <a:off x="8915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 userDrawn="1"/>
        </p:nvSpPr>
        <p:spPr>
          <a:xfrm>
            <a:off x="9144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 userDrawn="1"/>
        </p:nvSpPr>
        <p:spPr>
          <a:xfrm>
            <a:off x="9372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 userDrawn="1"/>
        </p:nvSpPr>
        <p:spPr>
          <a:xfrm>
            <a:off x="9601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 userDrawn="1"/>
        </p:nvSpPr>
        <p:spPr>
          <a:xfrm>
            <a:off x="9829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 userDrawn="1"/>
        </p:nvSpPr>
        <p:spPr>
          <a:xfrm>
            <a:off x="10058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 userDrawn="1"/>
        </p:nvSpPr>
        <p:spPr>
          <a:xfrm>
            <a:off x="10287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 userDrawn="1"/>
        </p:nvSpPr>
        <p:spPr>
          <a:xfrm>
            <a:off x="10515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 userDrawn="1"/>
        </p:nvSpPr>
        <p:spPr>
          <a:xfrm>
            <a:off x="10744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0" name="Shape 48"/>
          <p:cNvSpPr/>
          <p:nvPr userDrawn="1"/>
        </p:nvSpPr>
        <p:spPr>
          <a:xfrm>
            <a:off x="10972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 userDrawn="1"/>
        </p:nvSpPr>
        <p:spPr>
          <a:xfrm>
            <a:off x="11201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 userDrawn="1"/>
        </p:nvSpPr>
        <p:spPr>
          <a:xfrm>
            <a:off x="11430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 userDrawn="1"/>
        </p:nvSpPr>
        <p:spPr>
          <a:xfrm>
            <a:off x="11658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 userDrawn="1"/>
        </p:nvSpPr>
        <p:spPr>
          <a:xfrm>
            <a:off x="11887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 userDrawn="1"/>
        </p:nvSpPr>
        <p:spPr>
          <a:xfrm>
            <a:off x="12115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6" name="Shape 54"/>
          <p:cNvSpPr/>
          <p:nvPr userDrawn="1"/>
        </p:nvSpPr>
        <p:spPr>
          <a:xfrm>
            <a:off x="12344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 userDrawn="1"/>
        </p:nvSpPr>
        <p:spPr>
          <a:xfrm>
            <a:off x="12573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58" name="Shape 56"/>
          <p:cNvSpPr/>
          <p:nvPr userDrawn="1"/>
        </p:nvSpPr>
        <p:spPr>
          <a:xfrm>
            <a:off x="12801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 userDrawn="1"/>
        </p:nvSpPr>
        <p:spPr>
          <a:xfrm>
            <a:off x="13030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 userDrawn="1"/>
        </p:nvSpPr>
        <p:spPr>
          <a:xfrm>
            <a:off x="13258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1" name="Shape 59"/>
          <p:cNvSpPr/>
          <p:nvPr userDrawn="1"/>
        </p:nvSpPr>
        <p:spPr>
          <a:xfrm>
            <a:off x="13487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2" name="Shape 60"/>
          <p:cNvSpPr/>
          <p:nvPr userDrawn="1"/>
        </p:nvSpPr>
        <p:spPr>
          <a:xfrm>
            <a:off x="13716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3" name="Shape 61"/>
          <p:cNvSpPr/>
          <p:nvPr userDrawn="1"/>
        </p:nvSpPr>
        <p:spPr>
          <a:xfrm>
            <a:off x="139446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4" name="Shape 62"/>
          <p:cNvSpPr/>
          <p:nvPr userDrawn="1"/>
        </p:nvSpPr>
        <p:spPr>
          <a:xfrm>
            <a:off x="141732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5" name="Shape 63"/>
          <p:cNvSpPr/>
          <p:nvPr userDrawn="1"/>
        </p:nvSpPr>
        <p:spPr>
          <a:xfrm>
            <a:off x="144018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6" name="Shape 64"/>
          <p:cNvSpPr/>
          <p:nvPr userDrawn="1"/>
        </p:nvSpPr>
        <p:spPr>
          <a:xfrm>
            <a:off x="146304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 userDrawn="1"/>
        </p:nvSpPr>
        <p:spPr>
          <a:xfrm>
            <a:off x="148590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 userDrawn="1"/>
        </p:nvSpPr>
        <p:spPr>
          <a:xfrm>
            <a:off x="150876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69" name="Shape 67"/>
          <p:cNvSpPr/>
          <p:nvPr userDrawn="1"/>
        </p:nvSpPr>
        <p:spPr>
          <a:xfrm>
            <a:off x="153162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0" name="Shape 68"/>
          <p:cNvSpPr/>
          <p:nvPr userDrawn="1"/>
        </p:nvSpPr>
        <p:spPr>
          <a:xfrm>
            <a:off x="155448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1" name="Shape 69"/>
          <p:cNvSpPr/>
          <p:nvPr userDrawn="1"/>
        </p:nvSpPr>
        <p:spPr>
          <a:xfrm>
            <a:off x="15773400" y="0"/>
            <a:ext cx="0" cy="914400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 userDrawn="1"/>
        </p:nvSpPr>
        <p:spPr>
          <a:xfrm>
            <a:off x="16002000" y="0"/>
            <a:ext cx="0" cy="914400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3" name="Shape 71"/>
          <p:cNvSpPr/>
          <p:nvPr userDrawn="1"/>
        </p:nvSpPr>
        <p:spPr>
          <a:xfrm>
            <a:off x="0" y="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4" name="Shape 72"/>
          <p:cNvSpPr/>
          <p:nvPr userDrawn="1"/>
        </p:nvSpPr>
        <p:spPr>
          <a:xfrm>
            <a:off x="0" y="2286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 userDrawn="1"/>
        </p:nvSpPr>
        <p:spPr>
          <a:xfrm>
            <a:off x="0" y="4572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6" name="Shape 74"/>
          <p:cNvSpPr/>
          <p:nvPr userDrawn="1"/>
        </p:nvSpPr>
        <p:spPr>
          <a:xfrm>
            <a:off x="0" y="6858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7" name="Shape 75"/>
          <p:cNvSpPr/>
          <p:nvPr userDrawn="1"/>
        </p:nvSpPr>
        <p:spPr>
          <a:xfrm>
            <a:off x="0" y="9144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78" name="Shape 76"/>
          <p:cNvSpPr/>
          <p:nvPr userDrawn="1"/>
        </p:nvSpPr>
        <p:spPr>
          <a:xfrm>
            <a:off x="0" y="11430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79" name="Shape 77"/>
          <p:cNvSpPr/>
          <p:nvPr userDrawn="1"/>
        </p:nvSpPr>
        <p:spPr>
          <a:xfrm>
            <a:off x="0" y="13716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0" name="Shape 78"/>
          <p:cNvSpPr/>
          <p:nvPr userDrawn="1"/>
        </p:nvSpPr>
        <p:spPr>
          <a:xfrm>
            <a:off x="0" y="16002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1" name="Shape 79"/>
          <p:cNvSpPr/>
          <p:nvPr userDrawn="1"/>
        </p:nvSpPr>
        <p:spPr>
          <a:xfrm>
            <a:off x="0" y="18288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2" name="Shape 80"/>
          <p:cNvSpPr/>
          <p:nvPr userDrawn="1"/>
        </p:nvSpPr>
        <p:spPr>
          <a:xfrm>
            <a:off x="0" y="20574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3" name="Shape 81"/>
          <p:cNvSpPr/>
          <p:nvPr userDrawn="1"/>
        </p:nvSpPr>
        <p:spPr>
          <a:xfrm>
            <a:off x="0" y="22860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4" name="Shape 82"/>
          <p:cNvSpPr/>
          <p:nvPr userDrawn="1"/>
        </p:nvSpPr>
        <p:spPr>
          <a:xfrm>
            <a:off x="0" y="25146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5" name="Shape 83"/>
          <p:cNvSpPr/>
          <p:nvPr userDrawn="1"/>
        </p:nvSpPr>
        <p:spPr>
          <a:xfrm>
            <a:off x="0" y="27432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6" name="Shape 84"/>
          <p:cNvSpPr/>
          <p:nvPr userDrawn="1"/>
        </p:nvSpPr>
        <p:spPr>
          <a:xfrm>
            <a:off x="0" y="29718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7" name="Shape 85"/>
          <p:cNvSpPr/>
          <p:nvPr userDrawn="1"/>
        </p:nvSpPr>
        <p:spPr>
          <a:xfrm>
            <a:off x="0" y="32004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88" name="Shape 86"/>
          <p:cNvSpPr/>
          <p:nvPr userDrawn="1"/>
        </p:nvSpPr>
        <p:spPr>
          <a:xfrm>
            <a:off x="0" y="34290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89" name="Shape 87"/>
          <p:cNvSpPr/>
          <p:nvPr userDrawn="1"/>
        </p:nvSpPr>
        <p:spPr>
          <a:xfrm>
            <a:off x="0" y="36576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0" name="Shape 88"/>
          <p:cNvSpPr/>
          <p:nvPr userDrawn="1"/>
        </p:nvSpPr>
        <p:spPr>
          <a:xfrm>
            <a:off x="0" y="38862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1" name="Shape 89"/>
          <p:cNvSpPr/>
          <p:nvPr userDrawn="1"/>
        </p:nvSpPr>
        <p:spPr>
          <a:xfrm>
            <a:off x="0" y="41148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2" name="Shape 90"/>
          <p:cNvSpPr/>
          <p:nvPr userDrawn="1"/>
        </p:nvSpPr>
        <p:spPr>
          <a:xfrm>
            <a:off x="0" y="43434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3" name="Shape 91"/>
          <p:cNvSpPr/>
          <p:nvPr userDrawn="1"/>
        </p:nvSpPr>
        <p:spPr>
          <a:xfrm>
            <a:off x="0" y="45720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4" name="Shape 92"/>
          <p:cNvSpPr/>
          <p:nvPr userDrawn="1"/>
        </p:nvSpPr>
        <p:spPr>
          <a:xfrm>
            <a:off x="0" y="48006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5" name="Shape 93"/>
          <p:cNvSpPr/>
          <p:nvPr userDrawn="1"/>
        </p:nvSpPr>
        <p:spPr>
          <a:xfrm>
            <a:off x="0" y="50292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6" name="Shape 94"/>
          <p:cNvSpPr/>
          <p:nvPr userDrawn="1"/>
        </p:nvSpPr>
        <p:spPr>
          <a:xfrm>
            <a:off x="0" y="52578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7" name="Shape 95"/>
          <p:cNvSpPr/>
          <p:nvPr userDrawn="1"/>
        </p:nvSpPr>
        <p:spPr>
          <a:xfrm>
            <a:off x="0" y="54864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98" name="Shape 96"/>
          <p:cNvSpPr/>
          <p:nvPr userDrawn="1"/>
        </p:nvSpPr>
        <p:spPr>
          <a:xfrm>
            <a:off x="0" y="57150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99" name="Shape 97"/>
          <p:cNvSpPr/>
          <p:nvPr userDrawn="1"/>
        </p:nvSpPr>
        <p:spPr>
          <a:xfrm>
            <a:off x="0" y="59436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0" name="Shape 98"/>
          <p:cNvSpPr/>
          <p:nvPr userDrawn="1"/>
        </p:nvSpPr>
        <p:spPr>
          <a:xfrm>
            <a:off x="0" y="61722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1" name="Shape 99"/>
          <p:cNvSpPr/>
          <p:nvPr userDrawn="1"/>
        </p:nvSpPr>
        <p:spPr>
          <a:xfrm>
            <a:off x="0" y="64008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2" name="Shape 100"/>
          <p:cNvSpPr/>
          <p:nvPr userDrawn="1"/>
        </p:nvSpPr>
        <p:spPr>
          <a:xfrm>
            <a:off x="0" y="66294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3" name="Shape 101"/>
          <p:cNvSpPr/>
          <p:nvPr userDrawn="1"/>
        </p:nvSpPr>
        <p:spPr>
          <a:xfrm>
            <a:off x="0" y="68580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4" name="Shape 102"/>
          <p:cNvSpPr/>
          <p:nvPr userDrawn="1"/>
        </p:nvSpPr>
        <p:spPr>
          <a:xfrm>
            <a:off x="0" y="70866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5" name="Shape 103"/>
          <p:cNvSpPr/>
          <p:nvPr userDrawn="1"/>
        </p:nvSpPr>
        <p:spPr>
          <a:xfrm>
            <a:off x="0" y="73152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6" name="Shape 104"/>
          <p:cNvSpPr/>
          <p:nvPr userDrawn="1"/>
        </p:nvSpPr>
        <p:spPr>
          <a:xfrm>
            <a:off x="0" y="75438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7" name="Shape 105"/>
          <p:cNvSpPr/>
          <p:nvPr userDrawn="1"/>
        </p:nvSpPr>
        <p:spPr>
          <a:xfrm>
            <a:off x="0" y="77724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08" name="Shape 106"/>
          <p:cNvSpPr/>
          <p:nvPr userDrawn="1"/>
        </p:nvSpPr>
        <p:spPr>
          <a:xfrm>
            <a:off x="0" y="80010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09" name="Shape 107"/>
          <p:cNvSpPr/>
          <p:nvPr userDrawn="1"/>
        </p:nvSpPr>
        <p:spPr>
          <a:xfrm>
            <a:off x="0" y="82296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10" name="Shape 108"/>
          <p:cNvSpPr/>
          <p:nvPr userDrawn="1"/>
        </p:nvSpPr>
        <p:spPr>
          <a:xfrm>
            <a:off x="0" y="84582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11" name="Shape 109"/>
          <p:cNvSpPr/>
          <p:nvPr userDrawn="1"/>
        </p:nvSpPr>
        <p:spPr>
          <a:xfrm>
            <a:off x="0" y="8686800"/>
            <a:ext cx="16002000" cy="0"/>
          </a:xfrm>
          <a:prstGeom prst="line">
            <a:avLst/>
          </a:prstGeom>
          <a:noFill/>
          <a:ln w="4445">
            <a:solidFill>
              <a:srgbClr val="DCE4ED">
                <a:alpha val="45000"/>
              </a:srgbClr>
            </a:solidFill>
            <a:prstDash val="solid"/>
          </a:ln>
        </p:spPr>
      </p:sp>
      <p:sp>
        <p:nvSpPr>
          <p:cNvPr id="112" name="Shape 110"/>
          <p:cNvSpPr/>
          <p:nvPr userDrawn="1"/>
        </p:nvSpPr>
        <p:spPr>
          <a:xfrm>
            <a:off x="0" y="8915400"/>
            <a:ext cx="16002000" cy="0"/>
          </a:xfrm>
          <a:prstGeom prst="line">
            <a:avLst/>
          </a:prstGeom>
          <a:noFill/>
          <a:ln w="4445">
            <a:solidFill>
              <a:srgbClr val="EEF2F6">
                <a:alpha val="45000"/>
              </a:srgbClr>
            </a:solidFill>
            <a:prstDash val="solid"/>
          </a:ln>
        </p:spPr>
      </p:sp>
      <p:sp>
        <p:nvSpPr>
          <p:cNvPr id="113" name="Shape 187"/>
          <p:cNvSpPr/>
          <p:nvPr userDrawn="1"/>
        </p:nvSpPr>
        <p:spPr>
          <a:xfrm>
            <a:off x="502920" y="8659368"/>
            <a:ext cx="15270480" cy="0"/>
          </a:xfrm>
          <a:prstGeom prst="line">
            <a:avLst/>
          </a:prstGeom>
          <a:noFill/>
          <a:ln w="7620">
            <a:solidFill>
              <a:srgbClr val="D3DDE8"/>
            </a:solidFill>
            <a:prstDash val="solid"/>
          </a:ln>
        </p:spPr>
      </p:sp>
      <p:sp>
        <p:nvSpPr>
          <p:cNvPr id="114" name="Text 188"/>
          <p:cNvSpPr/>
          <p:nvPr userDrawn="1"/>
        </p:nvSpPr>
        <p:spPr>
          <a:xfrm>
            <a:off x="530352" y="8759952"/>
            <a:ext cx="1389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6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AGV-로봇암 협업 지능형 물류 자동화 시스템</a:t>
            </a:r>
            <a:endParaRPr lang="en-US" sz="750" dirty="0"/>
          </a:p>
        </p:txBody>
      </p:sp>
      <p:sp>
        <p:nvSpPr>
          <p:cNvPr id="115" name="Text 189"/>
          <p:cNvSpPr/>
          <p:nvPr userDrawn="1"/>
        </p:nvSpPr>
        <p:spPr>
          <a:xfrm>
            <a:off x="14676120" y="87599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5C6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LogiFlow</a:t>
            </a:r>
            <a:endParaRPr lang="en-US" sz="7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12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ounded Rectangle 314"/>
          <p:cNvSpPr/>
          <p:nvPr/>
        </p:nvSpPr>
        <p:spPr>
          <a:xfrm>
            <a:off x="412582" y="6550974"/>
            <a:ext cx="13039935" cy="2258920"/>
          </a:xfrm>
          <a:prstGeom prst="roundRect">
            <a:avLst/>
          </a:prstGeom>
          <a:solidFill>
            <a:srgbClr val="122738"/>
          </a:solidFill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11"/>
          <p:cNvSpPr/>
          <p:nvPr/>
        </p:nvSpPr>
        <p:spPr>
          <a:xfrm>
            <a:off x="521208" y="274952"/>
            <a:ext cx="12079670" cy="63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</a:t>
            </a:r>
            <a:r>
              <a:rPr lang="en-US" sz="3200" b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</a:t>
            </a:r>
            <a:r>
              <a:rPr lang="en-US" sz="3200" b="1" smtClean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</a:t>
            </a:r>
            <a:r>
              <a:rPr lang="ko-KR" altLang="en-US" sz="3200" b="1" smtClean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3200" b="1" smtClean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200" b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lang="ko-KR" altLang="en-US" sz="3200" b="1" smtClean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상태 전이 알고리즘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51593" y="1299837"/>
            <a:ext cx="6163287" cy="4364205"/>
            <a:chOff x="151593" y="1177176"/>
            <a:chExt cx="6163287" cy="4364205"/>
          </a:xfrm>
        </p:grpSpPr>
        <p:grpSp>
          <p:nvGrpSpPr>
            <p:cNvPr id="6" name="그룹 5"/>
            <p:cNvGrpSpPr/>
            <p:nvPr/>
          </p:nvGrpSpPr>
          <p:grpSpPr>
            <a:xfrm>
              <a:off x="412582" y="1339623"/>
              <a:ext cx="5902298" cy="4201758"/>
              <a:chOff x="251460" y="1649528"/>
              <a:chExt cx="5902298" cy="4201758"/>
            </a:xfrm>
          </p:grpSpPr>
          <p:sp>
            <p:nvSpPr>
              <p:cNvPr id="10" name="Shape 119"/>
              <p:cNvSpPr/>
              <p:nvPr/>
            </p:nvSpPr>
            <p:spPr>
              <a:xfrm>
                <a:off x="251460" y="1649528"/>
                <a:ext cx="5880606" cy="4201758"/>
              </a:xfrm>
              <a:prstGeom prst="roundRect">
                <a:avLst>
                  <a:gd name="adj" fmla="val 1724"/>
                </a:avLst>
              </a:prstGeom>
              <a:solidFill>
                <a:srgbClr val="122738"/>
              </a:solidFill>
              <a:ln w="19050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</p:sp>
          <p:sp>
            <p:nvSpPr>
              <p:cNvPr id="11" name="Shape 120"/>
              <p:cNvSpPr/>
              <p:nvPr/>
            </p:nvSpPr>
            <p:spPr>
              <a:xfrm>
                <a:off x="1440180" y="2281428"/>
                <a:ext cx="822960" cy="0"/>
              </a:xfrm>
              <a:prstGeom prst="line">
                <a:avLst/>
              </a:prstGeom>
              <a:noFill/>
              <a:ln w="17780">
                <a:solidFill>
                  <a:srgbClr val="2D9CDB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2" name="Shape 121"/>
              <p:cNvSpPr/>
              <p:nvPr/>
            </p:nvSpPr>
            <p:spPr>
              <a:xfrm>
                <a:off x="3568954" y="2295144"/>
                <a:ext cx="749808" cy="0"/>
              </a:xfrm>
              <a:prstGeom prst="line">
                <a:avLst/>
              </a:prstGeom>
              <a:noFill/>
              <a:ln w="17780">
                <a:solidFill>
                  <a:srgbClr val="1EAD7C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3" name="Shape 122"/>
              <p:cNvSpPr/>
              <p:nvPr/>
            </p:nvSpPr>
            <p:spPr>
              <a:xfrm>
                <a:off x="3053810" y="2745783"/>
                <a:ext cx="0" cy="585216"/>
              </a:xfrm>
              <a:prstGeom prst="line">
                <a:avLst/>
              </a:prstGeom>
              <a:noFill/>
              <a:ln w="17780">
                <a:solidFill>
                  <a:srgbClr val="1EAD7C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4" name="Shape 123"/>
              <p:cNvSpPr/>
              <p:nvPr/>
            </p:nvSpPr>
            <p:spPr>
              <a:xfrm>
                <a:off x="3058263" y="4179648"/>
                <a:ext cx="0" cy="701708"/>
              </a:xfrm>
              <a:prstGeom prst="line">
                <a:avLst/>
              </a:prstGeom>
              <a:noFill/>
              <a:ln w="17780">
                <a:solidFill>
                  <a:srgbClr val="1EAD7C"/>
                </a:solidFill>
                <a:prstDash val="solid"/>
                <a:headEnd type="none"/>
                <a:tailEnd type="triangle"/>
              </a:ln>
            </p:spPr>
          </p:sp>
          <p:sp>
            <p:nvSpPr>
              <p:cNvPr id="15" name="Shape 124"/>
              <p:cNvSpPr/>
              <p:nvPr/>
            </p:nvSpPr>
            <p:spPr>
              <a:xfrm>
                <a:off x="3814620" y="3775432"/>
                <a:ext cx="731520" cy="0"/>
              </a:xfrm>
              <a:prstGeom prst="line">
                <a:avLst/>
              </a:prstGeom>
              <a:noFill/>
              <a:ln w="17780">
                <a:solidFill>
                  <a:srgbClr val="F2994A"/>
                </a:solidFill>
                <a:prstDash val="solid"/>
                <a:headEnd type="none"/>
                <a:tailEnd type="triangle"/>
              </a:ln>
            </p:spPr>
          </p:sp>
          <p:grpSp>
            <p:nvGrpSpPr>
              <p:cNvPr id="16" name="그룹 15"/>
              <p:cNvGrpSpPr/>
              <p:nvPr/>
            </p:nvGrpSpPr>
            <p:grpSpPr>
              <a:xfrm>
                <a:off x="461773" y="1885665"/>
                <a:ext cx="1161287" cy="724186"/>
                <a:chOff x="461773" y="1885665"/>
                <a:chExt cx="1161287" cy="724186"/>
              </a:xfrm>
            </p:grpSpPr>
            <p:sp>
              <p:nvSpPr>
                <p:cNvPr id="59" name="Shape 125"/>
                <p:cNvSpPr/>
                <p:nvPr/>
              </p:nvSpPr>
              <p:spPr>
                <a:xfrm>
                  <a:off x="480060" y="1892808"/>
                  <a:ext cx="1143000" cy="70751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60" name="Shape 126"/>
                <p:cNvSpPr/>
                <p:nvPr/>
              </p:nvSpPr>
              <p:spPr>
                <a:xfrm>
                  <a:off x="461773" y="1885665"/>
                  <a:ext cx="82295" cy="724186"/>
                </a:xfrm>
                <a:prstGeom prst="rect">
                  <a:avLst/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17" name="Text 127"/>
              <p:cNvSpPr/>
              <p:nvPr/>
            </p:nvSpPr>
            <p:spPr>
              <a:xfrm>
                <a:off x="600807" y="1979422"/>
                <a:ext cx="82296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RGB-D</a:t>
                </a:r>
                <a:endParaRPr lang="en-US" sz="1050" dirty="0"/>
              </a:p>
            </p:txBody>
          </p:sp>
          <p:sp>
            <p:nvSpPr>
              <p:cNvPr id="18" name="Text 128"/>
              <p:cNvSpPr/>
              <p:nvPr/>
            </p:nvSpPr>
            <p:spPr>
              <a:xfrm>
                <a:off x="606392" y="2227957"/>
                <a:ext cx="822960" cy="310896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RealSense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 b="1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color</a:t>
                </a: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 + </a:t>
                </a:r>
                <a:r>
                  <a:rPr lang="en-US" sz="900" b="1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depth</a:t>
                </a:r>
                <a:endParaRPr lang="en-US" sz="900" b="1" dirty="0"/>
              </a:p>
            </p:txBody>
          </p:sp>
          <p:grpSp>
            <p:nvGrpSpPr>
              <p:cNvPr id="19" name="그룹 18"/>
              <p:cNvGrpSpPr/>
              <p:nvPr/>
            </p:nvGrpSpPr>
            <p:grpSpPr>
              <a:xfrm>
                <a:off x="1664207" y="1997964"/>
                <a:ext cx="502920" cy="237744"/>
                <a:chOff x="1687068" y="2139696"/>
                <a:chExt cx="502920" cy="237744"/>
              </a:xfrm>
            </p:grpSpPr>
            <p:sp>
              <p:nvSpPr>
                <p:cNvPr id="57" name="Shape 149"/>
                <p:cNvSpPr/>
                <p:nvPr/>
              </p:nvSpPr>
              <p:spPr>
                <a:xfrm>
                  <a:off x="1687068" y="2139696"/>
                  <a:ext cx="502920" cy="237744"/>
                </a:xfrm>
                <a:prstGeom prst="roundRect">
                  <a:avLst>
                    <a:gd name="adj" fmla="val 46154"/>
                  </a:avLst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58" name="Text 150"/>
                <p:cNvSpPr/>
                <p:nvPr/>
              </p:nvSpPr>
              <p:spPr>
                <a:xfrm>
                  <a:off x="1687068" y="2167128"/>
                  <a:ext cx="502920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680" b="1" dirty="0">
                      <a:solidFill>
                        <a:srgbClr val="FFFFFF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Image</a:t>
                  </a:r>
                  <a:endParaRPr lang="en-US" sz="680" dirty="0"/>
                </a:p>
              </p:txBody>
            </p:sp>
          </p:grpSp>
          <p:grpSp>
            <p:nvGrpSpPr>
              <p:cNvPr id="20" name="그룹 19"/>
              <p:cNvGrpSpPr/>
              <p:nvPr/>
            </p:nvGrpSpPr>
            <p:grpSpPr>
              <a:xfrm>
                <a:off x="2647410" y="2876196"/>
                <a:ext cx="783241" cy="237744"/>
                <a:chOff x="2647410" y="2876196"/>
                <a:chExt cx="783241" cy="237744"/>
              </a:xfrm>
            </p:grpSpPr>
            <p:sp>
              <p:nvSpPr>
                <p:cNvPr id="55" name="Shape 153"/>
                <p:cNvSpPr/>
                <p:nvPr/>
              </p:nvSpPr>
              <p:spPr>
                <a:xfrm>
                  <a:off x="2647410" y="2876196"/>
                  <a:ext cx="783241" cy="237744"/>
                </a:xfrm>
                <a:prstGeom prst="roundRect">
                  <a:avLst>
                    <a:gd name="adj" fmla="val 46154"/>
                  </a:avLst>
                </a:prstGeom>
                <a:solidFill>
                  <a:srgbClr val="F2994A"/>
                </a:solidFill>
                <a:ln w="12700">
                  <a:solidFill>
                    <a:srgbClr val="F2994A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56" name="Text 154"/>
                <p:cNvSpPr/>
                <p:nvPr/>
              </p:nvSpPr>
              <p:spPr>
                <a:xfrm>
                  <a:off x="2690211" y="2901263"/>
                  <a:ext cx="703387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680" b="1" dirty="0">
                      <a:solidFill>
                        <a:srgbClr val="FFFFFF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/cmd_vel_raw</a:t>
                  </a:r>
                  <a:endParaRPr lang="en-US" sz="680" dirty="0"/>
                </a:p>
              </p:txBody>
            </p:sp>
          </p:grpSp>
          <p:grpSp>
            <p:nvGrpSpPr>
              <p:cNvPr id="21" name="그룹 20"/>
              <p:cNvGrpSpPr/>
              <p:nvPr/>
            </p:nvGrpSpPr>
            <p:grpSpPr>
              <a:xfrm>
                <a:off x="2619351" y="4376007"/>
                <a:ext cx="877824" cy="237744"/>
                <a:chOff x="2601063" y="4459048"/>
                <a:chExt cx="877824" cy="237744"/>
              </a:xfrm>
            </p:grpSpPr>
            <p:sp>
              <p:nvSpPr>
                <p:cNvPr id="53" name="Shape 155"/>
                <p:cNvSpPr/>
                <p:nvPr/>
              </p:nvSpPr>
              <p:spPr>
                <a:xfrm>
                  <a:off x="2785603" y="4459048"/>
                  <a:ext cx="512921" cy="237744"/>
                </a:xfrm>
                <a:prstGeom prst="roundRect">
                  <a:avLst>
                    <a:gd name="adj" fmla="val 46154"/>
                  </a:avLst>
                </a:prstGeom>
                <a:solidFill>
                  <a:srgbClr val="EB5757"/>
                </a:solidFill>
                <a:ln w="12700">
                  <a:solidFill>
                    <a:srgbClr val="EB5757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54" name="Text 156"/>
                <p:cNvSpPr/>
                <p:nvPr/>
              </p:nvSpPr>
              <p:spPr>
                <a:xfrm>
                  <a:off x="2601063" y="4485544"/>
                  <a:ext cx="877824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680" b="1" dirty="0">
                      <a:solidFill>
                        <a:srgbClr val="FFFFFF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/cmd_vel</a:t>
                  </a:r>
                  <a:endParaRPr lang="en-US" sz="680" dirty="0"/>
                </a:p>
              </p:txBody>
            </p:sp>
          </p:grpSp>
          <p:grpSp>
            <p:nvGrpSpPr>
              <p:cNvPr id="22" name="그룹 21"/>
              <p:cNvGrpSpPr/>
              <p:nvPr/>
            </p:nvGrpSpPr>
            <p:grpSpPr>
              <a:xfrm>
                <a:off x="2259077" y="1898792"/>
                <a:ext cx="1530063" cy="860315"/>
                <a:chOff x="1277875" y="2297905"/>
                <a:chExt cx="1530063" cy="860315"/>
              </a:xfrm>
            </p:grpSpPr>
            <p:grpSp>
              <p:nvGrpSpPr>
                <p:cNvPr id="48" name="그룹 47"/>
                <p:cNvGrpSpPr/>
                <p:nvPr/>
              </p:nvGrpSpPr>
              <p:grpSpPr>
                <a:xfrm>
                  <a:off x="1277875" y="2297905"/>
                  <a:ext cx="1530063" cy="860315"/>
                  <a:chOff x="461773" y="1885664"/>
                  <a:chExt cx="1530063" cy="860315"/>
                </a:xfrm>
              </p:grpSpPr>
              <p:sp>
                <p:nvSpPr>
                  <p:cNvPr id="51" name="Shape 125"/>
                  <p:cNvSpPr/>
                  <p:nvPr/>
                </p:nvSpPr>
                <p:spPr>
                  <a:xfrm>
                    <a:off x="480060" y="1892808"/>
                    <a:ext cx="1511776" cy="840513"/>
                  </a:xfrm>
                  <a:prstGeom prst="roundRect">
                    <a:avLst>
                      <a:gd name="adj" fmla="val 8772"/>
                    </a:avLst>
                  </a:prstGeom>
                  <a:solidFill>
                    <a:srgbClr val="FFFFFF"/>
                  </a:solidFill>
                  <a:ln w="12700">
                    <a:noFill/>
                    <a:prstDash val="solid"/>
                  </a:ln>
                </p:spPr>
              </p:sp>
              <p:sp>
                <p:nvSpPr>
                  <p:cNvPr id="52" name="Shape 126"/>
                  <p:cNvSpPr/>
                  <p:nvPr/>
                </p:nvSpPr>
                <p:spPr>
                  <a:xfrm>
                    <a:off x="461773" y="1885664"/>
                    <a:ext cx="96324" cy="860315"/>
                  </a:xfrm>
                  <a:prstGeom prst="rect">
                    <a:avLst/>
                  </a:prstGeom>
                  <a:solidFill>
                    <a:srgbClr val="1EAD7C"/>
                  </a:solidFill>
                  <a:ln w="12700">
                    <a:solidFill>
                      <a:srgbClr val="2D9CDB">
                        <a:alpha val="0"/>
                      </a:srgbClr>
                    </a:solidFill>
                    <a:prstDash val="solid"/>
                  </a:ln>
                </p:spPr>
              </p:sp>
            </p:grpSp>
            <p:sp>
              <p:nvSpPr>
                <p:cNvPr id="49" name="Text 131"/>
                <p:cNvSpPr/>
                <p:nvPr/>
              </p:nvSpPr>
              <p:spPr>
                <a:xfrm>
                  <a:off x="1426933" y="2376486"/>
                  <a:ext cx="128016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solidFill>
                        <a:srgbClr val="121A2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Orin Perception</a:t>
                  </a:r>
                  <a:endParaRPr lang="en-US" sz="1050" dirty="0"/>
                </a:p>
              </p:txBody>
            </p:sp>
            <p:sp>
              <p:nvSpPr>
                <p:cNvPr id="50" name="Text 132"/>
                <p:cNvSpPr/>
                <p:nvPr/>
              </p:nvSpPr>
              <p:spPr>
                <a:xfrm>
                  <a:off x="1427607" y="2609279"/>
                  <a:ext cx="1021842" cy="508382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Line / QR / Depth</a:t>
                  </a:r>
                  <a:endParaRPr lang="en-US" sz="900" dirty="0"/>
                </a:p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Parking marker</a:t>
                  </a:r>
                  <a:endParaRPr lang="en-US" sz="900" dirty="0"/>
                </a:p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→</a:t>
                  </a: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 </a:t>
                  </a:r>
                  <a:r>
                    <a:rPr lang="en-US" sz="900" b="1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JSON publish</a:t>
                  </a:r>
                  <a:endParaRPr lang="en-US" sz="900" b="1" dirty="0"/>
                </a:p>
              </p:txBody>
            </p:sp>
          </p:grpSp>
          <p:grpSp>
            <p:nvGrpSpPr>
              <p:cNvPr id="23" name="그룹 22"/>
              <p:cNvGrpSpPr/>
              <p:nvPr/>
            </p:nvGrpSpPr>
            <p:grpSpPr>
              <a:xfrm>
                <a:off x="3659251" y="2006854"/>
                <a:ext cx="502920" cy="237744"/>
                <a:chOff x="1687068" y="2139696"/>
                <a:chExt cx="502920" cy="237744"/>
              </a:xfrm>
            </p:grpSpPr>
            <p:sp>
              <p:nvSpPr>
                <p:cNvPr id="46" name="Shape 149"/>
                <p:cNvSpPr/>
                <p:nvPr/>
              </p:nvSpPr>
              <p:spPr>
                <a:xfrm>
                  <a:off x="1687068" y="2139696"/>
                  <a:ext cx="502920" cy="237744"/>
                </a:xfrm>
                <a:prstGeom prst="roundRect">
                  <a:avLst>
                    <a:gd name="adj" fmla="val 46154"/>
                  </a:avLst>
                </a:prstGeom>
                <a:solidFill>
                  <a:srgbClr val="1EAD7C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  <p:sp>
              <p:nvSpPr>
                <p:cNvPr id="47" name="Text 150"/>
                <p:cNvSpPr/>
                <p:nvPr/>
              </p:nvSpPr>
              <p:spPr>
                <a:xfrm>
                  <a:off x="1687068" y="2167128"/>
                  <a:ext cx="502920" cy="17373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680" b="1" smtClean="0">
                      <a:solidFill>
                        <a:srgbClr val="FFFFFF"/>
                      </a:solidFill>
                      <a:latin typeface="Malgun Gothic" pitchFamily="34" charset="0"/>
                      <a:ea typeface="Malgun Gothic" pitchFamily="34" charset="-122"/>
                    </a:rPr>
                    <a:t>JSON</a:t>
                  </a:r>
                  <a:endParaRPr lang="en-US" sz="680" dirty="0"/>
                </a:p>
              </p:txBody>
            </p:sp>
          </p:grpSp>
          <p:grpSp>
            <p:nvGrpSpPr>
              <p:cNvPr id="24" name="그룹 23"/>
              <p:cNvGrpSpPr/>
              <p:nvPr/>
            </p:nvGrpSpPr>
            <p:grpSpPr>
              <a:xfrm>
                <a:off x="4352099" y="1884055"/>
                <a:ext cx="1801659" cy="958079"/>
                <a:chOff x="4352099" y="1884055"/>
                <a:chExt cx="1801659" cy="958079"/>
              </a:xfrm>
            </p:grpSpPr>
            <p:grpSp>
              <p:nvGrpSpPr>
                <p:cNvPr id="41" name="그룹 40"/>
                <p:cNvGrpSpPr/>
                <p:nvPr/>
              </p:nvGrpSpPr>
              <p:grpSpPr>
                <a:xfrm>
                  <a:off x="4352099" y="1884055"/>
                  <a:ext cx="1623059" cy="856576"/>
                  <a:chOff x="466536" y="1838035"/>
                  <a:chExt cx="1623059" cy="856576"/>
                </a:xfrm>
              </p:grpSpPr>
              <p:sp>
                <p:nvSpPr>
                  <p:cNvPr id="44" name="Shape 125"/>
                  <p:cNvSpPr/>
                  <p:nvPr/>
                </p:nvSpPr>
                <p:spPr>
                  <a:xfrm>
                    <a:off x="484823" y="1845178"/>
                    <a:ext cx="1604772" cy="849433"/>
                  </a:xfrm>
                  <a:prstGeom prst="roundRect">
                    <a:avLst>
                      <a:gd name="adj" fmla="val 8772"/>
                    </a:avLst>
                  </a:prstGeom>
                  <a:solidFill>
                    <a:srgbClr val="FFFFFF"/>
                  </a:solidFill>
                  <a:ln w="12700">
                    <a:noFill/>
                    <a:prstDash val="solid"/>
                  </a:ln>
                </p:spPr>
              </p:sp>
              <p:sp>
                <p:nvSpPr>
                  <p:cNvPr id="45" name="Shape 126"/>
                  <p:cNvSpPr/>
                  <p:nvPr/>
                </p:nvSpPr>
                <p:spPr>
                  <a:xfrm>
                    <a:off x="466536" y="1838035"/>
                    <a:ext cx="82295" cy="856576"/>
                  </a:xfrm>
                  <a:prstGeom prst="rect">
                    <a:avLst/>
                  </a:prstGeom>
                  <a:solidFill>
                    <a:srgbClr val="2D9CDB"/>
                  </a:solidFill>
                  <a:ln w="12700">
                    <a:solidFill>
                      <a:srgbClr val="2D9CDB">
                        <a:alpha val="0"/>
                      </a:srgbClr>
                    </a:solidFill>
                    <a:prstDash val="solid"/>
                  </a:ln>
                </p:spPr>
              </p:sp>
            </p:grpSp>
            <p:sp>
              <p:nvSpPr>
                <p:cNvPr id="42" name="Text 135"/>
                <p:cNvSpPr/>
                <p:nvPr/>
              </p:nvSpPr>
              <p:spPr>
                <a:xfrm>
                  <a:off x="4488946" y="1961225"/>
                  <a:ext cx="164592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solidFill>
                        <a:srgbClr val="121A2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Jetson Tracer Node</a:t>
                  </a:r>
                  <a:endParaRPr lang="en-US" sz="1050" dirty="0"/>
                </a:p>
              </p:txBody>
            </p:sp>
            <p:sp>
              <p:nvSpPr>
                <p:cNvPr id="43" name="Text 136"/>
                <p:cNvSpPr/>
                <p:nvPr/>
              </p:nvSpPr>
              <p:spPr>
                <a:xfrm>
                  <a:off x="4507838" y="2110614"/>
                  <a:ext cx="1645920" cy="73152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900" b="1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Mission FSM</a:t>
                  </a:r>
                  <a:endParaRPr lang="en-US" sz="900" b="1" dirty="0"/>
                </a:p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Navigation State</a:t>
                  </a:r>
                  <a:endParaRPr lang="en-US" sz="900" dirty="0"/>
                </a:p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Decision Logic</a:t>
                  </a:r>
                  <a:endParaRPr lang="en-US" sz="900" dirty="0"/>
                </a:p>
              </p:txBody>
            </p:sp>
          </p:grpSp>
          <p:grpSp>
            <p:nvGrpSpPr>
              <p:cNvPr id="25" name="그룹 24"/>
              <p:cNvGrpSpPr/>
              <p:nvPr/>
            </p:nvGrpSpPr>
            <p:grpSpPr>
              <a:xfrm>
                <a:off x="4579490" y="3415008"/>
                <a:ext cx="1161287" cy="724186"/>
                <a:chOff x="525781" y="2005859"/>
                <a:chExt cx="1161287" cy="724186"/>
              </a:xfrm>
            </p:grpSpPr>
            <p:sp>
              <p:nvSpPr>
                <p:cNvPr id="39" name="Shape 125"/>
                <p:cNvSpPr/>
                <p:nvPr/>
              </p:nvSpPr>
              <p:spPr>
                <a:xfrm>
                  <a:off x="544068" y="2013002"/>
                  <a:ext cx="1143000" cy="70751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40" name="Shape 126"/>
                <p:cNvSpPr/>
                <p:nvPr/>
              </p:nvSpPr>
              <p:spPr>
                <a:xfrm>
                  <a:off x="525781" y="2005859"/>
                  <a:ext cx="82295" cy="724186"/>
                </a:xfrm>
                <a:prstGeom prst="rect">
                  <a:avLst/>
                </a:prstGeom>
                <a:solidFill>
                  <a:srgbClr val="6C63FF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26" name="Text 147"/>
              <p:cNvSpPr/>
              <p:nvPr/>
            </p:nvSpPr>
            <p:spPr>
              <a:xfrm>
                <a:off x="4715887" y="3510981"/>
                <a:ext cx="109728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Control I/O</a:t>
                </a:r>
                <a:endParaRPr lang="en-US" sz="1050" dirty="0"/>
              </a:p>
            </p:txBody>
          </p:sp>
          <p:sp>
            <p:nvSpPr>
              <p:cNvPr id="27" name="Text 148"/>
              <p:cNvSpPr/>
              <p:nvPr/>
            </p:nvSpPr>
            <p:spPr>
              <a:xfrm>
                <a:off x="4740546" y="3701417"/>
                <a:ext cx="548640" cy="39636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/stop_obj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</a:t>
                </a:r>
                <a:r>
                  <a:rPr lang="en-US" sz="90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stop_qr</a:t>
                </a:r>
                <a:endParaRPr lang="en-US" sz="900" dirty="0"/>
              </a:p>
            </p:txBody>
          </p:sp>
          <p:grpSp>
            <p:nvGrpSpPr>
              <p:cNvPr id="28" name="그룹 27"/>
              <p:cNvGrpSpPr/>
              <p:nvPr/>
            </p:nvGrpSpPr>
            <p:grpSpPr>
              <a:xfrm>
                <a:off x="1913153" y="3331610"/>
                <a:ext cx="1965593" cy="894675"/>
                <a:chOff x="324259" y="2021895"/>
                <a:chExt cx="1965593" cy="894675"/>
              </a:xfrm>
            </p:grpSpPr>
            <p:sp>
              <p:nvSpPr>
                <p:cNvPr id="37" name="Shape 125"/>
                <p:cNvSpPr/>
                <p:nvPr/>
              </p:nvSpPr>
              <p:spPr>
                <a:xfrm>
                  <a:off x="336196" y="2029038"/>
                  <a:ext cx="1953656" cy="877189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noFill/>
                  <a:prstDash val="solid"/>
                </a:ln>
              </p:spPr>
            </p:sp>
            <p:sp>
              <p:nvSpPr>
                <p:cNvPr id="38" name="Shape 126"/>
                <p:cNvSpPr/>
                <p:nvPr/>
              </p:nvSpPr>
              <p:spPr>
                <a:xfrm>
                  <a:off x="324259" y="2021895"/>
                  <a:ext cx="82295" cy="894675"/>
                </a:xfrm>
                <a:prstGeom prst="rect">
                  <a:avLst/>
                </a:prstGeom>
                <a:solidFill>
                  <a:srgbClr val="F2994A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29" name="Text 139"/>
              <p:cNvSpPr/>
              <p:nvPr/>
            </p:nvSpPr>
            <p:spPr>
              <a:xfrm>
                <a:off x="2064411" y="3445227"/>
                <a:ext cx="1417828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cmd_vel Safety Filter</a:t>
                </a:r>
                <a:endParaRPr lang="en-US" sz="1050" dirty="0"/>
              </a:p>
            </p:txBody>
          </p:sp>
          <p:sp>
            <p:nvSpPr>
              <p:cNvPr id="30" name="Text 140"/>
              <p:cNvSpPr/>
              <p:nvPr/>
            </p:nvSpPr>
            <p:spPr>
              <a:xfrm>
                <a:off x="2071141" y="3643450"/>
                <a:ext cx="1736774" cy="54864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900" b="1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accel limit </a:t>
                </a: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 deadzone adapter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 b="1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pulse duty </a:t>
                </a:r>
                <a:r>
                  <a:rPr lang="en-US" sz="90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/ zero-cross guard</a:t>
                </a:r>
                <a:endParaRPr lang="en-US" sz="900" dirty="0"/>
              </a:p>
            </p:txBody>
          </p:sp>
          <p:grpSp>
            <p:nvGrpSpPr>
              <p:cNvPr id="31" name="그룹 30"/>
              <p:cNvGrpSpPr/>
              <p:nvPr/>
            </p:nvGrpSpPr>
            <p:grpSpPr>
              <a:xfrm>
                <a:off x="2148409" y="4884217"/>
                <a:ext cx="1711579" cy="758112"/>
                <a:chOff x="4768676" y="4280305"/>
                <a:chExt cx="1711579" cy="758112"/>
              </a:xfrm>
            </p:grpSpPr>
            <p:grpSp>
              <p:nvGrpSpPr>
                <p:cNvPr id="32" name="그룹 31"/>
                <p:cNvGrpSpPr/>
                <p:nvPr/>
              </p:nvGrpSpPr>
              <p:grpSpPr>
                <a:xfrm>
                  <a:off x="4768676" y="4280305"/>
                  <a:ext cx="1711579" cy="758112"/>
                  <a:chOff x="547578" y="1977300"/>
                  <a:chExt cx="1711579" cy="758112"/>
                </a:xfrm>
              </p:grpSpPr>
              <p:sp>
                <p:nvSpPr>
                  <p:cNvPr id="35" name="Shape 125"/>
                  <p:cNvSpPr/>
                  <p:nvPr/>
                </p:nvSpPr>
                <p:spPr>
                  <a:xfrm>
                    <a:off x="559515" y="1986824"/>
                    <a:ext cx="1699642" cy="732776"/>
                  </a:xfrm>
                  <a:prstGeom prst="roundRect">
                    <a:avLst>
                      <a:gd name="adj" fmla="val 8772"/>
                    </a:avLst>
                  </a:prstGeom>
                  <a:solidFill>
                    <a:srgbClr val="FFFFFF"/>
                  </a:solidFill>
                  <a:ln w="12700">
                    <a:noFill/>
                    <a:prstDash val="solid"/>
                  </a:ln>
                </p:spPr>
              </p:sp>
              <p:sp>
                <p:nvSpPr>
                  <p:cNvPr id="36" name="Shape 126"/>
                  <p:cNvSpPr/>
                  <p:nvPr/>
                </p:nvSpPr>
                <p:spPr>
                  <a:xfrm>
                    <a:off x="547578" y="1977300"/>
                    <a:ext cx="82295" cy="758112"/>
                  </a:xfrm>
                  <a:prstGeom prst="rect">
                    <a:avLst/>
                  </a:prstGeom>
                  <a:solidFill>
                    <a:srgbClr val="EB5757"/>
                  </a:solidFill>
                  <a:ln w="12700">
                    <a:solidFill>
                      <a:srgbClr val="2D9CDB">
                        <a:alpha val="0"/>
                      </a:srgbClr>
                    </a:solidFill>
                    <a:prstDash val="solid"/>
                  </a:ln>
                </p:spPr>
              </p:sp>
            </p:grpSp>
            <p:sp>
              <p:nvSpPr>
                <p:cNvPr id="33" name="Text 143"/>
                <p:cNvSpPr/>
                <p:nvPr/>
              </p:nvSpPr>
              <p:spPr>
                <a:xfrm>
                  <a:off x="4899637" y="4371459"/>
                  <a:ext cx="1449010" cy="21945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050" b="1" dirty="0">
                      <a:solidFill>
                        <a:srgbClr val="121A2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myAGV Driver / MCU</a:t>
                  </a:r>
                  <a:endParaRPr lang="en-US" sz="1050" dirty="0"/>
                </a:p>
              </p:txBody>
            </p:sp>
            <p:sp>
              <p:nvSpPr>
                <p:cNvPr id="34" name="Text 144"/>
                <p:cNvSpPr/>
                <p:nvPr/>
              </p:nvSpPr>
              <p:spPr>
                <a:xfrm>
                  <a:off x="4907997" y="4625439"/>
                  <a:ext cx="1563310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Autofit/>
                </a:bodyPr>
                <a:lstStyle/>
                <a:p>
                  <a:pPr marL="0" indent="0">
                    <a:buNone/>
                  </a:pPr>
                  <a:r>
                    <a:rPr lang="en-US" sz="900" dirty="0">
                      <a:solidFill>
                        <a:srgbClr val="465A69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/cmd_vel hardware-safe command</a:t>
                  </a:r>
                  <a:endParaRPr lang="en-US" sz="900" dirty="0"/>
                </a:p>
              </p:txBody>
            </p:sp>
          </p:grpSp>
        </p:grpSp>
        <p:grpSp>
          <p:nvGrpSpPr>
            <p:cNvPr id="7" name="그룹 6"/>
            <p:cNvGrpSpPr/>
            <p:nvPr/>
          </p:nvGrpSpPr>
          <p:grpSpPr>
            <a:xfrm>
              <a:off x="151593" y="1177176"/>
              <a:ext cx="2936887" cy="301752"/>
              <a:chOff x="685799" y="1298448"/>
              <a:chExt cx="2936887" cy="301752"/>
            </a:xfrm>
          </p:grpSpPr>
          <p:sp>
            <p:nvSpPr>
              <p:cNvPr id="8" name="Shape 115"/>
              <p:cNvSpPr/>
              <p:nvPr/>
            </p:nvSpPr>
            <p:spPr>
              <a:xfrm>
                <a:off x="685799" y="1298448"/>
                <a:ext cx="2841637" cy="301752"/>
              </a:xfrm>
              <a:prstGeom prst="roundRect">
                <a:avLst>
                  <a:gd name="adj" fmla="val 24242"/>
                </a:avLst>
              </a:prstGeom>
              <a:solidFill>
                <a:srgbClr val="1EAD7C"/>
              </a:solidFill>
              <a:ln w="12700">
                <a:solidFill>
                  <a:srgbClr val="1EAD7C"/>
                </a:solidFill>
                <a:prstDash val="solid"/>
              </a:ln>
            </p:spPr>
          </p:sp>
          <p:sp>
            <p:nvSpPr>
              <p:cNvPr id="9" name="Text 116"/>
              <p:cNvSpPr/>
              <p:nvPr/>
            </p:nvSpPr>
            <p:spPr>
              <a:xfrm>
                <a:off x="809243" y="1340103"/>
                <a:ext cx="2813443" cy="22402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Distributed Software Stack</a:t>
                </a:r>
                <a:endParaRPr lang="en-US" sz="1600" dirty="0"/>
              </a:p>
            </p:txBody>
          </p:sp>
        </p:grpSp>
      </p:grpSp>
      <p:grpSp>
        <p:nvGrpSpPr>
          <p:cNvPr id="62" name="그룹 61"/>
          <p:cNvGrpSpPr/>
          <p:nvPr/>
        </p:nvGrpSpPr>
        <p:grpSpPr>
          <a:xfrm>
            <a:off x="8024127" y="996641"/>
            <a:ext cx="4931657" cy="3004279"/>
            <a:chOff x="6131517" y="1208696"/>
            <a:chExt cx="4931657" cy="3004279"/>
          </a:xfrm>
        </p:grpSpPr>
        <p:sp>
          <p:nvSpPr>
            <p:cNvPr id="63" name="Shape 119"/>
            <p:cNvSpPr/>
            <p:nvPr/>
          </p:nvSpPr>
          <p:spPr>
            <a:xfrm>
              <a:off x="6511569" y="1401776"/>
              <a:ext cx="4551605" cy="2811199"/>
            </a:xfrm>
            <a:prstGeom prst="roundRect">
              <a:avLst>
                <a:gd name="adj" fmla="val 1460"/>
              </a:avLst>
            </a:prstGeom>
            <a:solidFill>
              <a:srgbClr val="091925"/>
            </a:solidFill>
            <a:ln w="38100">
              <a:solidFill>
                <a:schemeClr val="bg1"/>
              </a:solidFill>
              <a:prstDash val="dash"/>
            </a:ln>
          </p:spPr>
        </p:sp>
        <p:grpSp>
          <p:nvGrpSpPr>
            <p:cNvPr id="64" name="그룹 63"/>
            <p:cNvGrpSpPr/>
            <p:nvPr/>
          </p:nvGrpSpPr>
          <p:grpSpPr>
            <a:xfrm>
              <a:off x="7862905" y="2113241"/>
              <a:ext cx="1691640" cy="1051560"/>
              <a:chOff x="9466147" y="3533607"/>
              <a:chExt cx="1691640" cy="1051560"/>
            </a:xfrm>
          </p:grpSpPr>
          <p:sp>
            <p:nvSpPr>
              <p:cNvPr id="92" name="Shape 120"/>
              <p:cNvSpPr/>
              <p:nvPr/>
            </p:nvSpPr>
            <p:spPr>
              <a:xfrm>
                <a:off x="9466147" y="3533607"/>
                <a:ext cx="1691640" cy="105156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rgbClr val="102A43"/>
                </a:solidFill>
                <a:prstDash val="solid"/>
              </a:ln>
            </p:spPr>
          </p:sp>
          <p:sp>
            <p:nvSpPr>
              <p:cNvPr id="93" name="Text 121"/>
              <p:cNvSpPr/>
              <p:nvPr/>
            </p:nvSpPr>
            <p:spPr>
              <a:xfrm>
                <a:off x="9685603" y="3872920"/>
                <a:ext cx="1243584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AGV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Mobility</a:t>
                </a:r>
                <a:endParaRPr lang="en-US" sz="1200" dirty="0"/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6711671" y="1628923"/>
              <a:ext cx="2201847" cy="928140"/>
              <a:chOff x="6832675" y="3233752"/>
              <a:chExt cx="2201847" cy="928140"/>
            </a:xfrm>
          </p:grpSpPr>
          <p:grpSp>
            <p:nvGrpSpPr>
              <p:cNvPr id="87" name="그룹 86"/>
              <p:cNvGrpSpPr/>
              <p:nvPr/>
            </p:nvGrpSpPr>
            <p:grpSpPr>
              <a:xfrm>
                <a:off x="6832675" y="3233752"/>
                <a:ext cx="1505669" cy="928140"/>
                <a:chOff x="1965284" y="6483373"/>
                <a:chExt cx="1505669" cy="928140"/>
              </a:xfrm>
            </p:grpSpPr>
            <p:sp>
              <p:nvSpPr>
                <p:cNvPr id="90" name="Shape 125"/>
                <p:cNvSpPr/>
                <p:nvPr/>
              </p:nvSpPr>
              <p:spPr>
                <a:xfrm>
                  <a:off x="1983571" y="6490516"/>
                  <a:ext cx="1487382" cy="92099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</p:sp>
            <p:sp>
              <p:nvSpPr>
                <p:cNvPr id="91" name="Shape 126"/>
                <p:cNvSpPr/>
                <p:nvPr/>
              </p:nvSpPr>
              <p:spPr>
                <a:xfrm>
                  <a:off x="1965284" y="6483373"/>
                  <a:ext cx="82295" cy="371461"/>
                </a:xfrm>
                <a:prstGeom prst="rect">
                  <a:avLst/>
                </a:prstGeom>
                <a:solidFill>
                  <a:srgbClr val="2D9CDB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88" name="Text 124"/>
              <p:cNvSpPr/>
              <p:nvPr/>
            </p:nvSpPr>
            <p:spPr>
              <a:xfrm>
                <a:off x="6977122" y="3319533"/>
                <a:ext cx="205740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8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01 Line Following</a:t>
                </a:r>
                <a:endParaRPr lang="en-US" sz="1080" dirty="0"/>
              </a:p>
            </p:txBody>
          </p:sp>
          <p:sp>
            <p:nvSpPr>
              <p:cNvPr id="89" name="Text 125"/>
              <p:cNvSpPr/>
              <p:nvPr/>
            </p:nvSpPr>
            <p:spPr>
              <a:xfrm>
                <a:off x="7014535" y="3526009"/>
                <a:ext cx="1415090" cy="56239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line </a:t>
                </a: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HSV segmentation</a:t>
                </a:r>
                <a:endParaRPr lang="en-US" sz="77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near/far </a:t>
                </a:r>
                <a:r>
                  <a:rPr lang="en-US" sz="77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ROI center </a:t>
                </a: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추정</a:t>
                </a:r>
                <a:endParaRPr lang="en-US" sz="77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linear.y 기반 횡보 보정</a:t>
                </a:r>
                <a:endParaRPr lang="en-US" sz="770" dirty="0"/>
              </a:p>
            </p:txBody>
          </p:sp>
        </p:grpSp>
        <p:grpSp>
          <p:nvGrpSpPr>
            <p:cNvPr id="66" name="그룹 65"/>
            <p:cNvGrpSpPr/>
            <p:nvPr/>
          </p:nvGrpSpPr>
          <p:grpSpPr>
            <a:xfrm>
              <a:off x="9126587" y="1632494"/>
              <a:ext cx="1505669" cy="973917"/>
              <a:chOff x="9126587" y="1632494"/>
              <a:chExt cx="1505669" cy="973917"/>
            </a:xfrm>
          </p:grpSpPr>
          <p:grpSp>
            <p:nvGrpSpPr>
              <p:cNvPr id="82" name="그룹 81"/>
              <p:cNvGrpSpPr/>
              <p:nvPr/>
            </p:nvGrpSpPr>
            <p:grpSpPr>
              <a:xfrm>
                <a:off x="9126587" y="1632494"/>
                <a:ext cx="1505669" cy="928140"/>
                <a:chOff x="6715312" y="3139182"/>
                <a:chExt cx="1505669" cy="928140"/>
              </a:xfrm>
            </p:grpSpPr>
            <p:sp>
              <p:nvSpPr>
                <p:cNvPr id="85" name="Shape 125"/>
                <p:cNvSpPr/>
                <p:nvPr/>
              </p:nvSpPr>
              <p:spPr>
                <a:xfrm>
                  <a:off x="6733599" y="3146325"/>
                  <a:ext cx="1487382" cy="92099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</p:sp>
            <p:sp>
              <p:nvSpPr>
                <p:cNvPr id="86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2F80ED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83" name="Text 128"/>
              <p:cNvSpPr/>
              <p:nvPr/>
            </p:nvSpPr>
            <p:spPr>
              <a:xfrm>
                <a:off x="9268318" y="1697133"/>
                <a:ext cx="1003077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8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02 QR Arrival</a:t>
                </a:r>
                <a:endParaRPr lang="en-US" sz="1080" dirty="0"/>
              </a:p>
            </p:txBody>
          </p:sp>
          <p:sp>
            <p:nvSpPr>
              <p:cNvPr id="84" name="Text 129"/>
              <p:cNvSpPr/>
              <p:nvPr/>
            </p:nvSpPr>
            <p:spPr>
              <a:xfrm>
                <a:off x="9268318" y="1820027"/>
                <a:ext cx="1104193" cy="7863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QR stop ROI 제한</a:t>
                </a:r>
                <a:endParaRPr lang="en-US" sz="77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bbox </a:t>
                </a:r>
                <a:r>
                  <a:rPr lang="en-US" sz="77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threshold</a:t>
                </a:r>
                <a:endParaRPr lang="en-US" sz="770" dirty="0"/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6938465" y="2888019"/>
              <a:ext cx="1590437" cy="928140"/>
              <a:chOff x="6936343" y="2888019"/>
              <a:chExt cx="1590437" cy="928140"/>
            </a:xfrm>
          </p:grpSpPr>
          <p:grpSp>
            <p:nvGrpSpPr>
              <p:cNvPr id="77" name="그룹 76"/>
              <p:cNvGrpSpPr/>
              <p:nvPr/>
            </p:nvGrpSpPr>
            <p:grpSpPr>
              <a:xfrm>
                <a:off x="6936343" y="2888019"/>
                <a:ext cx="1590437" cy="928140"/>
                <a:chOff x="6715312" y="3139182"/>
                <a:chExt cx="1590437" cy="928140"/>
              </a:xfrm>
            </p:grpSpPr>
            <p:sp>
              <p:nvSpPr>
                <p:cNvPr id="80" name="Shape 125"/>
                <p:cNvSpPr/>
                <p:nvPr/>
              </p:nvSpPr>
              <p:spPr>
                <a:xfrm>
                  <a:off x="6733599" y="3146325"/>
                  <a:ext cx="1572150" cy="92099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</p:sp>
            <p:sp>
              <p:nvSpPr>
                <p:cNvPr id="81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F2994A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78" name="Text 132"/>
              <p:cNvSpPr/>
              <p:nvPr/>
            </p:nvSpPr>
            <p:spPr>
              <a:xfrm>
                <a:off x="7060042" y="2964021"/>
                <a:ext cx="1379439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8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03 Depth Rack Stop</a:t>
                </a:r>
                <a:endParaRPr lang="en-US" sz="1080" dirty="0"/>
              </a:p>
            </p:txBody>
          </p:sp>
          <p:sp>
            <p:nvSpPr>
              <p:cNvPr id="79" name="Text 133"/>
              <p:cNvSpPr/>
              <p:nvPr/>
            </p:nvSpPr>
            <p:spPr>
              <a:xfrm>
                <a:off x="7088706" y="3137764"/>
                <a:ext cx="1281268" cy="670188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white-wall ROI</a:t>
                </a:r>
                <a:endParaRPr lang="en-US" sz="77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depth median + </a:t>
                </a:r>
                <a:r>
                  <a:rPr lang="en-US" sz="77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valid </a:t>
                </a:r>
                <a:r>
                  <a:rPr lang="en-US" sz="770" smtClean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px</a:t>
                </a:r>
                <a:endParaRPr lang="en-US" sz="770" dirty="0"/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9283748" y="2879812"/>
              <a:ext cx="1505669" cy="1010387"/>
              <a:chOff x="9283748" y="2879812"/>
              <a:chExt cx="1505669" cy="1010387"/>
            </a:xfrm>
          </p:grpSpPr>
          <p:grpSp>
            <p:nvGrpSpPr>
              <p:cNvPr id="72" name="그룹 71"/>
              <p:cNvGrpSpPr/>
              <p:nvPr/>
            </p:nvGrpSpPr>
            <p:grpSpPr>
              <a:xfrm>
                <a:off x="9283748" y="2879812"/>
                <a:ext cx="1505669" cy="928140"/>
                <a:chOff x="6715312" y="3139182"/>
                <a:chExt cx="1505669" cy="928140"/>
              </a:xfrm>
            </p:grpSpPr>
            <p:sp>
              <p:nvSpPr>
                <p:cNvPr id="75" name="Shape 125"/>
                <p:cNvSpPr/>
                <p:nvPr/>
              </p:nvSpPr>
              <p:spPr>
                <a:xfrm>
                  <a:off x="6733599" y="3146325"/>
                  <a:ext cx="1487382" cy="920997"/>
                </a:xfrm>
                <a:prstGeom prst="roundRect">
                  <a:avLst>
                    <a:gd name="adj" fmla="val 8772"/>
                  </a:avLst>
                </a:prstGeom>
                <a:solidFill>
                  <a:srgbClr val="FFFFFF"/>
                </a:solidFill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</p:sp>
            <p:sp>
              <p:nvSpPr>
                <p:cNvPr id="76" name="Shape 126"/>
                <p:cNvSpPr/>
                <p:nvPr/>
              </p:nvSpPr>
              <p:spPr>
                <a:xfrm>
                  <a:off x="6715312" y="3139182"/>
                  <a:ext cx="82295" cy="371461"/>
                </a:xfrm>
                <a:prstGeom prst="rect">
                  <a:avLst/>
                </a:prstGeom>
                <a:solidFill>
                  <a:srgbClr val="EB5757"/>
                </a:solidFill>
                <a:ln w="12700">
                  <a:solidFill>
                    <a:srgbClr val="2D9CDB">
                      <a:alpha val="0"/>
                    </a:srgbClr>
                  </a:solidFill>
                  <a:prstDash val="solid"/>
                </a:ln>
              </p:spPr>
            </p:sp>
          </p:grpSp>
          <p:sp>
            <p:nvSpPr>
              <p:cNvPr id="73" name="Text 136"/>
              <p:cNvSpPr/>
              <p:nvPr/>
            </p:nvSpPr>
            <p:spPr>
              <a:xfrm>
                <a:off x="9430532" y="2952488"/>
                <a:ext cx="1093387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80" b="1" dirty="0">
                    <a:solidFill>
                      <a:srgbClr val="121A2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04 Safety Filter</a:t>
                </a:r>
                <a:endParaRPr lang="en-US" sz="1080" dirty="0"/>
              </a:p>
            </p:txBody>
          </p:sp>
          <p:sp>
            <p:nvSpPr>
              <p:cNvPr id="74" name="Text 137"/>
              <p:cNvSpPr/>
              <p:nvPr/>
            </p:nvSpPr>
            <p:spPr>
              <a:xfrm>
                <a:off x="9411386" y="3103815"/>
                <a:ext cx="1276106" cy="78638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cmd_vel_raw → cmd_vel</a:t>
                </a:r>
                <a:endParaRPr lang="en-US" sz="77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angular pulse duty</a:t>
                </a:r>
                <a:endParaRPr lang="en-US" sz="77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770" dirty="0">
                    <a:solidFill>
                      <a:srgbClr val="465A69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zero-cross hold + vx 제한</a:t>
                </a:r>
                <a:endParaRPr lang="en-US" sz="770" dirty="0"/>
              </a:p>
            </p:txBody>
          </p:sp>
        </p:grpSp>
        <p:grpSp>
          <p:nvGrpSpPr>
            <p:cNvPr id="69" name="그룹 68"/>
            <p:cNvGrpSpPr/>
            <p:nvPr/>
          </p:nvGrpSpPr>
          <p:grpSpPr>
            <a:xfrm>
              <a:off x="6131517" y="1208696"/>
              <a:ext cx="1808054" cy="301752"/>
              <a:chOff x="6466915" y="1019007"/>
              <a:chExt cx="1808054" cy="301752"/>
            </a:xfrm>
          </p:grpSpPr>
          <p:sp>
            <p:nvSpPr>
              <p:cNvPr id="70" name="Shape 115"/>
              <p:cNvSpPr/>
              <p:nvPr/>
            </p:nvSpPr>
            <p:spPr>
              <a:xfrm>
                <a:off x="6466915" y="1019007"/>
                <a:ext cx="1808054" cy="301752"/>
              </a:xfrm>
              <a:prstGeom prst="roundRect">
                <a:avLst>
                  <a:gd name="adj" fmla="val 24242"/>
                </a:avLst>
              </a:prstGeom>
              <a:solidFill>
                <a:srgbClr val="1EAD7C"/>
              </a:solidFill>
              <a:ln w="12700">
                <a:solidFill>
                  <a:srgbClr val="1EAD7C"/>
                </a:solidFill>
                <a:prstDash val="solid"/>
              </a:ln>
            </p:spPr>
          </p:sp>
          <p:sp>
            <p:nvSpPr>
              <p:cNvPr id="71" name="Text 116"/>
              <p:cNvSpPr/>
              <p:nvPr/>
            </p:nvSpPr>
            <p:spPr>
              <a:xfrm>
                <a:off x="6507110" y="1107214"/>
                <a:ext cx="1746428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Core Algorithms</a:t>
                </a:r>
                <a:endParaRPr lang="en-US" sz="1600" dirty="0"/>
              </a:p>
            </p:txBody>
          </p:sp>
        </p:grpSp>
      </p:grpSp>
      <p:grpSp>
        <p:nvGrpSpPr>
          <p:cNvPr id="94" name="그룹 93"/>
          <p:cNvGrpSpPr/>
          <p:nvPr/>
        </p:nvGrpSpPr>
        <p:grpSpPr>
          <a:xfrm>
            <a:off x="5920186" y="3813911"/>
            <a:ext cx="3072009" cy="2249200"/>
            <a:chOff x="11642790" y="1800268"/>
            <a:chExt cx="3072009" cy="2249200"/>
          </a:xfrm>
        </p:grpSpPr>
        <p:grpSp>
          <p:nvGrpSpPr>
            <p:cNvPr id="95" name="그룹 94"/>
            <p:cNvGrpSpPr/>
            <p:nvPr/>
          </p:nvGrpSpPr>
          <p:grpSpPr>
            <a:xfrm>
              <a:off x="11642790" y="1800268"/>
              <a:ext cx="3072009" cy="2249200"/>
              <a:chOff x="11819074" y="2836289"/>
              <a:chExt cx="3072009" cy="2249200"/>
            </a:xfrm>
          </p:grpSpPr>
          <p:grpSp>
            <p:nvGrpSpPr>
              <p:cNvPr id="97" name="그룹 96"/>
              <p:cNvGrpSpPr/>
              <p:nvPr/>
            </p:nvGrpSpPr>
            <p:grpSpPr>
              <a:xfrm>
                <a:off x="11819074" y="2836289"/>
                <a:ext cx="3053444" cy="2249200"/>
                <a:chOff x="11819074" y="2836289"/>
                <a:chExt cx="3053444" cy="2249200"/>
              </a:xfrm>
            </p:grpSpPr>
            <p:pic>
              <p:nvPicPr>
                <p:cNvPr id="100" name="그림 99"/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67265" b="1892"/>
                <a:stretch/>
              </p:blipFill>
              <p:spPr>
                <a:xfrm>
                  <a:off x="11819074" y="2836289"/>
                  <a:ext cx="3053444" cy="2249200"/>
                </a:xfrm>
                <a:prstGeom prst="rect">
                  <a:avLst/>
                </a:prstGeom>
              </p:spPr>
            </p:pic>
            <p:sp>
              <p:nvSpPr>
                <p:cNvPr id="101" name="직사각형 100"/>
                <p:cNvSpPr/>
                <p:nvPr/>
              </p:nvSpPr>
              <p:spPr>
                <a:xfrm>
                  <a:off x="11978593" y="2836289"/>
                  <a:ext cx="2728007" cy="853061"/>
                </a:xfrm>
                <a:prstGeom prst="rect">
                  <a:avLst/>
                </a:prstGeom>
                <a:solidFill>
                  <a:srgbClr val="FFFF00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2" name="직사각형 101"/>
                <p:cNvSpPr/>
                <p:nvPr/>
              </p:nvSpPr>
              <p:spPr>
                <a:xfrm>
                  <a:off x="11819074" y="4649578"/>
                  <a:ext cx="3030401" cy="408198"/>
                </a:xfrm>
                <a:prstGeom prst="rect">
                  <a:avLst/>
                </a:prstGeom>
                <a:solidFill>
                  <a:srgbClr val="00B050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" name="직사각형 102"/>
                <p:cNvSpPr/>
                <p:nvPr/>
              </p:nvSpPr>
              <p:spPr>
                <a:xfrm>
                  <a:off x="11827395" y="4338556"/>
                  <a:ext cx="3030401" cy="408198"/>
                </a:xfrm>
                <a:prstGeom prst="rect">
                  <a:avLst/>
                </a:prstGeom>
                <a:solidFill>
                  <a:srgbClr val="2D9CDB">
                    <a:alpha val="4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8" name="TextBox 97"/>
              <p:cNvSpPr txBox="1"/>
              <p:nvPr/>
            </p:nvSpPr>
            <p:spPr>
              <a:xfrm>
                <a:off x="13594976" y="4737794"/>
                <a:ext cx="12961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smtClean="0">
                    <a:solidFill>
                      <a:schemeClr val="bg1"/>
                    </a:solidFill>
                  </a:rPr>
                  <a:t>near point ROI</a:t>
                </a:r>
                <a:endParaRPr lang="ko-KR" altLang="en-US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11839649" y="4320520"/>
                <a:ext cx="12961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smtClean="0">
                    <a:solidFill>
                      <a:schemeClr val="bg1"/>
                    </a:solidFill>
                  </a:rPr>
                  <a:t>far point ROI</a:t>
                </a:r>
                <a:endParaRPr lang="ko-KR" altLang="en-US" sz="12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6" name="TextBox 95"/>
            <p:cNvSpPr txBox="1"/>
            <p:nvPr/>
          </p:nvSpPr>
          <p:spPr>
            <a:xfrm>
              <a:off x="13329782" y="1911545"/>
              <a:ext cx="12834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solidFill>
                    <a:schemeClr val="bg1"/>
                  </a:solidFill>
                </a:rPr>
                <a:t>White wall ROI</a:t>
              </a:r>
              <a:endParaRPr lang="ko-KR" altLang="en-US" sz="12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13275250" y="1226152"/>
            <a:ext cx="2320586" cy="1757355"/>
            <a:chOff x="10094881" y="1604483"/>
            <a:chExt cx="4753324" cy="3599641"/>
          </a:xfrm>
        </p:grpSpPr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94881" y="1604483"/>
              <a:ext cx="4753324" cy="3599641"/>
            </a:xfrm>
            <a:prstGeom prst="rect">
              <a:avLst/>
            </a:prstGeom>
          </p:spPr>
        </p:pic>
        <p:sp>
          <p:nvSpPr>
            <p:cNvPr id="106" name="직사각형 105"/>
            <p:cNvSpPr/>
            <p:nvPr/>
          </p:nvSpPr>
          <p:spPr>
            <a:xfrm>
              <a:off x="11291378" y="2345699"/>
              <a:ext cx="2376001" cy="179999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7" name="직선 화살표 연결선 106"/>
          <p:cNvCxnSpPr/>
          <p:nvPr/>
        </p:nvCxnSpPr>
        <p:spPr>
          <a:xfrm flipH="1">
            <a:off x="8604281" y="3211188"/>
            <a:ext cx="365396" cy="8278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/>
          <p:nvPr/>
        </p:nvCxnSpPr>
        <p:spPr>
          <a:xfrm flipH="1">
            <a:off x="7229916" y="2047372"/>
            <a:ext cx="1531451" cy="33907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79" idx="1"/>
          </p:cNvCxnSpPr>
          <p:nvPr/>
        </p:nvCxnSpPr>
        <p:spPr>
          <a:xfrm>
            <a:off x="8983438" y="3260803"/>
            <a:ext cx="65199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>
            <a:off x="8784039" y="2045558"/>
            <a:ext cx="10798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>
            <a:off x="12019649" y="1883709"/>
            <a:ext cx="1637204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>
            <a:off x="11160928" y="2001197"/>
            <a:ext cx="8174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/>
          <p:cNvGrpSpPr/>
          <p:nvPr/>
        </p:nvGrpSpPr>
        <p:grpSpPr>
          <a:xfrm>
            <a:off x="132376" y="6439697"/>
            <a:ext cx="3879786" cy="301752"/>
            <a:chOff x="7888308" y="1197864"/>
            <a:chExt cx="2617767" cy="301752"/>
          </a:xfrm>
        </p:grpSpPr>
        <p:sp>
          <p:nvSpPr>
            <p:cNvPr id="115" name="Shape 117"/>
            <p:cNvSpPr/>
            <p:nvPr/>
          </p:nvSpPr>
          <p:spPr>
            <a:xfrm>
              <a:off x="7888308" y="1197864"/>
              <a:ext cx="2617767" cy="301752"/>
            </a:xfrm>
            <a:prstGeom prst="roundRect">
              <a:avLst>
                <a:gd name="adj" fmla="val 24242"/>
              </a:avLst>
            </a:prstGeom>
            <a:solidFill>
              <a:schemeClr val="accent1"/>
            </a:solidFill>
            <a:ln w="12700">
              <a:noFill/>
              <a:prstDash val="solid"/>
            </a:ln>
          </p:spPr>
        </p:sp>
        <p:sp>
          <p:nvSpPr>
            <p:cNvPr id="116" name="Text 118"/>
            <p:cNvSpPr/>
            <p:nvPr/>
          </p:nvSpPr>
          <p:spPr>
            <a:xfrm>
              <a:off x="8016324" y="1282167"/>
              <a:ext cx="2489751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smtClean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Navigation Behavior State Machine</a:t>
              </a:r>
              <a:endParaRPr lang="en-US" sz="1600" dirty="0"/>
            </a:p>
          </p:txBody>
        </p:sp>
      </p:grpSp>
      <p:cxnSp>
        <p:nvCxnSpPr>
          <p:cNvPr id="122" name="Connector 318"/>
          <p:cNvCxnSpPr/>
          <p:nvPr/>
        </p:nvCxnSpPr>
        <p:spPr>
          <a:xfrm>
            <a:off x="2208960" y="7047648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319"/>
          <p:cNvCxnSpPr/>
          <p:nvPr/>
        </p:nvCxnSpPr>
        <p:spPr>
          <a:xfrm>
            <a:off x="3681144" y="7047648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320"/>
          <p:cNvCxnSpPr/>
          <p:nvPr/>
        </p:nvCxnSpPr>
        <p:spPr>
          <a:xfrm>
            <a:off x="5153328" y="7047648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321"/>
          <p:cNvCxnSpPr/>
          <p:nvPr/>
        </p:nvCxnSpPr>
        <p:spPr>
          <a:xfrm>
            <a:off x="6625512" y="7047648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322"/>
          <p:cNvCxnSpPr/>
          <p:nvPr/>
        </p:nvCxnSpPr>
        <p:spPr>
          <a:xfrm>
            <a:off x="8097696" y="7047648"/>
            <a:ext cx="164592" cy="0"/>
          </a:xfrm>
          <a:prstGeom prst="line">
            <a:avLst/>
          </a:prstGeom>
          <a:ln w="19050">
            <a:solidFill>
              <a:srgbClr val="B2B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323"/>
          <p:cNvSpPr/>
          <p:nvPr/>
        </p:nvSpPr>
        <p:spPr>
          <a:xfrm>
            <a:off x="937944" y="6910488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/place_target</a:t>
            </a:r>
          </a:p>
        </p:txBody>
      </p:sp>
      <p:sp>
        <p:nvSpPr>
          <p:cNvPr id="128" name="Rounded Rectangle 324"/>
          <p:cNvSpPr/>
          <p:nvPr/>
        </p:nvSpPr>
        <p:spPr>
          <a:xfrm>
            <a:off x="2410128" y="6910488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rack stop</a:t>
            </a:r>
          </a:p>
          <a:p>
            <a:pPr algn="ctr"/>
            <a:r>
              <a:rPr sz="1000" b="0">
                <a:solidFill>
                  <a:srgbClr val="0D1D33"/>
                </a:solidFill>
                <a:latin typeface="Malgun Gothic"/>
              </a:rPr>
              <a:t>/stop_obj</a:t>
            </a:r>
          </a:p>
        </p:txBody>
      </p:sp>
      <p:sp>
        <p:nvSpPr>
          <p:cNvPr id="129" name="Rounded Rectangle 325"/>
          <p:cNvSpPr/>
          <p:nvPr/>
        </p:nvSpPr>
        <p:spPr>
          <a:xfrm>
            <a:off x="3882312" y="6910488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/picked</a:t>
            </a:r>
          </a:p>
        </p:txBody>
      </p:sp>
      <p:sp>
        <p:nvSpPr>
          <p:cNvPr id="130" name="Rounded Rectangle 326"/>
          <p:cNvSpPr/>
          <p:nvPr/>
        </p:nvSpPr>
        <p:spPr>
          <a:xfrm>
            <a:off x="5354496" y="6910488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QR stop</a:t>
            </a:r>
          </a:p>
          <a:p>
            <a:pPr algn="ctr"/>
            <a:r>
              <a:rPr sz="1000" b="0">
                <a:solidFill>
                  <a:srgbClr val="0D1D33"/>
                </a:solidFill>
                <a:latin typeface="Malgun Gothic"/>
              </a:rPr>
              <a:t>/stop_qr</a:t>
            </a:r>
          </a:p>
        </p:txBody>
      </p:sp>
      <p:sp>
        <p:nvSpPr>
          <p:cNvPr id="131" name="Rounded Rectangle 327"/>
          <p:cNvSpPr/>
          <p:nvPr/>
        </p:nvSpPr>
        <p:spPr>
          <a:xfrm>
            <a:off x="6826680" y="6910488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/placed</a:t>
            </a:r>
          </a:p>
        </p:txBody>
      </p:sp>
      <p:sp>
        <p:nvSpPr>
          <p:cNvPr id="132" name="Rounded Rectangle 328"/>
          <p:cNvSpPr/>
          <p:nvPr/>
        </p:nvSpPr>
        <p:spPr>
          <a:xfrm>
            <a:off x="8298864" y="6910488"/>
            <a:ext cx="1234440" cy="3610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/go_parking</a:t>
            </a:r>
          </a:p>
        </p:txBody>
      </p:sp>
      <p:cxnSp>
        <p:nvCxnSpPr>
          <p:cNvPr id="133" name="Connector 329"/>
          <p:cNvCxnSpPr/>
          <p:nvPr/>
        </p:nvCxnSpPr>
        <p:spPr>
          <a:xfrm>
            <a:off x="2004652" y="8062764"/>
            <a:ext cx="164592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330"/>
          <p:cNvCxnSpPr/>
          <p:nvPr/>
        </p:nvCxnSpPr>
        <p:spPr>
          <a:xfrm>
            <a:off x="3879172" y="8062764"/>
            <a:ext cx="210312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331"/>
          <p:cNvCxnSpPr/>
          <p:nvPr/>
        </p:nvCxnSpPr>
        <p:spPr>
          <a:xfrm>
            <a:off x="6046300" y="8062764"/>
            <a:ext cx="265176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332"/>
          <p:cNvCxnSpPr/>
          <p:nvPr/>
        </p:nvCxnSpPr>
        <p:spPr>
          <a:xfrm>
            <a:off x="10307404" y="8062764"/>
            <a:ext cx="274319" cy="0"/>
          </a:xfrm>
          <a:prstGeom prst="line">
            <a:avLst/>
          </a:prstGeom>
          <a:ln w="19050">
            <a:solidFill>
              <a:srgbClr val="505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333"/>
          <p:cNvSpPr/>
          <p:nvPr/>
        </p:nvSpPr>
        <p:spPr>
          <a:xfrm>
            <a:off x="843364" y="7797588"/>
            <a:ext cx="112471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D1D33"/>
                </a:solidFill>
                <a:latin typeface="Malgun Gothic"/>
              </a:rPr>
              <a:t>IDLE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Safe Wait</a:t>
            </a:r>
          </a:p>
        </p:txBody>
      </p:sp>
      <p:sp>
        <p:nvSpPr>
          <p:cNvPr id="138" name="Rounded Rectangle 334"/>
          <p:cNvSpPr/>
          <p:nvPr/>
        </p:nvSpPr>
        <p:spPr>
          <a:xfrm>
            <a:off x="2214964" y="7797588"/>
            <a:ext cx="1627632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D1D33"/>
                </a:solidFill>
                <a:latin typeface="Malgun Gothic"/>
              </a:rPr>
              <a:t>FOLLOW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line center + linear.y</a:t>
            </a:r>
          </a:p>
        </p:txBody>
      </p:sp>
      <p:sp>
        <p:nvSpPr>
          <p:cNvPr id="139" name="Rounded Rectangle 335"/>
          <p:cNvSpPr/>
          <p:nvPr/>
        </p:nvSpPr>
        <p:spPr>
          <a:xfrm>
            <a:off x="4135203" y="7797588"/>
            <a:ext cx="1874519" cy="530352"/>
          </a:xfrm>
          <a:prstGeom prst="roundRect">
            <a:avLst/>
          </a:prstGeom>
          <a:solidFill>
            <a:schemeClr val="accent1"/>
          </a:solidFill>
          <a:ln w="19050">
            <a:solidFill>
              <a:srgbClr val="0D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EVENT GATE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QR / depth / marker / line lost</a:t>
            </a:r>
          </a:p>
        </p:txBody>
      </p:sp>
      <p:sp>
        <p:nvSpPr>
          <p:cNvPr id="140" name="Rounded Rectangle 336"/>
          <p:cNvSpPr/>
          <p:nvPr/>
        </p:nvSpPr>
        <p:spPr>
          <a:xfrm>
            <a:off x="6357196" y="7711862"/>
            <a:ext cx="3913632" cy="6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D1D33"/>
                </a:solidFill>
                <a:latin typeface="Malgun Gothic"/>
              </a:rPr>
              <a:t>BEHAVIOR EXECUTION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CORNER · TURN_180 · JUNCTION · STOP_END · PARK_FORWARD</a:t>
            </a:r>
          </a:p>
        </p:txBody>
      </p:sp>
      <p:sp>
        <p:nvSpPr>
          <p:cNvPr id="141" name="Rounded Rectangle 337"/>
          <p:cNvSpPr/>
          <p:nvPr/>
        </p:nvSpPr>
        <p:spPr>
          <a:xfrm>
            <a:off x="10627444" y="7797588"/>
            <a:ext cx="2157984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B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D1D33"/>
                </a:solidFill>
                <a:latin typeface="Malgun Gothic"/>
              </a:rPr>
              <a:t>RESUME / WAIT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next behavior or external event</a:t>
            </a:r>
          </a:p>
        </p:txBody>
      </p:sp>
      <p:sp>
        <p:nvSpPr>
          <p:cNvPr id="142" name="Rounded Rectangle 338"/>
          <p:cNvSpPr/>
          <p:nvPr/>
        </p:nvSpPr>
        <p:spPr>
          <a:xfrm>
            <a:off x="6135013" y="8344987"/>
            <a:ext cx="833830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CORNER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odom yaw</a:t>
            </a:r>
          </a:p>
        </p:txBody>
      </p:sp>
      <p:sp>
        <p:nvSpPr>
          <p:cNvPr id="143" name="Rounded Rectangle 339"/>
          <p:cNvSpPr/>
          <p:nvPr/>
        </p:nvSpPr>
        <p:spPr>
          <a:xfrm>
            <a:off x="6999344" y="8341481"/>
            <a:ext cx="835200" cy="35155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JUNCTION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QR align</a:t>
            </a:r>
          </a:p>
        </p:txBody>
      </p:sp>
      <p:sp>
        <p:nvSpPr>
          <p:cNvPr id="144" name="Rounded Rectangle 340"/>
          <p:cNvSpPr/>
          <p:nvPr/>
        </p:nvSpPr>
        <p:spPr>
          <a:xfrm>
            <a:off x="7872779" y="8344987"/>
            <a:ext cx="867850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STOP_END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arrival</a:t>
            </a:r>
          </a:p>
        </p:txBody>
      </p:sp>
      <p:sp>
        <p:nvSpPr>
          <p:cNvPr id="145" name="Rounded Rectangle 341"/>
          <p:cNvSpPr/>
          <p:nvPr/>
        </p:nvSpPr>
        <p:spPr>
          <a:xfrm>
            <a:off x="8774026" y="8344656"/>
            <a:ext cx="658368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PARK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entry</a:t>
            </a:r>
          </a:p>
        </p:txBody>
      </p:sp>
      <p:sp>
        <p:nvSpPr>
          <p:cNvPr id="146" name="Rounded Rectangle 342"/>
          <p:cNvSpPr/>
          <p:nvPr/>
        </p:nvSpPr>
        <p:spPr>
          <a:xfrm>
            <a:off x="9465289" y="8344987"/>
            <a:ext cx="973639" cy="35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29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D1D33"/>
                </a:solidFill>
                <a:latin typeface="Malgun Gothic"/>
              </a:rPr>
              <a:t>LINE LOST</a:t>
            </a:r>
          </a:p>
          <a:p>
            <a:pPr algn="ctr"/>
            <a:r>
              <a:rPr sz="1050" b="0">
                <a:solidFill>
                  <a:srgbClr val="0D1D33"/>
                </a:solidFill>
                <a:latin typeface="Malgun Gothic"/>
              </a:rPr>
              <a:t>search/stop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67707" y="6066281"/>
            <a:ext cx="2193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200" smtClean="0">
                <a:solidFill>
                  <a:schemeClr val="bg1"/>
                </a:solidFill>
              </a:rPr>
              <a:t>OpenCV </a:t>
            </a:r>
            <a:r>
              <a:rPr lang="ko-KR" altLang="en-US" sz="1200" smtClean="0">
                <a:solidFill>
                  <a:schemeClr val="bg1"/>
                </a:solidFill>
              </a:rPr>
              <a:t>영상 처리 사진</a:t>
            </a:r>
            <a:r>
              <a:rPr lang="en-US" altLang="ko-KR" sz="1200" smtClean="0">
                <a:solidFill>
                  <a:schemeClr val="bg1"/>
                </a:solidFill>
              </a:rPr>
              <a:t> </a:t>
            </a:r>
            <a:endParaRPr lang="ko-KR" altLang="en-US" sz="1200">
              <a:solidFill>
                <a:schemeClr val="bg1"/>
              </a:solidFill>
            </a:endParaRPr>
          </a:p>
        </p:txBody>
      </p:sp>
      <p:cxnSp>
        <p:nvCxnSpPr>
          <p:cNvPr id="191" name="직선 화살표 연결선 190"/>
          <p:cNvCxnSpPr/>
          <p:nvPr/>
        </p:nvCxnSpPr>
        <p:spPr>
          <a:xfrm>
            <a:off x="1966103" y="7271490"/>
            <a:ext cx="120109" cy="742210"/>
          </a:xfrm>
          <a:prstGeom prst="straightConnector1">
            <a:avLst/>
          </a:prstGeom>
          <a:ln w="19050">
            <a:solidFill>
              <a:srgbClr val="20B4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/>
          <p:cNvSpPr/>
          <p:nvPr/>
        </p:nvSpPr>
        <p:spPr>
          <a:xfrm>
            <a:off x="6834300" y="7966556"/>
            <a:ext cx="1353312" cy="1589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61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3024" y="341376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 제어 안정성 KPI 검증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97408" y="842391"/>
            <a:ext cx="586316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Velocity Safety Filter 적용 전·후 </a:t>
            </a:r>
            <a:r>
              <a:rPr lang="en-US" sz="120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</a:t>
            </a:r>
            <a:r>
              <a:rPr lang="en-US" sz="1200" smtClean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 &amp; /odom </a:t>
            </a:r>
            <a:r>
              <a:rPr lang="en-US" sz="1200" dirty="0">
                <a:solidFill>
                  <a:schemeClr val="bg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정합성 및 overshoot 변화 분석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3874496" y="493776"/>
            <a:ext cx="132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67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Validation</a:t>
            </a:r>
            <a:endParaRPr lang="en-US" sz="867" dirty="0"/>
          </a:p>
        </p:txBody>
      </p:sp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75831"/>
              </p:ext>
            </p:extLst>
          </p:nvPr>
        </p:nvGraphicFramePr>
        <p:xfrm>
          <a:off x="10086556" y="1954729"/>
          <a:ext cx="5866914" cy="1563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638">
                  <a:extLst>
                    <a:ext uri="{9D8B030D-6E8A-4147-A177-3AD203B41FA5}">
                      <a16:colId xmlns:a16="http://schemas.microsoft.com/office/drawing/2014/main" val="4095263137"/>
                    </a:ext>
                  </a:extLst>
                </a:gridCol>
                <a:gridCol w="1955638">
                  <a:extLst>
                    <a:ext uri="{9D8B030D-6E8A-4147-A177-3AD203B41FA5}">
                      <a16:colId xmlns:a16="http://schemas.microsoft.com/office/drawing/2014/main" val="4073868613"/>
                    </a:ext>
                  </a:extLst>
                </a:gridCol>
                <a:gridCol w="1955638">
                  <a:extLst>
                    <a:ext uri="{9D8B030D-6E8A-4147-A177-3AD203B41FA5}">
                      <a16:colId xmlns:a16="http://schemas.microsoft.com/office/drawing/2014/main" val="3036392654"/>
                    </a:ext>
                  </a:extLst>
                </a:gridCol>
              </a:tblGrid>
              <a:tr h="420818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NRMSE</a:t>
                      </a:r>
                      <a:r>
                        <a:rPr lang="en-US" altLang="ko-KR" baseline="0" smtClean="0">
                          <a:solidFill>
                            <a:schemeClr val="tx1"/>
                          </a:solidFill>
                        </a:rPr>
                        <a:t> Before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NRMSE After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760840"/>
                  </a:ext>
                </a:extLst>
              </a:tr>
              <a:tr h="571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tx1"/>
                          </a:solidFill>
                        </a:rPr>
                        <a:t>Linear.x</a:t>
                      </a: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46.8%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17.6%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50758"/>
                  </a:ext>
                </a:extLst>
              </a:tr>
              <a:tr h="571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chemeClr val="tx1"/>
                          </a:solidFill>
                        </a:rPr>
                        <a:t>Angular.z</a:t>
                      </a:r>
                      <a:endParaRPr lang="ko-KR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76.3%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60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chemeClr val="tx1"/>
                          </a:solidFill>
                        </a:rPr>
                        <a:t>28.0%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886452"/>
                  </a:ext>
                </a:extLst>
              </a:tr>
            </a:tbl>
          </a:graphicData>
        </a:graphic>
      </p:graphicFrame>
      <p:graphicFrame>
        <p:nvGraphicFramePr>
          <p:cNvPr id="77" name="표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124282"/>
              </p:ext>
            </p:extLst>
          </p:nvPr>
        </p:nvGraphicFramePr>
        <p:xfrm>
          <a:off x="10086556" y="4482383"/>
          <a:ext cx="5866914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280">
                  <a:extLst>
                    <a:ext uri="{9D8B030D-6E8A-4147-A177-3AD203B41FA5}">
                      <a16:colId xmlns:a16="http://schemas.microsoft.com/office/drawing/2014/main" val="3467397792"/>
                    </a:ext>
                  </a:extLst>
                </a:gridCol>
                <a:gridCol w="1298371">
                  <a:extLst>
                    <a:ext uri="{9D8B030D-6E8A-4147-A177-3AD203B41FA5}">
                      <a16:colId xmlns:a16="http://schemas.microsoft.com/office/drawing/2014/main" val="2842644569"/>
                    </a:ext>
                  </a:extLst>
                </a:gridCol>
                <a:gridCol w="1254801">
                  <a:extLst>
                    <a:ext uri="{9D8B030D-6E8A-4147-A177-3AD203B41FA5}">
                      <a16:colId xmlns:a16="http://schemas.microsoft.com/office/drawing/2014/main" val="1731669141"/>
                    </a:ext>
                  </a:extLst>
                </a:gridCol>
                <a:gridCol w="1250462">
                  <a:extLst>
                    <a:ext uri="{9D8B030D-6E8A-4147-A177-3AD203B41FA5}">
                      <a16:colId xmlns:a16="http://schemas.microsoft.com/office/drawing/2014/main" val="1192428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Before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After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mtClean="0">
                          <a:solidFill>
                            <a:sysClr val="windowText" lastClr="000000"/>
                          </a:solidFill>
                        </a:rPr>
                        <a:t>개선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62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ysClr val="windowText" lastClr="000000"/>
                          </a:solidFill>
                        </a:rPr>
                        <a:t>Linear.x peak overshoot</a:t>
                      </a:r>
                      <a:endParaRPr lang="ko-KR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0.31 m/s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0.01 m/s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-96.8%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76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smtClean="0">
                          <a:solidFill>
                            <a:sysClr val="windowText" lastClr="000000"/>
                          </a:solidFill>
                        </a:rPr>
                        <a:t>Angular.z peak overshoot</a:t>
                      </a:r>
                      <a:endParaRPr lang="ko-KR" altLang="en-US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0.87 rad/s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0.22 rad/s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mtClean="0">
                          <a:solidFill>
                            <a:sysClr val="windowText" lastClr="000000"/>
                          </a:solidFill>
                        </a:rPr>
                        <a:t>-74.7</a:t>
                      </a:r>
                      <a:r>
                        <a:rPr lang="en-US" altLang="ko-KR" baseline="0" smtClean="0">
                          <a:solidFill>
                            <a:sysClr val="windowText" lastClr="000000"/>
                          </a:solidFill>
                        </a:rPr>
                        <a:t>%</a:t>
                      </a:r>
                      <a:endParaRPr lang="ko-KR" alt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811288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10086556" y="1521360"/>
            <a:ext cx="3432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&lt;NRMSE(normalized RMSE)&gt;</a:t>
            </a:r>
            <a:endParaRPr lang="ko-KR" altLang="en-US" b="1">
              <a:solidFill>
                <a:schemeClr val="bg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966164" y="3931945"/>
            <a:ext cx="3519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chemeClr val="bg1"/>
                </a:solidFill>
              </a:rPr>
              <a:t>&lt;Overshoot </a:t>
            </a:r>
            <a:r>
              <a:rPr lang="ko-KR" altLang="en-US" b="1" smtClean="0">
                <a:solidFill>
                  <a:schemeClr val="bg1"/>
                </a:solidFill>
              </a:rPr>
              <a:t>초과량 및 초과율</a:t>
            </a:r>
            <a:r>
              <a:rPr lang="en-US" altLang="ko-KR" b="1" smtClean="0">
                <a:solidFill>
                  <a:schemeClr val="bg1"/>
                </a:solidFill>
              </a:rPr>
              <a:t>&gt;</a:t>
            </a:r>
            <a:endParaRPr lang="ko-KR" altLang="en-US" b="1">
              <a:solidFill>
                <a:schemeClr val="bg1"/>
              </a:solidFill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178156" y="1499939"/>
            <a:ext cx="9546336" cy="6993004"/>
            <a:chOff x="289668" y="1370708"/>
            <a:chExt cx="9546336" cy="6993004"/>
          </a:xfrm>
        </p:grpSpPr>
        <p:grpSp>
          <p:nvGrpSpPr>
            <p:cNvPr id="43" name="그룹 42"/>
            <p:cNvGrpSpPr/>
            <p:nvPr/>
          </p:nvGrpSpPr>
          <p:grpSpPr>
            <a:xfrm>
              <a:off x="289668" y="1370708"/>
              <a:ext cx="9546336" cy="6993004"/>
              <a:chOff x="585216" y="1377696"/>
              <a:chExt cx="9546336" cy="6993004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585216" y="1377696"/>
                <a:ext cx="9546336" cy="6993004"/>
              </a:xfrm>
              <a:prstGeom prst="roundRect">
                <a:avLst>
                  <a:gd name="adj" fmla="val 1396"/>
                </a:avLst>
              </a:prstGeom>
              <a:solidFill>
                <a:srgbClr val="FFFFFF"/>
              </a:solidFill>
              <a:ln w="28575">
                <a:solidFill>
                  <a:schemeClr val="accent5">
                    <a:lumMod val="50000"/>
                  </a:schemeClr>
                </a:solidFill>
                <a:prstDash val="solid"/>
              </a:ln>
            </p:spPr>
          </p:sp>
          <p:sp>
            <p:nvSpPr>
              <p:cNvPr id="7" name="Text 5"/>
              <p:cNvSpPr/>
              <p:nvPr/>
            </p:nvSpPr>
            <p:spPr>
              <a:xfrm>
                <a:off x="707136" y="1473596"/>
                <a:ext cx="316992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67" b="1" dirty="0">
                    <a:solidFill>
                      <a:srgbClr val="1E2A2F"/>
                    </a:solidFill>
                    <a:latin typeface="Noto Sans CJK KR" pitchFamily="34" charset="0"/>
                    <a:ea typeface="Noto Sans CJK KR" pitchFamily="34" charset="-122"/>
                    <a:cs typeface="Noto Sans CJK KR" pitchFamily="34" charset="-120"/>
                  </a:rPr>
                  <a:t>cmd_vel–odom tracking overlay</a:t>
                </a:r>
                <a:endParaRPr lang="en-US" sz="1067" dirty="0"/>
              </a:p>
            </p:txBody>
          </p:sp>
          <p:grpSp>
            <p:nvGrpSpPr>
              <p:cNvPr id="41" name="그룹 40"/>
              <p:cNvGrpSpPr/>
              <p:nvPr/>
            </p:nvGrpSpPr>
            <p:grpSpPr>
              <a:xfrm>
                <a:off x="640851" y="1665100"/>
                <a:ext cx="9195153" cy="3108960"/>
                <a:chOff x="949785" y="1926336"/>
                <a:chExt cx="9195153" cy="3108960"/>
              </a:xfrm>
            </p:grpSpPr>
            <p:pic>
              <p:nvPicPr>
                <p:cNvPr id="9" name="Image 0" descr="/mnt/data/agv_kpi_plot_slide.png"/>
                <p:cNvPicPr>
                  <a:picLocks noChangeAspect="1"/>
                </p:cNvPicPr>
                <p:nvPr/>
              </p:nvPicPr>
              <p:blipFill rotWithShape="1">
                <a:blip r:embed="rId3"/>
                <a:srcRect b="51830"/>
                <a:stretch/>
              </p:blipFill>
              <p:spPr>
                <a:xfrm>
                  <a:off x="949785" y="1926336"/>
                  <a:ext cx="9195153" cy="2901188"/>
                </a:xfrm>
                <a:prstGeom prst="rect">
                  <a:avLst/>
                </a:prstGeom>
              </p:spPr>
            </p:pic>
            <p:sp>
              <p:nvSpPr>
                <p:cNvPr id="35" name="직사각형 34"/>
                <p:cNvSpPr/>
                <p:nvPr/>
              </p:nvSpPr>
              <p:spPr>
                <a:xfrm>
                  <a:off x="2374900" y="1926336"/>
                  <a:ext cx="488950" cy="2560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직사각형 35"/>
                <p:cNvSpPr/>
                <p:nvPr/>
              </p:nvSpPr>
              <p:spPr>
                <a:xfrm>
                  <a:off x="2487168" y="4876800"/>
                  <a:ext cx="488950" cy="1280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/>
                <p:cNvSpPr/>
                <p:nvPr/>
              </p:nvSpPr>
              <p:spPr>
                <a:xfrm>
                  <a:off x="6788950" y="1987296"/>
                  <a:ext cx="560032" cy="1950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6942766" y="4840224"/>
                  <a:ext cx="560032" cy="19507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4" name="직사각형 3"/>
            <p:cNvSpPr/>
            <p:nvPr/>
          </p:nvSpPr>
          <p:spPr>
            <a:xfrm>
              <a:off x="4305300" y="1914144"/>
              <a:ext cx="285750" cy="14739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770418" y="2132318"/>
              <a:ext cx="401282" cy="12557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6321608" y="1999488"/>
              <a:ext cx="403041" cy="9423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8898118" y="3169920"/>
              <a:ext cx="331607" cy="108332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/>
            <p:cNvGrpSpPr/>
            <p:nvPr/>
          </p:nvGrpSpPr>
          <p:grpSpPr>
            <a:xfrm>
              <a:off x="363191" y="5072720"/>
              <a:ext cx="9195153" cy="3126719"/>
              <a:chOff x="363191" y="4985636"/>
              <a:chExt cx="9195153" cy="3126719"/>
            </a:xfrm>
          </p:grpSpPr>
          <p:pic>
            <p:nvPicPr>
              <p:cNvPr id="55" name="Image 0" descr="/mnt/data/agv_kpi_plot_slide.png"/>
              <p:cNvPicPr>
                <a:picLocks noChangeAspect="1"/>
              </p:cNvPicPr>
              <p:nvPr/>
            </p:nvPicPr>
            <p:blipFill rotWithShape="1">
              <a:blip r:embed="rId3"/>
              <a:srcRect t="48311"/>
              <a:stretch/>
            </p:blipFill>
            <p:spPr>
              <a:xfrm>
                <a:off x="363191" y="4999216"/>
                <a:ext cx="9195153" cy="3113139"/>
              </a:xfrm>
              <a:prstGeom prst="rect">
                <a:avLst/>
              </a:prstGeom>
            </p:spPr>
          </p:pic>
          <p:sp>
            <p:nvSpPr>
              <p:cNvPr id="8" name="직사각형 7"/>
              <p:cNvSpPr/>
              <p:nvPr/>
            </p:nvSpPr>
            <p:spPr>
              <a:xfrm>
                <a:off x="6460568" y="5008822"/>
                <a:ext cx="485613" cy="2215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1928893" y="4985636"/>
                <a:ext cx="485613" cy="2215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57" name="직선 연결선 56"/>
            <p:cNvCxnSpPr/>
            <p:nvPr/>
          </p:nvCxnSpPr>
          <p:spPr>
            <a:xfrm>
              <a:off x="411588" y="4851834"/>
              <a:ext cx="914675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/>
            <p:cNvCxnSpPr/>
            <p:nvPr/>
          </p:nvCxnSpPr>
          <p:spPr>
            <a:xfrm>
              <a:off x="3657600" y="3474720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>
              <a:off x="3759200" y="2132318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 flipV="1">
              <a:off x="4152900" y="2182368"/>
              <a:ext cx="0" cy="120572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3097026" y="2435639"/>
              <a:ext cx="10743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mtClean="0"/>
                <a:t>3.38</a:t>
              </a:r>
              <a:r>
                <a:rPr lang="ko-KR" altLang="en-US" sz="900" b="1" smtClean="0"/>
                <a:t>배 증폭 출력</a:t>
              </a:r>
              <a:endParaRPr lang="ko-KR" altLang="en-US" sz="900" b="1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558631" y="5773320"/>
              <a:ext cx="10743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mtClean="0"/>
                <a:t>1.49</a:t>
              </a:r>
              <a:r>
                <a:rPr lang="ko-KR" altLang="en-US" sz="900" b="1" smtClean="0"/>
                <a:t>배 증폭 출력</a:t>
              </a:r>
              <a:endParaRPr lang="ko-KR" altLang="en-US" sz="900" b="1"/>
            </a:p>
          </p:txBody>
        </p:sp>
        <p:cxnSp>
          <p:nvCxnSpPr>
            <p:cNvPr id="65" name="직선 연결선 64"/>
            <p:cNvCxnSpPr/>
            <p:nvPr/>
          </p:nvCxnSpPr>
          <p:spPr>
            <a:xfrm>
              <a:off x="8347166" y="4209643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/>
          </p:nvCxnSpPr>
          <p:spPr>
            <a:xfrm>
              <a:off x="8347166" y="3108706"/>
              <a:ext cx="6477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/>
            <p:cNvCxnSpPr/>
            <p:nvPr/>
          </p:nvCxnSpPr>
          <p:spPr>
            <a:xfrm>
              <a:off x="8745719" y="3108706"/>
              <a:ext cx="0" cy="106690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직사각형 69"/>
            <p:cNvSpPr/>
            <p:nvPr/>
          </p:nvSpPr>
          <p:spPr>
            <a:xfrm>
              <a:off x="8566512" y="5705856"/>
              <a:ext cx="179208" cy="83464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823785" y="3510151"/>
              <a:ext cx="10743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mtClean="0"/>
                <a:t>3.90</a:t>
              </a:r>
              <a:r>
                <a:rPr lang="ko-KR" altLang="en-US" sz="900" b="1" smtClean="0"/>
                <a:t>배 증폭 출력</a:t>
              </a:r>
              <a:endParaRPr lang="ko-KR" altLang="en-US" sz="900" b="1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1680814" y="6164580"/>
              <a:ext cx="490886" cy="3759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171699" y="6154320"/>
              <a:ext cx="107433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smtClean="0"/>
                <a:t>1.05</a:t>
              </a:r>
              <a:r>
                <a:rPr lang="ko-KR" altLang="en-US" sz="900" b="1" smtClean="0"/>
                <a:t>배 증폭 출력</a:t>
              </a:r>
              <a:endParaRPr lang="ko-KR" altLang="en-US" sz="900" b="1"/>
            </a:p>
          </p:txBody>
        </p:sp>
      </p:grpSp>
    </p:spTree>
    <p:extLst>
      <p:ext uri="{BB962C8B-B14F-4D97-AF65-F5344CB8AC3E}">
        <p14:creationId xmlns:p14="http://schemas.microsoft.com/office/powerpoint/2010/main" val="409835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344</Words>
  <Application>Microsoft Office PowerPoint</Application>
  <PresentationFormat>사용자 지정</PresentationFormat>
  <Paragraphs>118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Noto Sans CJK KR</vt:lpstr>
      <vt:lpstr>Malgun Gothic</vt:lpstr>
      <vt:lpstr>Malgun Gothic</vt:lpstr>
      <vt:lpstr>Arial</vt:lpstr>
      <vt:lpstr>Wingdings</vt:lpstr>
      <vt:lpstr>Office Theme</vt:lpstr>
      <vt:lpstr>PowerPoint 프레젠테이션</vt:lpstr>
      <vt:lpstr>PowerPoint 프레젠테이션</vt:lpstr>
    </vt:vector>
  </TitlesOfParts>
  <Company>LogiFlow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AGV Navigation Architecture &amp; Troubleshooting</dc:title>
  <dc:subject>AGV Navigation Technical Slides</dc:subject>
  <dc:creator>OpenAI</dc:creator>
  <cp:lastModifiedBy>김윤정</cp:lastModifiedBy>
  <cp:revision>92</cp:revision>
  <dcterms:created xsi:type="dcterms:W3CDTF">2026-06-29T03:25:43Z</dcterms:created>
  <dcterms:modified xsi:type="dcterms:W3CDTF">2026-06-29T07:58:50Z</dcterms:modified>
</cp:coreProperties>
</file>