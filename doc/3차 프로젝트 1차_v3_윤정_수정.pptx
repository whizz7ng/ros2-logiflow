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6" r:id="rId2"/>
    <p:sldId id="277" r:id="rId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6014" autoAdjust="0"/>
  </p:normalViewPr>
  <p:slideViewPr>
    <p:cSldViewPr>
      <p:cViewPr>
        <p:scale>
          <a:sx n="66" d="100"/>
          <a:sy n="66" d="100"/>
        </p:scale>
        <p:origin x="1434" y="5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C9B25-FC42-42BD-821A-FDAD1518F9C0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27518-BA78-4AC8-8590-4E805DE2D8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19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04800" y="2032000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14400" y="7823200"/>
            <a:ext cx="7315200" cy="6400800"/>
          </a:xfrm>
          <a:prstGeom prst="rect">
            <a:avLst/>
          </a:prstGeom>
        </p:spPr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smtClean="0">
                <a:solidFill>
                  <a:schemeClr val="bg2"/>
                </a:solidFill>
                <a:latin typeface="Malgun Gothic"/>
              </a:rPr>
              <a:t>CORNER / TURN_180</a:t>
            </a:r>
            <a:r>
              <a:rPr lang="ko-KR" altLang="en-US" sz="1200" b="0" smtClean="0">
                <a:solidFill>
                  <a:schemeClr val="bg2"/>
                </a:solidFill>
                <a:latin typeface="Malgun Gothic"/>
              </a:rPr>
              <a:t>에서 </a:t>
            </a:r>
            <a:r>
              <a:rPr lang="en-US" altLang="ko-KR" sz="1200" b="0" smtClean="0">
                <a:solidFill>
                  <a:schemeClr val="bg2"/>
                </a:solidFill>
                <a:latin typeface="Malgun Gothic"/>
              </a:rPr>
              <a:t>odom yaw </a:t>
            </a:r>
            <a:r>
              <a:rPr lang="ko-KR" altLang="en-US" sz="1200" b="0" smtClean="0">
                <a:solidFill>
                  <a:schemeClr val="bg2"/>
                </a:solidFill>
                <a:latin typeface="Malgun Gothic"/>
              </a:rPr>
              <a:t>기반 처리</a:t>
            </a:r>
            <a:endParaRPr lang="en-US" altLang="ko-KR" sz="1200" b="0" smtClean="0">
              <a:solidFill>
                <a:schemeClr val="bg2"/>
              </a:solidFill>
              <a:latin typeface="Malgun Gothic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smtClean="0">
                <a:solidFill>
                  <a:schemeClr val="bg2"/>
                </a:solidFill>
                <a:latin typeface="Malgun Gothic"/>
              </a:rPr>
              <a:t>일반 추종은 </a:t>
            </a:r>
            <a:r>
              <a:rPr lang="en-US" altLang="ko-KR" sz="1200" b="0" smtClean="0">
                <a:solidFill>
                  <a:schemeClr val="bg2"/>
                </a:solidFill>
                <a:latin typeface="Malgun Gothic"/>
              </a:rPr>
              <a:t>angular.z </a:t>
            </a:r>
            <a:r>
              <a:rPr lang="ko-KR" altLang="en-US" sz="1200" b="0" smtClean="0">
                <a:solidFill>
                  <a:schemeClr val="bg2"/>
                </a:solidFill>
                <a:latin typeface="Malgun Gothic"/>
              </a:rPr>
              <a:t>대신 </a:t>
            </a:r>
            <a:r>
              <a:rPr lang="en-US" altLang="ko-KR" sz="1200" b="0" smtClean="0">
                <a:solidFill>
                  <a:schemeClr val="bg2"/>
                </a:solidFill>
                <a:latin typeface="Malgun Gothic"/>
              </a:rPr>
              <a:t>mecanum linear.y </a:t>
            </a:r>
            <a:r>
              <a:rPr lang="ko-KR" altLang="en-US" sz="1200" b="0" smtClean="0">
                <a:solidFill>
                  <a:schemeClr val="bg2"/>
                </a:solidFill>
                <a:latin typeface="Malgun Gothic"/>
              </a:rPr>
              <a:t>보정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200" b="0" smtClean="0">
              <a:solidFill>
                <a:schemeClr val="bg2"/>
              </a:solidFill>
              <a:latin typeface="Malgun Gothic"/>
            </a:endParaRP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204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smtClean="0">
                <a:solidFill>
                  <a:srgbClr val="2C4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해석: safety filter는 순간 cmd_vel을 그대로 추종시키는 것이 아니라, myAGV 하위 구동계의 angular deadzone을 고려해 effective command로 변환하여 odom peak와 RMS error를 낮춘다.</a:t>
            </a:r>
            <a:endParaRPr lang="en-US" altLang="ko-KR" sz="120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937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16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ounded Rectangle 314"/>
          <p:cNvSpPr/>
          <p:nvPr/>
        </p:nvSpPr>
        <p:spPr>
          <a:xfrm>
            <a:off x="548097" y="6145327"/>
            <a:ext cx="13353536" cy="2770073"/>
          </a:xfrm>
          <a:prstGeom prst="roundRect">
            <a:avLst/>
          </a:prstGeom>
          <a:solidFill>
            <a:srgbClr val="122738"/>
          </a:solidFill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Text 111"/>
          <p:cNvSpPr/>
          <p:nvPr/>
        </p:nvSpPr>
        <p:spPr>
          <a:xfrm>
            <a:off x="521208" y="274952"/>
            <a:ext cx="12079670" cy="637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AGV </a:t>
            </a:r>
            <a:r>
              <a:rPr lang="en-US" sz="3200" b="1">
                <a:solidFill>
                  <a:schemeClr val="bg1">
                    <a:lumMod val="9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</a:t>
            </a:r>
            <a:r>
              <a:rPr lang="en-US" sz="3200" b="1" smtClean="0">
                <a:solidFill>
                  <a:schemeClr val="bg1">
                    <a:lumMod val="9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 </a:t>
            </a:r>
            <a:r>
              <a:rPr lang="ko-KR" altLang="en-US" sz="3200" b="1" smtClean="0">
                <a:solidFill>
                  <a:schemeClr val="bg1">
                    <a:lumMod val="9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r>
              <a:rPr lang="en-US" sz="3200" b="1" smtClean="0">
                <a:solidFill>
                  <a:schemeClr val="bg1">
                    <a:lumMod val="9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200" b="1">
                <a:solidFill>
                  <a:schemeClr val="bg1">
                    <a:lumMod val="9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</a:t>
            </a:r>
            <a:r>
              <a:rPr lang="ko-KR" altLang="en-US" sz="3200" b="1" smtClean="0">
                <a:solidFill>
                  <a:schemeClr val="bg1">
                    <a:lumMod val="9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주행 상태 전이 알고리즘</a:t>
            </a:r>
            <a:endParaRPr lang="en-US" sz="3200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94" name="그룹 93"/>
          <p:cNvGrpSpPr/>
          <p:nvPr/>
        </p:nvGrpSpPr>
        <p:grpSpPr>
          <a:xfrm>
            <a:off x="182817" y="1132654"/>
            <a:ext cx="7058926" cy="4631779"/>
            <a:chOff x="104058" y="1003993"/>
            <a:chExt cx="7058926" cy="4631779"/>
          </a:xfrm>
        </p:grpSpPr>
        <p:sp>
          <p:nvSpPr>
            <p:cNvPr id="10" name="Shape 119"/>
            <p:cNvSpPr/>
            <p:nvPr/>
          </p:nvSpPr>
          <p:spPr>
            <a:xfrm>
              <a:off x="355114" y="1207681"/>
              <a:ext cx="6807870" cy="4428091"/>
            </a:xfrm>
            <a:prstGeom prst="roundRect">
              <a:avLst>
                <a:gd name="adj" fmla="val 1724"/>
              </a:avLst>
            </a:prstGeom>
            <a:solidFill>
              <a:srgbClr val="122738"/>
            </a:solidFill>
            <a:ln w="19050">
              <a:solidFill>
                <a:schemeClr val="accent1">
                  <a:lumMod val="50000"/>
                </a:schemeClr>
              </a:solidFill>
              <a:prstDash val="solid"/>
            </a:ln>
          </p:spPr>
        </p:sp>
        <p:sp>
          <p:nvSpPr>
            <p:cNvPr id="11" name="Shape 120"/>
            <p:cNvSpPr/>
            <p:nvPr/>
          </p:nvSpPr>
          <p:spPr>
            <a:xfrm>
              <a:off x="1666262" y="1892250"/>
              <a:ext cx="822960" cy="0"/>
            </a:xfrm>
            <a:prstGeom prst="line">
              <a:avLst/>
            </a:prstGeom>
            <a:noFill/>
            <a:ln w="17780">
              <a:solidFill>
                <a:srgbClr val="2D9CDB"/>
              </a:solidFill>
              <a:prstDash val="solid"/>
              <a:headEnd type="none"/>
              <a:tailEnd type="triangle"/>
            </a:ln>
          </p:spPr>
        </p:sp>
        <p:sp>
          <p:nvSpPr>
            <p:cNvPr id="12" name="Shape 121"/>
            <p:cNvSpPr/>
            <p:nvPr/>
          </p:nvSpPr>
          <p:spPr>
            <a:xfrm>
              <a:off x="4165600" y="1892250"/>
              <a:ext cx="749808" cy="0"/>
            </a:xfrm>
            <a:prstGeom prst="line">
              <a:avLst/>
            </a:prstGeom>
            <a:noFill/>
            <a:ln w="17780">
              <a:solidFill>
                <a:srgbClr val="1EAD7C"/>
              </a:solidFill>
              <a:prstDash val="solid"/>
              <a:headEnd type="none"/>
              <a:tailEnd type="triangle"/>
            </a:ln>
          </p:spPr>
        </p:sp>
        <p:sp>
          <p:nvSpPr>
            <p:cNvPr id="13" name="Shape 122"/>
            <p:cNvSpPr/>
            <p:nvPr/>
          </p:nvSpPr>
          <p:spPr>
            <a:xfrm>
              <a:off x="3331616" y="2411606"/>
              <a:ext cx="0" cy="585216"/>
            </a:xfrm>
            <a:prstGeom prst="line">
              <a:avLst/>
            </a:prstGeom>
            <a:noFill/>
            <a:ln w="17780">
              <a:solidFill>
                <a:srgbClr val="1EAD7C"/>
              </a:solidFill>
              <a:prstDash val="solid"/>
              <a:headEnd type="none"/>
              <a:tailEnd type="triangle"/>
            </a:ln>
          </p:spPr>
        </p:sp>
        <p:sp>
          <p:nvSpPr>
            <p:cNvPr id="14" name="Shape 123"/>
            <p:cNvSpPr/>
            <p:nvPr/>
          </p:nvSpPr>
          <p:spPr>
            <a:xfrm>
              <a:off x="3310159" y="3873114"/>
              <a:ext cx="0" cy="701708"/>
            </a:xfrm>
            <a:prstGeom prst="line">
              <a:avLst/>
            </a:prstGeom>
            <a:noFill/>
            <a:ln w="17780">
              <a:solidFill>
                <a:srgbClr val="1EAD7C"/>
              </a:solidFill>
              <a:prstDash val="solid"/>
              <a:headEnd type="none"/>
              <a:tailEnd type="triangle"/>
            </a:ln>
          </p:spPr>
        </p:sp>
        <p:sp>
          <p:nvSpPr>
            <p:cNvPr id="15" name="Shape 124"/>
            <p:cNvSpPr/>
            <p:nvPr/>
          </p:nvSpPr>
          <p:spPr>
            <a:xfrm>
              <a:off x="4171878" y="3423555"/>
              <a:ext cx="731520" cy="0"/>
            </a:xfrm>
            <a:prstGeom prst="line">
              <a:avLst/>
            </a:prstGeom>
            <a:noFill/>
            <a:ln w="17780">
              <a:solidFill>
                <a:srgbClr val="F2994A"/>
              </a:solidFill>
              <a:prstDash val="solid"/>
              <a:headEnd type="none"/>
              <a:tailEnd type="triangle"/>
            </a:ln>
          </p:spPr>
        </p:sp>
        <p:grpSp>
          <p:nvGrpSpPr>
            <p:cNvPr id="2" name="그룹 1"/>
            <p:cNvGrpSpPr/>
            <p:nvPr/>
          </p:nvGrpSpPr>
          <p:grpSpPr>
            <a:xfrm>
              <a:off x="515736" y="1564281"/>
              <a:ext cx="1161287" cy="724186"/>
              <a:chOff x="1025905" y="1578783"/>
              <a:chExt cx="1161287" cy="724186"/>
            </a:xfrm>
          </p:grpSpPr>
          <p:grpSp>
            <p:nvGrpSpPr>
              <p:cNvPr id="16" name="그룹 15"/>
              <p:cNvGrpSpPr/>
              <p:nvPr/>
            </p:nvGrpSpPr>
            <p:grpSpPr>
              <a:xfrm>
                <a:off x="1025905" y="1578783"/>
                <a:ext cx="1161287" cy="724186"/>
                <a:chOff x="461773" y="1885665"/>
                <a:chExt cx="1161287" cy="724186"/>
              </a:xfrm>
            </p:grpSpPr>
            <p:sp>
              <p:nvSpPr>
                <p:cNvPr id="59" name="Shape 125"/>
                <p:cNvSpPr/>
                <p:nvPr/>
              </p:nvSpPr>
              <p:spPr>
                <a:xfrm>
                  <a:off x="480060" y="1892808"/>
                  <a:ext cx="1143000" cy="707517"/>
                </a:xfrm>
                <a:prstGeom prst="roundRect">
                  <a:avLst>
                    <a:gd name="adj" fmla="val 8772"/>
                  </a:avLst>
                </a:prstGeom>
                <a:solidFill>
                  <a:srgbClr val="002244"/>
                </a:solidFill>
                <a:ln w="12700">
                  <a:solidFill>
                    <a:schemeClr val="accent5">
                      <a:lumMod val="50000"/>
                    </a:schemeClr>
                  </a:solidFill>
                  <a:prstDash val="solid"/>
                </a:ln>
              </p:spPr>
            </p:sp>
            <p:sp>
              <p:nvSpPr>
                <p:cNvPr id="60" name="Shape 126"/>
                <p:cNvSpPr/>
                <p:nvPr/>
              </p:nvSpPr>
              <p:spPr>
                <a:xfrm>
                  <a:off x="461773" y="1885665"/>
                  <a:ext cx="82295" cy="724186"/>
                </a:xfrm>
                <a:prstGeom prst="rect">
                  <a:avLst/>
                </a:prstGeom>
                <a:solidFill>
                  <a:srgbClr val="2D9CDB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</p:grpSp>
          <p:sp>
            <p:nvSpPr>
              <p:cNvPr id="17" name="Text 127"/>
              <p:cNvSpPr/>
              <p:nvPr/>
            </p:nvSpPr>
            <p:spPr>
              <a:xfrm>
                <a:off x="1164939" y="1672540"/>
                <a:ext cx="822960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1500" b="1" dirty="0">
                    <a:solidFill>
                      <a:schemeClr val="bg1">
                        <a:lumMod val="9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RGB-D</a:t>
                </a:r>
                <a:endParaRPr lang="en-US" sz="15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8" name="Text 128"/>
              <p:cNvSpPr/>
              <p:nvPr/>
            </p:nvSpPr>
            <p:spPr>
              <a:xfrm>
                <a:off x="1170523" y="1921075"/>
                <a:ext cx="1005907" cy="310896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RealSense</a:t>
                </a:r>
                <a:endParaRPr lang="en-US" sz="1050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1050" b="1" dirty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color</a:t>
                </a:r>
                <a:r>
                  <a:rPr lang="en-US" sz="1050" dirty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+ </a:t>
                </a:r>
                <a:r>
                  <a:rPr lang="en-US" sz="1050" b="1" dirty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depth</a:t>
                </a:r>
                <a:endParaRPr lang="en-US" sz="1050" b="1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19" name="그룹 18"/>
            <p:cNvGrpSpPr/>
            <p:nvPr/>
          </p:nvGrpSpPr>
          <p:grpSpPr>
            <a:xfrm>
              <a:off x="1786077" y="1607654"/>
              <a:ext cx="502920" cy="237744"/>
              <a:chOff x="1687068" y="2139696"/>
              <a:chExt cx="502920" cy="237744"/>
            </a:xfrm>
          </p:grpSpPr>
          <p:sp>
            <p:nvSpPr>
              <p:cNvPr id="57" name="Shape 149"/>
              <p:cNvSpPr/>
              <p:nvPr/>
            </p:nvSpPr>
            <p:spPr>
              <a:xfrm>
                <a:off x="1687068" y="2139696"/>
                <a:ext cx="502920" cy="237744"/>
              </a:xfrm>
              <a:prstGeom prst="roundRect">
                <a:avLst>
                  <a:gd name="adj" fmla="val 46154"/>
                </a:avLst>
              </a:prstGeom>
              <a:solidFill>
                <a:srgbClr val="2D9CDB"/>
              </a:solidFill>
              <a:ln w="12700">
                <a:solidFill>
                  <a:srgbClr val="2D9CDB">
                    <a:alpha val="0"/>
                  </a:srgbClr>
                </a:solidFill>
                <a:prstDash val="solid"/>
              </a:ln>
            </p:spPr>
          </p:sp>
          <p:sp>
            <p:nvSpPr>
              <p:cNvPr id="58" name="Text 150"/>
              <p:cNvSpPr/>
              <p:nvPr/>
            </p:nvSpPr>
            <p:spPr>
              <a:xfrm>
                <a:off x="1687068" y="2167128"/>
                <a:ext cx="502920" cy="17373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chemeClr val="bg1">
                        <a:lumMod val="9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Image</a:t>
                </a:r>
                <a:endParaRPr lang="en-US" sz="9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20" name="그룹 19"/>
            <p:cNvGrpSpPr/>
            <p:nvPr/>
          </p:nvGrpSpPr>
          <p:grpSpPr>
            <a:xfrm>
              <a:off x="2906357" y="2505411"/>
              <a:ext cx="783241" cy="237744"/>
              <a:chOff x="2647410" y="2876196"/>
              <a:chExt cx="783241" cy="237744"/>
            </a:xfrm>
          </p:grpSpPr>
          <p:sp>
            <p:nvSpPr>
              <p:cNvPr id="55" name="Shape 153"/>
              <p:cNvSpPr/>
              <p:nvPr/>
            </p:nvSpPr>
            <p:spPr>
              <a:xfrm>
                <a:off x="2647410" y="2876196"/>
                <a:ext cx="783241" cy="237744"/>
              </a:xfrm>
              <a:prstGeom prst="roundRect">
                <a:avLst>
                  <a:gd name="adj" fmla="val 46154"/>
                </a:avLst>
              </a:prstGeom>
              <a:solidFill>
                <a:srgbClr val="F2994A"/>
              </a:solidFill>
              <a:ln w="12700">
                <a:solidFill>
                  <a:srgbClr val="F2994A">
                    <a:alpha val="0"/>
                  </a:srgbClr>
                </a:solidFill>
                <a:prstDash val="solid"/>
              </a:ln>
            </p:spPr>
          </p:sp>
          <p:sp>
            <p:nvSpPr>
              <p:cNvPr id="56" name="Text 154"/>
              <p:cNvSpPr/>
              <p:nvPr/>
            </p:nvSpPr>
            <p:spPr>
              <a:xfrm>
                <a:off x="2690211" y="2901263"/>
                <a:ext cx="703387" cy="17373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680" b="1" dirty="0">
                    <a:solidFill>
                      <a:schemeClr val="bg1">
                        <a:lumMod val="9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/cmd_vel_raw</a:t>
                </a:r>
                <a:endParaRPr lang="en-US" sz="68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21" name="그룹 20"/>
            <p:cNvGrpSpPr/>
            <p:nvPr/>
          </p:nvGrpSpPr>
          <p:grpSpPr>
            <a:xfrm>
              <a:off x="2871247" y="4069473"/>
              <a:ext cx="877824" cy="237744"/>
              <a:chOff x="2601063" y="4459048"/>
              <a:chExt cx="877824" cy="237744"/>
            </a:xfrm>
          </p:grpSpPr>
          <p:sp>
            <p:nvSpPr>
              <p:cNvPr id="53" name="Shape 155"/>
              <p:cNvSpPr/>
              <p:nvPr/>
            </p:nvSpPr>
            <p:spPr>
              <a:xfrm>
                <a:off x="2785603" y="4459048"/>
                <a:ext cx="512921" cy="237744"/>
              </a:xfrm>
              <a:prstGeom prst="roundRect">
                <a:avLst>
                  <a:gd name="adj" fmla="val 46154"/>
                </a:avLst>
              </a:prstGeom>
              <a:solidFill>
                <a:srgbClr val="EB5757"/>
              </a:solidFill>
              <a:ln w="12700">
                <a:solidFill>
                  <a:srgbClr val="EB5757">
                    <a:alpha val="0"/>
                  </a:srgbClr>
                </a:solidFill>
                <a:prstDash val="solid"/>
              </a:ln>
            </p:spPr>
          </p:sp>
          <p:sp>
            <p:nvSpPr>
              <p:cNvPr id="54" name="Text 156"/>
              <p:cNvSpPr/>
              <p:nvPr/>
            </p:nvSpPr>
            <p:spPr>
              <a:xfrm>
                <a:off x="2601063" y="4485544"/>
                <a:ext cx="877824" cy="17373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680" b="1" dirty="0">
                    <a:solidFill>
                      <a:schemeClr val="bg1">
                        <a:lumMod val="9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/cmd_vel</a:t>
                </a:r>
                <a:endParaRPr lang="en-US" sz="68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22" name="그룹 21"/>
            <p:cNvGrpSpPr/>
            <p:nvPr/>
          </p:nvGrpSpPr>
          <p:grpSpPr>
            <a:xfrm>
              <a:off x="2518432" y="1522947"/>
              <a:ext cx="1653445" cy="918098"/>
              <a:chOff x="1277875" y="2297905"/>
              <a:chExt cx="1653445" cy="918098"/>
            </a:xfrm>
          </p:grpSpPr>
          <p:grpSp>
            <p:nvGrpSpPr>
              <p:cNvPr id="48" name="그룹 47"/>
              <p:cNvGrpSpPr/>
              <p:nvPr/>
            </p:nvGrpSpPr>
            <p:grpSpPr>
              <a:xfrm>
                <a:off x="1277875" y="2297905"/>
                <a:ext cx="1653445" cy="918098"/>
                <a:chOff x="461773" y="1885664"/>
                <a:chExt cx="1653445" cy="918098"/>
              </a:xfrm>
            </p:grpSpPr>
            <p:sp>
              <p:nvSpPr>
                <p:cNvPr id="51" name="Shape 125"/>
                <p:cNvSpPr/>
                <p:nvPr/>
              </p:nvSpPr>
              <p:spPr>
                <a:xfrm>
                  <a:off x="480059" y="1892808"/>
                  <a:ext cx="1635159" cy="910954"/>
                </a:xfrm>
                <a:prstGeom prst="roundRect">
                  <a:avLst>
                    <a:gd name="adj" fmla="val 8772"/>
                  </a:avLst>
                </a:prstGeom>
                <a:solidFill>
                  <a:srgbClr val="002244"/>
                </a:solidFill>
                <a:ln w="12700">
                  <a:solidFill>
                    <a:schemeClr val="accent5">
                      <a:lumMod val="50000"/>
                    </a:schemeClr>
                  </a:solidFill>
                  <a:prstDash val="solid"/>
                </a:ln>
              </p:spPr>
            </p:sp>
            <p:sp>
              <p:nvSpPr>
                <p:cNvPr id="52" name="Shape 126"/>
                <p:cNvSpPr/>
                <p:nvPr/>
              </p:nvSpPr>
              <p:spPr>
                <a:xfrm>
                  <a:off x="461773" y="1885664"/>
                  <a:ext cx="96324" cy="918098"/>
                </a:xfrm>
                <a:prstGeom prst="rect">
                  <a:avLst/>
                </a:prstGeom>
                <a:solidFill>
                  <a:srgbClr val="1EAD7C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</p:grpSp>
          <p:sp>
            <p:nvSpPr>
              <p:cNvPr id="49" name="Text 131"/>
              <p:cNvSpPr/>
              <p:nvPr/>
            </p:nvSpPr>
            <p:spPr>
              <a:xfrm>
                <a:off x="1403427" y="2361922"/>
                <a:ext cx="1470611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1500" b="1" dirty="0">
                    <a:solidFill>
                      <a:schemeClr val="bg1">
                        <a:lumMod val="9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Orin Perception</a:t>
                </a:r>
                <a:endParaRPr lang="en-US" sz="15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50" name="Text 132"/>
              <p:cNvSpPr/>
              <p:nvPr/>
            </p:nvSpPr>
            <p:spPr>
              <a:xfrm>
                <a:off x="1432412" y="2669275"/>
                <a:ext cx="1328762" cy="508382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Line / QR / Depth</a:t>
                </a:r>
                <a:endParaRPr lang="en-US" sz="1050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1050" dirty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Parking marker</a:t>
                </a:r>
                <a:endParaRPr lang="en-US" sz="1050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1050" b="1" dirty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→</a:t>
                </a:r>
                <a:r>
                  <a:rPr lang="en-US" sz="1050" dirty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</a:t>
                </a:r>
                <a:r>
                  <a:rPr lang="en-US" sz="1050" b="1" dirty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JSON publish</a:t>
                </a:r>
                <a:endParaRPr lang="en-US" sz="1050" b="1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23" name="그룹 22"/>
            <p:cNvGrpSpPr/>
            <p:nvPr/>
          </p:nvGrpSpPr>
          <p:grpSpPr>
            <a:xfrm>
              <a:off x="4266734" y="1615869"/>
              <a:ext cx="511978" cy="237744"/>
              <a:chOff x="1873896" y="2144328"/>
              <a:chExt cx="511978" cy="237744"/>
            </a:xfrm>
          </p:grpSpPr>
          <p:sp>
            <p:nvSpPr>
              <p:cNvPr id="46" name="Shape 149"/>
              <p:cNvSpPr/>
              <p:nvPr/>
            </p:nvSpPr>
            <p:spPr>
              <a:xfrm>
                <a:off x="1882954" y="2144328"/>
                <a:ext cx="502920" cy="237744"/>
              </a:xfrm>
              <a:prstGeom prst="roundRect">
                <a:avLst>
                  <a:gd name="adj" fmla="val 46154"/>
                </a:avLst>
              </a:prstGeom>
              <a:solidFill>
                <a:srgbClr val="1EAD7C"/>
              </a:solidFill>
              <a:ln w="12700">
                <a:solidFill>
                  <a:srgbClr val="2D9CDB">
                    <a:alpha val="0"/>
                  </a:srgbClr>
                </a:solidFill>
                <a:prstDash val="solid"/>
              </a:ln>
            </p:spPr>
          </p:sp>
          <p:sp>
            <p:nvSpPr>
              <p:cNvPr id="47" name="Text 150"/>
              <p:cNvSpPr/>
              <p:nvPr/>
            </p:nvSpPr>
            <p:spPr>
              <a:xfrm>
                <a:off x="1873896" y="2180744"/>
                <a:ext cx="502920" cy="17373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900" b="1" smtClean="0">
                    <a:solidFill>
                      <a:schemeClr val="bg1">
                        <a:lumMod val="95000"/>
                      </a:schemeClr>
                    </a:solidFill>
                    <a:latin typeface="Malgun Gothic" pitchFamily="34" charset="0"/>
                    <a:ea typeface="Malgun Gothic" pitchFamily="34" charset="-122"/>
                  </a:rPr>
                  <a:t>JSON</a:t>
                </a:r>
                <a:endParaRPr lang="en-US" sz="9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24" name="그룹 23"/>
            <p:cNvGrpSpPr/>
            <p:nvPr/>
          </p:nvGrpSpPr>
          <p:grpSpPr>
            <a:xfrm>
              <a:off x="4934659" y="1447800"/>
              <a:ext cx="2126541" cy="1004686"/>
              <a:chOff x="4401646" y="1709465"/>
              <a:chExt cx="2126541" cy="1004686"/>
            </a:xfrm>
          </p:grpSpPr>
          <p:grpSp>
            <p:nvGrpSpPr>
              <p:cNvPr id="41" name="그룹 40"/>
              <p:cNvGrpSpPr/>
              <p:nvPr/>
            </p:nvGrpSpPr>
            <p:grpSpPr>
              <a:xfrm>
                <a:off x="4401646" y="1709465"/>
                <a:ext cx="2052547" cy="941123"/>
                <a:chOff x="516083" y="1663445"/>
                <a:chExt cx="2052547" cy="941123"/>
              </a:xfrm>
            </p:grpSpPr>
            <p:sp>
              <p:nvSpPr>
                <p:cNvPr id="44" name="Shape 125"/>
                <p:cNvSpPr/>
                <p:nvPr/>
              </p:nvSpPr>
              <p:spPr>
                <a:xfrm>
                  <a:off x="534369" y="1663445"/>
                  <a:ext cx="2034261" cy="941123"/>
                </a:xfrm>
                <a:prstGeom prst="roundRect">
                  <a:avLst>
                    <a:gd name="adj" fmla="val 8772"/>
                  </a:avLst>
                </a:prstGeom>
                <a:solidFill>
                  <a:srgbClr val="002244"/>
                </a:solidFill>
                <a:ln w="12700">
                  <a:solidFill>
                    <a:schemeClr val="accent5">
                      <a:lumMod val="50000"/>
                    </a:schemeClr>
                  </a:solidFill>
                  <a:prstDash val="solid"/>
                </a:ln>
              </p:spPr>
            </p:sp>
            <p:sp>
              <p:nvSpPr>
                <p:cNvPr id="45" name="Shape 126"/>
                <p:cNvSpPr/>
                <p:nvPr/>
              </p:nvSpPr>
              <p:spPr>
                <a:xfrm>
                  <a:off x="516083" y="1663445"/>
                  <a:ext cx="82295" cy="941123"/>
                </a:xfrm>
                <a:prstGeom prst="rect">
                  <a:avLst/>
                </a:prstGeom>
                <a:solidFill>
                  <a:srgbClr val="2D9CDB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</p:grpSp>
          <p:sp>
            <p:nvSpPr>
              <p:cNvPr id="42" name="Text 135"/>
              <p:cNvSpPr/>
              <p:nvPr/>
            </p:nvSpPr>
            <p:spPr>
              <a:xfrm>
                <a:off x="4517278" y="1781607"/>
                <a:ext cx="2010909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1500" b="1" dirty="0">
                    <a:solidFill>
                      <a:schemeClr val="bg1">
                        <a:lumMod val="9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Jetson Tracer Node</a:t>
                </a:r>
                <a:endParaRPr lang="en-US" sz="15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43" name="Text 136"/>
              <p:cNvSpPr/>
              <p:nvPr/>
            </p:nvSpPr>
            <p:spPr>
              <a:xfrm>
                <a:off x="4527480" y="1982631"/>
                <a:ext cx="1645920" cy="73152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Mission FSM</a:t>
                </a:r>
                <a:endParaRPr lang="en-US" sz="1050" b="1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1050" dirty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Navigation State</a:t>
                </a:r>
                <a:endParaRPr lang="en-US" sz="1050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105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Decision </a:t>
                </a:r>
                <a:r>
                  <a:rPr lang="en-US" sz="1050" smtClean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Logic</a:t>
                </a:r>
                <a:endParaRPr lang="en-US" sz="105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62" name="그룹 61"/>
            <p:cNvGrpSpPr/>
            <p:nvPr/>
          </p:nvGrpSpPr>
          <p:grpSpPr>
            <a:xfrm>
              <a:off x="4948950" y="3052706"/>
              <a:ext cx="1332819" cy="814006"/>
              <a:chOff x="5143622" y="3108126"/>
              <a:chExt cx="1332819" cy="814006"/>
            </a:xfrm>
          </p:grpSpPr>
          <p:grpSp>
            <p:nvGrpSpPr>
              <p:cNvPr id="25" name="그룹 24"/>
              <p:cNvGrpSpPr/>
              <p:nvPr/>
            </p:nvGrpSpPr>
            <p:grpSpPr>
              <a:xfrm>
                <a:off x="5143622" y="3108126"/>
                <a:ext cx="1332819" cy="814006"/>
                <a:chOff x="525781" y="2005859"/>
                <a:chExt cx="1332819" cy="814006"/>
              </a:xfrm>
            </p:grpSpPr>
            <p:sp>
              <p:nvSpPr>
                <p:cNvPr id="39" name="Shape 125"/>
                <p:cNvSpPr/>
                <p:nvPr/>
              </p:nvSpPr>
              <p:spPr>
                <a:xfrm>
                  <a:off x="544067" y="2013002"/>
                  <a:ext cx="1314533" cy="806863"/>
                </a:xfrm>
                <a:prstGeom prst="roundRect">
                  <a:avLst>
                    <a:gd name="adj" fmla="val 8772"/>
                  </a:avLst>
                </a:prstGeom>
                <a:solidFill>
                  <a:srgbClr val="002244"/>
                </a:solidFill>
                <a:ln w="12700">
                  <a:solidFill>
                    <a:schemeClr val="accent5">
                      <a:lumMod val="50000"/>
                    </a:schemeClr>
                  </a:solidFill>
                  <a:prstDash val="solid"/>
                </a:ln>
              </p:spPr>
            </p:sp>
            <p:sp>
              <p:nvSpPr>
                <p:cNvPr id="40" name="Shape 126"/>
                <p:cNvSpPr/>
                <p:nvPr/>
              </p:nvSpPr>
              <p:spPr>
                <a:xfrm>
                  <a:off x="525781" y="2005859"/>
                  <a:ext cx="82295" cy="814006"/>
                </a:xfrm>
                <a:prstGeom prst="rect">
                  <a:avLst/>
                </a:prstGeom>
                <a:solidFill>
                  <a:srgbClr val="6C63FF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</p:grpSp>
          <p:sp>
            <p:nvSpPr>
              <p:cNvPr id="26" name="Text 147"/>
              <p:cNvSpPr/>
              <p:nvPr/>
            </p:nvSpPr>
            <p:spPr>
              <a:xfrm>
                <a:off x="5280019" y="3204099"/>
                <a:ext cx="1097280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1500" b="1" dirty="0">
                    <a:solidFill>
                      <a:schemeClr val="bg1">
                        <a:lumMod val="9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Control I/O</a:t>
                </a:r>
                <a:endParaRPr lang="en-US" sz="15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27" name="Text 148"/>
              <p:cNvSpPr/>
              <p:nvPr/>
            </p:nvSpPr>
            <p:spPr>
              <a:xfrm>
                <a:off x="5297742" y="3413452"/>
                <a:ext cx="666446" cy="39636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/stop_obj</a:t>
                </a:r>
                <a:endParaRPr lang="en-US" sz="1050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105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/</a:t>
                </a:r>
                <a:r>
                  <a:rPr lang="en-US" sz="1050" smtClean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stop_qr</a:t>
                </a:r>
                <a:endParaRPr lang="en-US" sz="105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61" name="그룹 60"/>
            <p:cNvGrpSpPr/>
            <p:nvPr/>
          </p:nvGrpSpPr>
          <p:grpSpPr>
            <a:xfrm>
              <a:off x="2196618" y="3024672"/>
              <a:ext cx="2305181" cy="926015"/>
              <a:chOff x="2587443" y="3069414"/>
              <a:chExt cx="2305181" cy="926015"/>
            </a:xfrm>
          </p:grpSpPr>
          <p:grpSp>
            <p:nvGrpSpPr>
              <p:cNvPr id="28" name="그룹 27"/>
              <p:cNvGrpSpPr/>
              <p:nvPr/>
            </p:nvGrpSpPr>
            <p:grpSpPr>
              <a:xfrm>
                <a:off x="2587443" y="3069414"/>
                <a:ext cx="2117283" cy="894675"/>
                <a:chOff x="434417" y="2066581"/>
                <a:chExt cx="2117283" cy="894675"/>
              </a:xfrm>
            </p:grpSpPr>
            <p:sp>
              <p:nvSpPr>
                <p:cNvPr id="37" name="Shape 125"/>
                <p:cNvSpPr/>
                <p:nvPr/>
              </p:nvSpPr>
              <p:spPr>
                <a:xfrm>
                  <a:off x="446353" y="2073724"/>
                  <a:ext cx="2105347" cy="877189"/>
                </a:xfrm>
                <a:prstGeom prst="roundRect">
                  <a:avLst>
                    <a:gd name="adj" fmla="val 8772"/>
                  </a:avLst>
                </a:prstGeom>
                <a:solidFill>
                  <a:srgbClr val="002244"/>
                </a:solidFill>
                <a:ln w="12700">
                  <a:solidFill>
                    <a:schemeClr val="accent5">
                      <a:lumMod val="50000"/>
                    </a:schemeClr>
                  </a:solidFill>
                  <a:prstDash val="solid"/>
                </a:ln>
              </p:spPr>
            </p:sp>
            <p:sp>
              <p:nvSpPr>
                <p:cNvPr id="38" name="Shape 126"/>
                <p:cNvSpPr/>
                <p:nvPr/>
              </p:nvSpPr>
              <p:spPr>
                <a:xfrm>
                  <a:off x="434417" y="2066581"/>
                  <a:ext cx="82295" cy="894675"/>
                </a:xfrm>
                <a:prstGeom prst="rect">
                  <a:avLst/>
                </a:prstGeom>
                <a:solidFill>
                  <a:srgbClr val="F2994A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</p:grpSp>
          <p:sp>
            <p:nvSpPr>
              <p:cNvPr id="29" name="Text 139"/>
              <p:cNvSpPr/>
              <p:nvPr/>
            </p:nvSpPr>
            <p:spPr>
              <a:xfrm>
                <a:off x="2710013" y="3169171"/>
                <a:ext cx="2153087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1500" b="1" dirty="0">
                    <a:solidFill>
                      <a:schemeClr val="bg1">
                        <a:lumMod val="9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cmd_vel Safety Filter</a:t>
                </a:r>
                <a:endParaRPr lang="en-US" sz="15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30" name="Text 140"/>
              <p:cNvSpPr/>
              <p:nvPr/>
            </p:nvSpPr>
            <p:spPr>
              <a:xfrm>
                <a:off x="2690870" y="3446789"/>
                <a:ext cx="2201754" cy="54864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accel limit </a:t>
                </a:r>
                <a:r>
                  <a:rPr lang="en-US" sz="1050" dirty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/ deadzone adapter</a:t>
                </a:r>
                <a:endParaRPr lang="en-US" sz="1050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1050" b="1" dirty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pulse duty </a:t>
                </a:r>
                <a:r>
                  <a:rPr lang="en-US" sz="1050" dirty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/ zero-cross guard</a:t>
                </a:r>
                <a:endParaRPr lang="en-US" sz="105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31" name="그룹 30"/>
            <p:cNvGrpSpPr/>
            <p:nvPr/>
          </p:nvGrpSpPr>
          <p:grpSpPr>
            <a:xfrm>
              <a:off x="2060147" y="4571806"/>
              <a:ext cx="2372805" cy="950610"/>
              <a:chOff x="4836141" y="4242987"/>
              <a:chExt cx="2372805" cy="950610"/>
            </a:xfrm>
          </p:grpSpPr>
          <p:grpSp>
            <p:nvGrpSpPr>
              <p:cNvPr id="32" name="그룹 31"/>
              <p:cNvGrpSpPr/>
              <p:nvPr/>
            </p:nvGrpSpPr>
            <p:grpSpPr>
              <a:xfrm>
                <a:off x="4836141" y="4242987"/>
                <a:ext cx="2372805" cy="950610"/>
                <a:chOff x="615043" y="1939982"/>
                <a:chExt cx="2372805" cy="950610"/>
              </a:xfrm>
            </p:grpSpPr>
            <p:sp>
              <p:nvSpPr>
                <p:cNvPr id="35" name="Shape 125"/>
                <p:cNvSpPr/>
                <p:nvPr/>
              </p:nvSpPr>
              <p:spPr>
                <a:xfrm>
                  <a:off x="626980" y="1949505"/>
                  <a:ext cx="2360868" cy="933069"/>
                </a:xfrm>
                <a:prstGeom prst="roundRect">
                  <a:avLst>
                    <a:gd name="adj" fmla="val 8772"/>
                  </a:avLst>
                </a:prstGeom>
                <a:solidFill>
                  <a:srgbClr val="002244"/>
                </a:solidFill>
                <a:ln w="12700">
                  <a:solidFill>
                    <a:schemeClr val="accent5">
                      <a:lumMod val="50000"/>
                    </a:schemeClr>
                  </a:solidFill>
                  <a:prstDash val="solid"/>
                </a:ln>
              </p:spPr>
            </p:sp>
            <p:sp>
              <p:nvSpPr>
                <p:cNvPr id="36" name="Shape 126"/>
                <p:cNvSpPr/>
                <p:nvPr/>
              </p:nvSpPr>
              <p:spPr>
                <a:xfrm>
                  <a:off x="615043" y="1939982"/>
                  <a:ext cx="82295" cy="950610"/>
                </a:xfrm>
                <a:prstGeom prst="rect">
                  <a:avLst/>
                </a:prstGeom>
                <a:solidFill>
                  <a:srgbClr val="EB5757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</p:grpSp>
          <p:sp>
            <p:nvSpPr>
              <p:cNvPr id="33" name="Text 143"/>
              <p:cNvSpPr/>
              <p:nvPr/>
            </p:nvSpPr>
            <p:spPr>
              <a:xfrm>
                <a:off x="4967101" y="4334141"/>
                <a:ext cx="2241845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chemeClr val="bg1">
                        <a:lumMod val="9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myAGV Driver / MCU</a:t>
                </a:r>
                <a:endParaRPr lang="en-US" sz="16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34" name="Text 144"/>
              <p:cNvSpPr/>
              <p:nvPr/>
            </p:nvSpPr>
            <p:spPr>
              <a:xfrm>
                <a:off x="4973067" y="4853262"/>
                <a:ext cx="1563310" cy="256032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/cmd_vel hardware-safe command</a:t>
                </a:r>
                <a:endParaRPr lang="en-US" sz="11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4" name="그룹 3"/>
            <p:cNvGrpSpPr/>
            <p:nvPr/>
          </p:nvGrpSpPr>
          <p:grpSpPr>
            <a:xfrm>
              <a:off x="104058" y="1003993"/>
              <a:ext cx="3145929" cy="395452"/>
              <a:chOff x="554603" y="1157262"/>
              <a:chExt cx="3145929" cy="395452"/>
            </a:xfrm>
          </p:grpSpPr>
          <p:sp>
            <p:nvSpPr>
              <p:cNvPr id="8" name="Shape 115"/>
              <p:cNvSpPr/>
              <p:nvPr/>
            </p:nvSpPr>
            <p:spPr>
              <a:xfrm>
                <a:off x="554603" y="1157262"/>
                <a:ext cx="3145929" cy="395452"/>
              </a:xfrm>
              <a:prstGeom prst="roundRect">
                <a:avLst>
                  <a:gd name="adj" fmla="val 24242"/>
                </a:avLst>
              </a:prstGeom>
              <a:solidFill>
                <a:srgbClr val="1EAD7C"/>
              </a:solidFill>
              <a:ln w="12700">
                <a:solidFill>
                  <a:srgbClr val="1EAD7C"/>
                </a:solidFill>
                <a:prstDash val="solid"/>
              </a:ln>
            </p:spPr>
          </p:sp>
          <p:sp>
            <p:nvSpPr>
              <p:cNvPr id="9" name="Text 116"/>
              <p:cNvSpPr/>
              <p:nvPr/>
            </p:nvSpPr>
            <p:spPr>
              <a:xfrm>
                <a:off x="671411" y="1234530"/>
                <a:ext cx="3022485" cy="23623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bg1">
                        <a:lumMod val="9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Distributed Software Stack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</p:grpSp>
      <p:grpSp>
        <p:nvGrpSpPr>
          <p:cNvPr id="96" name="그룹 95"/>
          <p:cNvGrpSpPr/>
          <p:nvPr/>
        </p:nvGrpSpPr>
        <p:grpSpPr>
          <a:xfrm>
            <a:off x="7385910" y="1201049"/>
            <a:ext cx="5843381" cy="3590572"/>
            <a:chOff x="8356624" y="1081435"/>
            <a:chExt cx="5843381" cy="3590572"/>
          </a:xfrm>
        </p:grpSpPr>
        <p:sp>
          <p:nvSpPr>
            <p:cNvPr id="63" name="Shape 119"/>
            <p:cNvSpPr/>
            <p:nvPr/>
          </p:nvSpPr>
          <p:spPr>
            <a:xfrm>
              <a:off x="8782606" y="1285332"/>
              <a:ext cx="5417399" cy="3386675"/>
            </a:xfrm>
            <a:prstGeom prst="roundRect">
              <a:avLst>
                <a:gd name="adj" fmla="val 1460"/>
              </a:avLst>
            </a:prstGeom>
            <a:solidFill>
              <a:srgbClr val="091925"/>
            </a:solidFill>
            <a:ln w="38100">
              <a:solidFill>
                <a:schemeClr val="accent1">
                  <a:lumMod val="50000"/>
                </a:schemeClr>
              </a:solidFill>
              <a:prstDash val="dash"/>
            </a:ln>
          </p:spPr>
        </p:sp>
        <p:grpSp>
          <p:nvGrpSpPr>
            <p:cNvPr id="64" name="그룹 63"/>
            <p:cNvGrpSpPr/>
            <p:nvPr/>
          </p:nvGrpSpPr>
          <p:grpSpPr>
            <a:xfrm>
              <a:off x="10494800" y="2523156"/>
              <a:ext cx="1915727" cy="1190857"/>
              <a:chOff x="9466147" y="3533607"/>
              <a:chExt cx="1691640" cy="1051560"/>
            </a:xfrm>
          </p:grpSpPr>
          <p:sp>
            <p:nvSpPr>
              <p:cNvPr id="92" name="Shape 120"/>
              <p:cNvSpPr/>
              <p:nvPr/>
            </p:nvSpPr>
            <p:spPr>
              <a:xfrm>
                <a:off x="9466147" y="3533607"/>
                <a:ext cx="1691640" cy="105156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rgbClr val="102A43"/>
                </a:solidFill>
                <a:prstDash val="solid"/>
              </a:ln>
            </p:spPr>
          </p:sp>
          <p:sp>
            <p:nvSpPr>
              <p:cNvPr id="93" name="Text 121"/>
              <p:cNvSpPr/>
              <p:nvPr/>
            </p:nvSpPr>
            <p:spPr>
              <a:xfrm>
                <a:off x="9685603" y="3872920"/>
                <a:ext cx="1243584" cy="3291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chemeClr val="bg1">
                        <a:lumMod val="9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AGV</a:t>
                </a:r>
                <a:endParaRPr lang="en-US" sz="1600" dirty="0">
                  <a:solidFill>
                    <a:schemeClr val="bg1">
                      <a:lumMod val="95000"/>
                    </a:schemeClr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1600" b="1" dirty="0">
                    <a:solidFill>
                      <a:schemeClr val="bg1">
                        <a:lumMod val="9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Mobility</a:t>
                </a:r>
                <a:endParaRPr lang="en-US" sz="16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65" name="그룹 64"/>
            <p:cNvGrpSpPr/>
            <p:nvPr/>
          </p:nvGrpSpPr>
          <p:grpSpPr>
            <a:xfrm>
              <a:off x="8994634" y="1752484"/>
              <a:ext cx="2493520" cy="1228814"/>
              <a:chOff x="6832675" y="3233752"/>
              <a:chExt cx="2201847" cy="1085077"/>
            </a:xfrm>
          </p:grpSpPr>
          <p:grpSp>
            <p:nvGrpSpPr>
              <p:cNvPr id="87" name="그룹 86"/>
              <p:cNvGrpSpPr/>
              <p:nvPr/>
            </p:nvGrpSpPr>
            <p:grpSpPr>
              <a:xfrm>
                <a:off x="6832675" y="3233752"/>
                <a:ext cx="1654100" cy="1085077"/>
                <a:chOff x="1965284" y="6483373"/>
                <a:chExt cx="1654100" cy="1085077"/>
              </a:xfrm>
            </p:grpSpPr>
            <p:sp>
              <p:nvSpPr>
                <p:cNvPr id="90" name="Shape 125"/>
                <p:cNvSpPr/>
                <p:nvPr/>
              </p:nvSpPr>
              <p:spPr>
                <a:xfrm>
                  <a:off x="1983571" y="6490515"/>
                  <a:ext cx="1635813" cy="1077935"/>
                </a:xfrm>
                <a:prstGeom prst="roundRect">
                  <a:avLst>
                    <a:gd name="adj" fmla="val 8772"/>
                  </a:avLst>
                </a:prstGeom>
                <a:solidFill>
                  <a:srgbClr val="002244"/>
                </a:solidFill>
                <a:ln w="12700">
                  <a:solidFill>
                    <a:schemeClr val="accent5">
                      <a:lumMod val="50000"/>
                    </a:schemeClr>
                  </a:solidFill>
                  <a:prstDash val="solid"/>
                </a:ln>
              </p:spPr>
            </p:sp>
            <p:sp>
              <p:nvSpPr>
                <p:cNvPr id="91" name="Shape 126"/>
                <p:cNvSpPr/>
                <p:nvPr/>
              </p:nvSpPr>
              <p:spPr>
                <a:xfrm>
                  <a:off x="1965284" y="6483373"/>
                  <a:ext cx="82295" cy="371461"/>
                </a:xfrm>
                <a:prstGeom prst="rect">
                  <a:avLst/>
                </a:prstGeom>
                <a:solidFill>
                  <a:srgbClr val="2D9CDB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</p:grpSp>
          <p:sp>
            <p:nvSpPr>
              <p:cNvPr id="88" name="Text 124"/>
              <p:cNvSpPr/>
              <p:nvPr/>
            </p:nvSpPr>
            <p:spPr>
              <a:xfrm>
                <a:off x="6977122" y="3319533"/>
                <a:ext cx="2057400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500" b="1" dirty="0">
                    <a:solidFill>
                      <a:schemeClr val="bg1">
                        <a:lumMod val="9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01 Line Following</a:t>
                </a:r>
                <a:endParaRPr lang="en-US" sz="15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89" name="Text 125"/>
              <p:cNvSpPr/>
              <p:nvPr/>
            </p:nvSpPr>
            <p:spPr>
              <a:xfrm>
                <a:off x="6923254" y="3709715"/>
                <a:ext cx="1415090" cy="562393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050" smtClean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line </a:t>
                </a:r>
                <a:r>
                  <a:rPr lang="en-US" sz="1050" dirty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HSV segmentation</a:t>
                </a:r>
                <a:endParaRPr lang="en-US" sz="1050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05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near/far </a:t>
                </a:r>
                <a:r>
                  <a:rPr lang="en-US" sz="1050" smtClean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ROI center </a:t>
                </a:r>
                <a:r>
                  <a:rPr lang="en-US" sz="1050" dirty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추정</a:t>
                </a:r>
                <a:endParaRPr lang="en-US" sz="1050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050" dirty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linear.y 기반 횡보 보정</a:t>
                </a:r>
                <a:endParaRPr lang="en-US" sz="105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66" name="그룹 65"/>
            <p:cNvGrpSpPr/>
            <p:nvPr/>
          </p:nvGrpSpPr>
          <p:grpSpPr>
            <a:xfrm>
              <a:off x="11919264" y="1876142"/>
              <a:ext cx="1705121" cy="1175693"/>
              <a:chOff x="9126587" y="1632494"/>
              <a:chExt cx="1505669" cy="1038169"/>
            </a:xfrm>
          </p:grpSpPr>
          <p:grpSp>
            <p:nvGrpSpPr>
              <p:cNvPr id="82" name="그룹 81"/>
              <p:cNvGrpSpPr/>
              <p:nvPr/>
            </p:nvGrpSpPr>
            <p:grpSpPr>
              <a:xfrm>
                <a:off x="9126587" y="1632494"/>
                <a:ext cx="1505669" cy="917862"/>
                <a:chOff x="6715312" y="3139182"/>
                <a:chExt cx="1505669" cy="917862"/>
              </a:xfrm>
            </p:grpSpPr>
            <p:sp>
              <p:nvSpPr>
                <p:cNvPr id="85" name="Shape 125"/>
                <p:cNvSpPr/>
                <p:nvPr/>
              </p:nvSpPr>
              <p:spPr>
                <a:xfrm>
                  <a:off x="6733599" y="3146325"/>
                  <a:ext cx="1487382" cy="910719"/>
                </a:xfrm>
                <a:prstGeom prst="roundRect">
                  <a:avLst>
                    <a:gd name="adj" fmla="val 8772"/>
                  </a:avLst>
                </a:prstGeom>
                <a:solidFill>
                  <a:srgbClr val="002244"/>
                </a:solidFill>
                <a:ln w="12700">
                  <a:solidFill>
                    <a:schemeClr val="accent5">
                      <a:lumMod val="50000"/>
                    </a:schemeClr>
                  </a:solidFill>
                  <a:prstDash val="solid"/>
                </a:ln>
              </p:spPr>
            </p:sp>
            <p:sp>
              <p:nvSpPr>
                <p:cNvPr id="86" name="Shape 126"/>
                <p:cNvSpPr/>
                <p:nvPr/>
              </p:nvSpPr>
              <p:spPr>
                <a:xfrm>
                  <a:off x="6715312" y="3139182"/>
                  <a:ext cx="82295" cy="371461"/>
                </a:xfrm>
                <a:prstGeom prst="rect">
                  <a:avLst/>
                </a:prstGeom>
                <a:solidFill>
                  <a:srgbClr val="2F80ED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</p:grpSp>
          <p:sp>
            <p:nvSpPr>
              <p:cNvPr id="83" name="Text 128"/>
              <p:cNvSpPr/>
              <p:nvPr/>
            </p:nvSpPr>
            <p:spPr>
              <a:xfrm>
                <a:off x="9268318" y="1697133"/>
                <a:ext cx="1149910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1500" b="1" dirty="0">
                    <a:solidFill>
                      <a:schemeClr val="bg1">
                        <a:lumMod val="9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02 QR Arrival</a:t>
                </a:r>
                <a:endParaRPr lang="en-US" sz="15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84" name="Text 129"/>
              <p:cNvSpPr/>
              <p:nvPr/>
            </p:nvSpPr>
            <p:spPr>
              <a:xfrm>
                <a:off x="9262434" y="1884279"/>
                <a:ext cx="1104193" cy="78638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100" dirty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QR stop ROI 제한</a:t>
                </a:r>
                <a:endParaRPr lang="en-US" sz="1100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10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bbox </a:t>
                </a:r>
                <a:r>
                  <a:rPr lang="en-US" sz="1100" smtClean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threshold</a:t>
                </a:r>
                <a:endParaRPr lang="en-US" sz="11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67" name="그룹 66"/>
            <p:cNvGrpSpPr/>
            <p:nvPr/>
          </p:nvGrpSpPr>
          <p:grpSpPr>
            <a:xfrm>
              <a:off x="9213583" y="3534829"/>
              <a:ext cx="2097701" cy="1112169"/>
              <a:chOff x="6936343" y="2888019"/>
              <a:chExt cx="1852328" cy="982076"/>
            </a:xfrm>
          </p:grpSpPr>
          <p:grpSp>
            <p:nvGrpSpPr>
              <p:cNvPr id="77" name="그룹 76"/>
              <p:cNvGrpSpPr/>
              <p:nvPr/>
            </p:nvGrpSpPr>
            <p:grpSpPr>
              <a:xfrm>
                <a:off x="6936343" y="2888019"/>
                <a:ext cx="1852328" cy="870830"/>
                <a:chOff x="6715312" y="3139182"/>
                <a:chExt cx="1852328" cy="870830"/>
              </a:xfrm>
            </p:grpSpPr>
            <p:sp>
              <p:nvSpPr>
                <p:cNvPr id="80" name="Shape 125"/>
                <p:cNvSpPr/>
                <p:nvPr/>
              </p:nvSpPr>
              <p:spPr>
                <a:xfrm>
                  <a:off x="6733599" y="3146326"/>
                  <a:ext cx="1834041" cy="863686"/>
                </a:xfrm>
                <a:prstGeom prst="roundRect">
                  <a:avLst>
                    <a:gd name="adj" fmla="val 8772"/>
                  </a:avLst>
                </a:prstGeom>
                <a:solidFill>
                  <a:srgbClr val="002244"/>
                </a:solidFill>
                <a:ln w="12700">
                  <a:solidFill>
                    <a:schemeClr val="accent5">
                      <a:lumMod val="50000"/>
                    </a:schemeClr>
                  </a:solidFill>
                  <a:prstDash val="solid"/>
                </a:ln>
              </p:spPr>
            </p:sp>
            <p:sp>
              <p:nvSpPr>
                <p:cNvPr id="81" name="Shape 126"/>
                <p:cNvSpPr/>
                <p:nvPr/>
              </p:nvSpPr>
              <p:spPr>
                <a:xfrm>
                  <a:off x="6715312" y="3139182"/>
                  <a:ext cx="82295" cy="371461"/>
                </a:xfrm>
                <a:prstGeom prst="rect">
                  <a:avLst/>
                </a:prstGeom>
                <a:solidFill>
                  <a:srgbClr val="F2994A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</p:grpSp>
          <p:sp>
            <p:nvSpPr>
              <p:cNvPr id="78" name="Text 132"/>
              <p:cNvSpPr/>
              <p:nvPr/>
            </p:nvSpPr>
            <p:spPr>
              <a:xfrm>
                <a:off x="7060041" y="2964021"/>
                <a:ext cx="1664833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1500" b="1" dirty="0">
                    <a:solidFill>
                      <a:schemeClr val="bg1">
                        <a:lumMod val="9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03 Depth Rack Stop</a:t>
                </a:r>
                <a:endParaRPr lang="en-US" sz="15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79" name="Text 133"/>
              <p:cNvSpPr/>
              <p:nvPr/>
            </p:nvSpPr>
            <p:spPr>
              <a:xfrm>
                <a:off x="7045733" y="3199907"/>
                <a:ext cx="1566679" cy="67018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100" dirty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white-wall ROI</a:t>
                </a:r>
                <a:endParaRPr lang="en-US" sz="1100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100" dirty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depth median + </a:t>
                </a:r>
                <a:r>
                  <a:rPr lang="en-US" sz="110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valid </a:t>
                </a:r>
                <a:r>
                  <a:rPr lang="en-US" sz="1100" smtClean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px</a:t>
                </a:r>
                <a:endParaRPr lang="en-US" sz="11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68" name="그룹 67"/>
            <p:cNvGrpSpPr/>
            <p:nvPr/>
          </p:nvGrpSpPr>
          <p:grpSpPr>
            <a:xfrm>
              <a:off x="12086380" y="3264212"/>
              <a:ext cx="1930793" cy="1214339"/>
              <a:chOff x="9283748" y="2879812"/>
              <a:chExt cx="1704944" cy="1072294"/>
            </a:xfrm>
          </p:grpSpPr>
          <p:grpSp>
            <p:nvGrpSpPr>
              <p:cNvPr id="72" name="그룹 71"/>
              <p:cNvGrpSpPr/>
              <p:nvPr/>
            </p:nvGrpSpPr>
            <p:grpSpPr>
              <a:xfrm>
                <a:off x="9283748" y="2879812"/>
                <a:ext cx="1704944" cy="1023206"/>
                <a:chOff x="6715312" y="3139182"/>
                <a:chExt cx="1704944" cy="1023206"/>
              </a:xfrm>
            </p:grpSpPr>
            <p:sp>
              <p:nvSpPr>
                <p:cNvPr id="75" name="Shape 125"/>
                <p:cNvSpPr/>
                <p:nvPr/>
              </p:nvSpPr>
              <p:spPr>
                <a:xfrm>
                  <a:off x="6733597" y="3146325"/>
                  <a:ext cx="1686659" cy="1016063"/>
                </a:xfrm>
                <a:prstGeom prst="roundRect">
                  <a:avLst>
                    <a:gd name="adj" fmla="val 8772"/>
                  </a:avLst>
                </a:prstGeom>
                <a:solidFill>
                  <a:srgbClr val="002244"/>
                </a:solidFill>
                <a:ln w="12700">
                  <a:solidFill>
                    <a:schemeClr val="accent5">
                      <a:lumMod val="50000"/>
                    </a:schemeClr>
                  </a:solidFill>
                  <a:prstDash val="solid"/>
                </a:ln>
              </p:spPr>
            </p:sp>
            <p:sp>
              <p:nvSpPr>
                <p:cNvPr id="76" name="Shape 126"/>
                <p:cNvSpPr/>
                <p:nvPr/>
              </p:nvSpPr>
              <p:spPr>
                <a:xfrm>
                  <a:off x="6715312" y="3139182"/>
                  <a:ext cx="82295" cy="371461"/>
                </a:xfrm>
                <a:prstGeom prst="rect">
                  <a:avLst/>
                </a:prstGeom>
                <a:solidFill>
                  <a:srgbClr val="EB5757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</p:grpSp>
          <p:sp>
            <p:nvSpPr>
              <p:cNvPr id="73" name="Text 136"/>
              <p:cNvSpPr/>
              <p:nvPr/>
            </p:nvSpPr>
            <p:spPr>
              <a:xfrm>
                <a:off x="9430532" y="2952488"/>
                <a:ext cx="1302234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1500" b="1" dirty="0">
                    <a:solidFill>
                      <a:schemeClr val="bg1">
                        <a:lumMod val="9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04 Safety Filter</a:t>
                </a:r>
                <a:endParaRPr lang="en-US" sz="15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74" name="Text 137"/>
              <p:cNvSpPr/>
              <p:nvPr/>
            </p:nvSpPr>
            <p:spPr>
              <a:xfrm>
                <a:off x="9379348" y="3165722"/>
                <a:ext cx="1596040" cy="78638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100" dirty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cmd_vel_raw → cmd_vel</a:t>
                </a:r>
                <a:endParaRPr lang="en-US" sz="1100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100" dirty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angular pulse duty</a:t>
                </a:r>
                <a:endParaRPr lang="en-US" sz="1100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100" dirty="0">
                    <a:solidFill>
                      <a:schemeClr val="bg1">
                        <a:lumMod val="8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zero-cross hold + vx 제한</a:t>
                </a:r>
                <a:endParaRPr lang="en-US" sz="11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69" name="그룹 68"/>
            <p:cNvGrpSpPr/>
            <p:nvPr/>
          </p:nvGrpSpPr>
          <p:grpSpPr>
            <a:xfrm>
              <a:off x="8356624" y="1081435"/>
              <a:ext cx="1994085" cy="391565"/>
              <a:chOff x="6742734" y="948258"/>
              <a:chExt cx="1994085" cy="391565"/>
            </a:xfrm>
          </p:grpSpPr>
          <p:sp>
            <p:nvSpPr>
              <p:cNvPr id="70" name="Shape 115"/>
              <p:cNvSpPr/>
              <p:nvPr/>
            </p:nvSpPr>
            <p:spPr>
              <a:xfrm>
                <a:off x="6742734" y="948258"/>
                <a:ext cx="1994085" cy="391565"/>
              </a:xfrm>
              <a:prstGeom prst="roundRect">
                <a:avLst>
                  <a:gd name="adj" fmla="val 24242"/>
                </a:avLst>
              </a:prstGeom>
              <a:solidFill>
                <a:srgbClr val="1EAD7C"/>
              </a:solidFill>
              <a:ln w="12700">
                <a:solidFill>
                  <a:srgbClr val="1EAD7C"/>
                </a:solidFill>
                <a:prstDash val="solid"/>
              </a:ln>
            </p:spPr>
          </p:sp>
          <p:sp>
            <p:nvSpPr>
              <p:cNvPr id="71" name="Text 116"/>
              <p:cNvSpPr/>
              <p:nvPr/>
            </p:nvSpPr>
            <p:spPr>
              <a:xfrm>
                <a:off x="6799095" y="1073197"/>
                <a:ext cx="1877690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en-US" b="1" dirty="0">
                    <a:solidFill>
                      <a:schemeClr val="bg1">
                        <a:lumMod val="95000"/>
                      </a:schemeClr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Core Algorithms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</p:grpSp>
      <p:grpSp>
        <p:nvGrpSpPr>
          <p:cNvPr id="104" name="그룹 103"/>
          <p:cNvGrpSpPr/>
          <p:nvPr/>
        </p:nvGrpSpPr>
        <p:grpSpPr>
          <a:xfrm>
            <a:off x="13418143" y="1301714"/>
            <a:ext cx="2429853" cy="1951376"/>
            <a:chOff x="10094881" y="1604483"/>
            <a:chExt cx="4753324" cy="3599641"/>
          </a:xfrm>
        </p:grpSpPr>
        <p:pic>
          <p:nvPicPr>
            <p:cNvPr id="105" name="그림 10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94881" y="1604483"/>
              <a:ext cx="4753324" cy="3599641"/>
            </a:xfrm>
            <a:prstGeom prst="rect">
              <a:avLst/>
            </a:prstGeom>
          </p:spPr>
        </p:pic>
        <p:sp>
          <p:nvSpPr>
            <p:cNvPr id="106" name="직사각형 105"/>
            <p:cNvSpPr/>
            <p:nvPr/>
          </p:nvSpPr>
          <p:spPr>
            <a:xfrm>
              <a:off x="11291378" y="2345699"/>
              <a:ext cx="2376001" cy="1799999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4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4" name="그룹 113"/>
          <p:cNvGrpSpPr/>
          <p:nvPr/>
        </p:nvGrpSpPr>
        <p:grpSpPr>
          <a:xfrm>
            <a:off x="325749" y="5983766"/>
            <a:ext cx="4183572" cy="443740"/>
            <a:chOff x="7872128" y="1066819"/>
            <a:chExt cx="2822737" cy="443740"/>
          </a:xfrm>
        </p:grpSpPr>
        <p:sp>
          <p:nvSpPr>
            <p:cNvPr id="115" name="Shape 117"/>
            <p:cNvSpPr/>
            <p:nvPr/>
          </p:nvSpPr>
          <p:spPr>
            <a:xfrm>
              <a:off x="7872128" y="1066819"/>
              <a:ext cx="2796304" cy="443740"/>
            </a:xfrm>
            <a:prstGeom prst="roundRect">
              <a:avLst>
                <a:gd name="adj" fmla="val 24242"/>
              </a:avLst>
            </a:prstGeom>
            <a:solidFill>
              <a:schemeClr val="accent1"/>
            </a:solidFill>
            <a:ln w="12700">
              <a:noFill/>
              <a:prstDash val="solid"/>
            </a:ln>
          </p:spPr>
        </p:sp>
        <p:sp>
          <p:nvSpPr>
            <p:cNvPr id="116" name="Text 118"/>
            <p:cNvSpPr/>
            <p:nvPr/>
          </p:nvSpPr>
          <p:spPr>
            <a:xfrm>
              <a:off x="7975162" y="1224681"/>
              <a:ext cx="2719703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b="1" smtClean="0">
                  <a:solidFill>
                    <a:schemeClr val="bg1">
                      <a:lumMod val="95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Navigation Behavior State Machine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cxnSp>
        <p:nvCxnSpPr>
          <p:cNvPr id="122" name="Connector 318"/>
          <p:cNvCxnSpPr/>
          <p:nvPr/>
        </p:nvCxnSpPr>
        <p:spPr>
          <a:xfrm>
            <a:off x="2658500" y="6858000"/>
            <a:ext cx="164592" cy="0"/>
          </a:xfrm>
          <a:prstGeom prst="line">
            <a:avLst/>
          </a:prstGeom>
          <a:ln w="19050">
            <a:solidFill>
              <a:srgbClr val="B2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319"/>
          <p:cNvCxnSpPr/>
          <p:nvPr/>
        </p:nvCxnSpPr>
        <p:spPr>
          <a:xfrm>
            <a:off x="4136807" y="6850730"/>
            <a:ext cx="164592" cy="0"/>
          </a:xfrm>
          <a:prstGeom prst="line">
            <a:avLst/>
          </a:prstGeom>
          <a:ln w="19050">
            <a:solidFill>
              <a:srgbClr val="B2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320"/>
          <p:cNvCxnSpPr/>
          <p:nvPr/>
        </p:nvCxnSpPr>
        <p:spPr>
          <a:xfrm>
            <a:off x="5608991" y="6850730"/>
            <a:ext cx="164592" cy="0"/>
          </a:xfrm>
          <a:prstGeom prst="line">
            <a:avLst/>
          </a:prstGeom>
          <a:ln w="19050">
            <a:solidFill>
              <a:srgbClr val="B2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321"/>
          <p:cNvCxnSpPr/>
          <p:nvPr/>
        </p:nvCxnSpPr>
        <p:spPr>
          <a:xfrm>
            <a:off x="7081175" y="6850730"/>
            <a:ext cx="164592" cy="0"/>
          </a:xfrm>
          <a:prstGeom prst="line">
            <a:avLst/>
          </a:prstGeom>
          <a:ln w="19050">
            <a:solidFill>
              <a:srgbClr val="B2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322"/>
          <p:cNvCxnSpPr/>
          <p:nvPr/>
        </p:nvCxnSpPr>
        <p:spPr>
          <a:xfrm>
            <a:off x="8553359" y="6850730"/>
            <a:ext cx="164592" cy="0"/>
          </a:xfrm>
          <a:prstGeom prst="line">
            <a:avLst/>
          </a:prstGeom>
          <a:ln w="19050">
            <a:solidFill>
              <a:srgbClr val="B2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ounded Rectangle 323"/>
          <p:cNvSpPr/>
          <p:nvPr/>
        </p:nvSpPr>
        <p:spPr>
          <a:xfrm>
            <a:off x="1193800" y="6592918"/>
            <a:ext cx="1427699" cy="504000"/>
          </a:xfrm>
          <a:prstGeom prst="roundRect">
            <a:avLst/>
          </a:prstGeom>
          <a:solidFill>
            <a:srgbClr val="002244"/>
          </a:solidFill>
          <a:ln w="19050">
            <a:solidFill>
              <a:srgbClr val="20B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>
                <a:solidFill>
                  <a:schemeClr val="bg1">
                    <a:lumMod val="95000"/>
                  </a:schemeClr>
                </a:solidFill>
                <a:latin typeface="Malgun Gothic"/>
              </a:rPr>
              <a:t>/place_target</a:t>
            </a:r>
          </a:p>
        </p:txBody>
      </p:sp>
      <p:sp>
        <p:nvSpPr>
          <p:cNvPr id="128" name="Rounded Rectangle 324"/>
          <p:cNvSpPr/>
          <p:nvPr/>
        </p:nvSpPr>
        <p:spPr>
          <a:xfrm>
            <a:off x="2859243" y="6592920"/>
            <a:ext cx="1234440" cy="5040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>
                <a:solidFill>
                  <a:schemeClr val="bg1">
                    <a:lumMod val="95000"/>
                  </a:schemeClr>
                </a:solidFill>
                <a:latin typeface="Malgun Gothic"/>
              </a:rPr>
              <a:t>rack stop</a:t>
            </a:r>
          </a:p>
          <a:p>
            <a:pPr algn="ctr"/>
            <a:r>
              <a:rPr sz="1400" b="0">
                <a:solidFill>
                  <a:schemeClr val="bg1">
                    <a:lumMod val="95000"/>
                  </a:schemeClr>
                </a:solidFill>
                <a:latin typeface="Malgun Gothic"/>
              </a:rPr>
              <a:t>/stop_obj</a:t>
            </a:r>
          </a:p>
        </p:txBody>
      </p:sp>
      <p:sp>
        <p:nvSpPr>
          <p:cNvPr id="129" name="Rounded Rectangle 325"/>
          <p:cNvSpPr/>
          <p:nvPr/>
        </p:nvSpPr>
        <p:spPr>
          <a:xfrm>
            <a:off x="4331427" y="6592920"/>
            <a:ext cx="1234440" cy="504000"/>
          </a:xfrm>
          <a:prstGeom prst="roundRect">
            <a:avLst/>
          </a:prstGeom>
          <a:solidFill>
            <a:srgbClr val="002244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>
                <a:solidFill>
                  <a:schemeClr val="bg1">
                    <a:lumMod val="95000"/>
                  </a:schemeClr>
                </a:solidFill>
                <a:latin typeface="Malgun Gothic"/>
              </a:rPr>
              <a:t>/picked</a:t>
            </a:r>
          </a:p>
        </p:txBody>
      </p:sp>
      <p:sp>
        <p:nvSpPr>
          <p:cNvPr id="130" name="Rounded Rectangle 326"/>
          <p:cNvSpPr/>
          <p:nvPr/>
        </p:nvSpPr>
        <p:spPr>
          <a:xfrm>
            <a:off x="5803611" y="6592920"/>
            <a:ext cx="1234440" cy="5040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>
                <a:solidFill>
                  <a:schemeClr val="bg1">
                    <a:lumMod val="95000"/>
                  </a:schemeClr>
                </a:solidFill>
                <a:latin typeface="Malgun Gothic"/>
              </a:rPr>
              <a:t>QR stop</a:t>
            </a:r>
          </a:p>
          <a:p>
            <a:pPr algn="ctr"/>
            <a:r>
              <a:rPr sz="1400" b="0">
                <a:solidFill>
                  <a:schemeClr val="bg1">
                    <a:lumMod val="95000"/>
                  </a:schemeClr>
                </a:solidFill>
                <a:latin typeface="Malgun Gothic"/>
              </a:rPr>
              <a:t>/stop_qr</a:t>
            </a:r>
          </a:p>
        </p:txBody>
      </p:sp>
      <p:sp>
        <p:nvSpPr>
          <p:cNvPr id="131" name="Rounded Rectangle 327"/>
          <p:cNvSpPr/>
          <p:nvPr/>
        </p:nvSpPr>
        <p:spPr>
          <a:xfrm>
            <a:off x="7275795" y="6592920"/>
            <a:ext cx="1234440" cy="504000"/>
          </a:xfrm>
          <a:prstGeom prst="roundRect">
            <a:avLst/>
          </a:prstGeom>
          <a:solidFill>
            <a:srgbClr val="002244"/>
          </a:solidFill>
          <a:ln w="19050">
            <a:solidFill>
              <a:srgbClr val="6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>
                <a:solidFill>
                  <a:schemeClr val="bg1">
                    <a:lumMod val="95000"/>
                  </a:schemeClr>
                </a:solidFill>
                <a:latin typeface="Malgun Gothic"/>
              </a:rPr>
              <a:t>/placed</a:t>
            </a:r>
          </a:p>
        </p:txBody>
      </p:sp>
      <p:sp>
        <p:nvSpPr>
          <p:cNvPr id="132" name="Rounded Rectangle 328"/>
          <p:cNvSpPr/>
          <p:nvPr/>
        </p:nvSpPr>
        <p:spPr>
          <a:xfrm>
            <a:off x="8747978" y="6592920"/>
            <a:ext cx="1437421" cy="504000"/>
          </a:xfrm>
          <a:prstGeom prst="roundRect">
            <a:avLst/>
          </a:prstGeom>
          <a:solidFill>
            <a:srgbClr val="002244"/>
          </a:solidFill>
          <a:ln w="19050">
            <a:solidFill>
              <a:srgbClr val="F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>
                <a:solidFill>
                  <a:schemeClr val="bg1">
                    <a:lumMod val="95000"/>
                  </a:schemeClr>
                </a:solidFill>
                <a:latin typeface="Malgun Gothic"/>
              </a:rPr>
              <a:t>/go_parking</a:t>
            </a:r>
          </a:p>
        </p:txBody>
      </p:sp>
      <p:cxnSp>
        <p:nvCxnSpPr>
          <p:cNvPr id="133" name="Connector 329"/>
          <p:cNvCxnSpPr/>
          <p:nvPr/>
        </p:nvCxnSpPr>
        <p:spPr>
          <a:xfrm>
            <a:off x="2105274" y="7873624"/>
            <a:ext cx="164592" cy="0"/>
          </a:xfrm>
          <a:prstGeom prst="line">
            <a:avLst/>
          </a:prstGeom>
          <a:ln w="19050">
            <a:solidFill>
              <a:srgbClr val="505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330"/>
          <p:cNvCxnSpPr/>
          <p:nvPr/>
        </p:nvCxnSpPr>
        <p:spPr>
          <a:xfrm>
            <a:off x="4283813" y="7905304"/>
            <a:ext cx="210312" cy="0"/>
          </a:xfrm>
          <a:prstGeom prst="line">
            <a:avLst/>
          </a:prstGeom>
          <a:ln w="19050">
            <a:solidFill>
              <a:srgbClr val="505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331"/>
          <p:cNvCxnSpPr/>
          <p:nvPr/>
        </p:nvCxnSpPr>
        <p:spPr>
          <a:xfrm>
            <a:off x="6420831" y="7917264"/>
            <a:ext cx="265176" cy="0"/>
          </a:xfrm>
          <a:prstGeom prst="line">
            <a:avLst/>
          </a:prstGeom>
          <a:ln w="19050">
            <a:solidFill>
              <a:srgbClr val="505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332"/>
          <p:cNvCxnSpPr/>
          <p:nvPr/>
        </p:nvCxnSpPr>
        <p:spPr>
          <a:xfrm>
            <a:off x="10701018" y="7905304"/>
            <a:ext cx="274319" cy="0"/>
          </a:xfrm>
          <a:prstGeom prst="line">
            <a:avLst/>
          </a:prstGeom>
          <a:ln w="19050">
            <a:solidFill>
              <a:srgbClr val="505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ounded Rectangle 333"/>
          <p:cNvSpPr/>
          <p:nvPr/>
        </p:nvSpPr>
        <p:spPr>
          <a:xfrm>
            <a:off x="901901" y="7471528"/>
            <a:ext cx="1124712" cy="792000"/>
          </a:xfrm>
          <a:prstGeom prst="roundRect">
            <a:avLst/>
          </a:prstGeom>
          <a:solidFill>
            <a:srgbClr val="002244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 smtClean="0">
                <a:solidFill>
                  <a:schemeClr val="bg1">
                    <a:lumMod val="95000"/>
                  </a:schemeClr>
                </a:solidFill>
                <a:latin typeface="Malgun Gothic"/>
              </a:rPr>
              <a:t>IDLE</a:t>
            </a:r>
            <a:endParaRPr lang="en-US" sz="1600" b="1" smtClean="0">
              <a:solidFill>
                <a:schemeClr val="bg1">
                  <a:lumMod val="95000"/>
                </a:schemeClr>
              </a:solidFill>
              <a:latin typeface="Malgun Gothic"/>
            </a:endParaRPr>
          </a:p>
          <a:p>
            <a:pPr algn="ctr"/>
            <a:endParaRPr sz="200" b="1">
              <a:solidFill>
                <a:schemeClr val="bg1">
                  <a:lumMod val="95000"/>
                </a:schemeClr>
              </a:solidFill>
              <a:latin typeface="Malgun Gothic"/>
            </a:endParaRPr>
          </a:p>
          <a:p>
            <a:pPr algn="ctr"/>
            <a:r>
              <a:rPr sz="1400" b="0">
                <a:solidFill>
                  <a:schemeClr val="bg1">
                    <a:lumMod val="95000"/>
                  </a:schemeClr>
                </a:solidFill>
                <a:latin typeface="Malgun Gothic"/>
              </a:rPr>
              <a:t>Safe Wait</a:t>
            </a:r>
          </a:p>
        </p:txBody>
      </p:sp>
      <p:sp>
        <p:nvSpPr>
          <p:cNvPr id="138" name="Rounded Rectangle 334"/>
          <p:cNvSpPr/>
          <p:nvPr/>
        </p:nvSpPr>
        <p:spPr>
          <a:xfrm>
            <a:off x="2348527" y="7509304"/>
            <a:ext cx="1867151" cy="792000"/>
          </a:xfrm>
          <a:prstGeom prst="roundRect">
            <a:avLst/>
          </a:prstGeom>
          <a:solidFill>
            <a:srgbClr val="002244"/>
          </a:solidFill>
          <a:ln w="19050">
            <a:solidFill>
              <a:srgbClr val="20B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 smtClean="0">
                <a:solidFill>
                  <a:schemeClr val="bg1">
                    <a:lumMod val="95000"/>
                  </a:schemeClr>
                </a:solidFill>
                <a:latin typeface="Malgun Gothic"/>
              </a:rPr>
              <a:t>FOLLOW</a:t>
            </a:r>
            <a:endParaRPr lang="en-US" sz="1600" b="1" smtClean="0">
              <a:solidFill>
                <a:schemeClr val="bg1">
                  <a:lumMod val="95000"/>
                </a:schemeClr>
              </a:solidFill>
              <a:latin typeface="Malgun Gothic"/>
            </a:endParaRPr>
          </a:p>
          <a:p>
            <a:pPr algn="ctr"/>
            <a:endParaRPr sz="200" b="1">
              <a:solidFill>
                <a:schemeClr val="bg1">
                  <a:lumMod val="95000"/>
                </a:schemeClr>
              </a:solidFill>
              <a:latin typeface="Malgun Gothic"/>
            </a:endParaRPr>
          </a:p>
          <a:p>
            <a:pPr algn="ctr"/>
            <a:r>
              <a:rPr sz="1400" b="0">
                <a:solidFill>
                  <a:schemeClr val="bg1">
                    <a:lumMod val="95000"/>
                  </a:schemeClr>
                </a:solidFill>
                <a:latin typeface="Malgun Gothic"/>
              </a:rPr>
              <a:t>line center + linear.y</a:t>
            </a:r>
          </a:p>
        </p:txBody>
      </p:sp>
      <p:sp>
        <p:nvSpPr>
          <p:cNvPr id="139" name="Rounded Rectangle 335"/>
          <p:cNvSpPr/>
          <p:nvPr/>
        </p:nvSpPr>
        <p:spPr>
          <a:xfrm>
            <a:off x="4517430" y="7521264"/>
            <a:ext cx="1874519" cy="792000"/>
          </a:xfrm>
          <a:prstGeom prst="roundRect">
            <a:avLst/>
          </a:prstGeom>
          <a:solidFill>
            <a:schemeClr val="accent1"/>
          </a:solidFill>
          <a:ln w="19050">
            <a:solidFill>
              <a:srgbClr val="0D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>
                <a:solidFill>
                  <a:schemeClr val="bg1">
                    <a:lumMod val="95000"/>
                  </a:schemeClr>
                </a:solidFill>
                <a:latin typeface="Malgun Gothic"/>
              </a:rPr>
              <a:t>EVENT </a:t>
            </a:r>
            <a:r>
              <a:rPr sz="1600" b="1" smtClean="0">
                <a:solidFill>
                  <a:schemeClr val="bg1">
                    <a:lumMod val="95000"/>
                  </a:schemeClr>
                </a:solidFill>
                <a:latin typeface="Malgun Gothic"/>
              </a:rPr>
              <a:t>GATE</a:t>
            </a:r>
            <a:endParaRPr lang="en-US" sz="1600" b="1" smtClean="0">
              <a:solidFill>
                <a:schemeClr val="bg1">
                  <a:lumMod val="95000"/>
                </a:schemeClr>
              </a:solidFill>
              <a:latin typeface="Malgun Gothic"/>
            </a:endParaRPr>
          </a:p>
          <a:p>
            <a:pPr algn="ctr"/>
            <a:endParaRPr sz="200" b="1">
              <a:solidFill>
                <a:schemeClr val="bg1">
                  <a:lumMod val="95000"/>
                </a:schemeClr>
              </a:solidFill>
              <a:latin typeface="Malgun Gothic"/>
            </a:endParaRPr>
          </a:p>
          <a:p>
            <a:pPr algn="ctr"/>
            <a:r>
              <a:rPr sz="1400" b="0">
                <a:solidFill>
                  <a:schemeClr val="bg1">
                    <a:lumMod val="95000"/>
                  </a:schemeClr>
                </a:solidFill>
                <a:latin typeface="Malgun Gothic"/>
              </a:rPr>
              <a:t>QR / depth / marker / line lost</a:t>
            </a:r>
          </a:p>
        </p:txBody>
      </p:sp>
      <p:sp>
        <p:nvSpPr>
          <p:cNvPr id="140" name="Rounded Rectangle 336"/>
          <p:cNvSpPr/>
          <p:nvPr/>
        </p:nvSpPr>
        <p:spPr>
          <a:xfrm>
            <a:off x="6752565" y="7489904"/>
            <a:ext cx="3913632" cy="792000"/>
          </a:xfrm>
          <a:prstGeom prst="roundRect">
            <a:avLst/>
          </a:prstGeom>
          <a:solidFill>
            <a:srgbClr val="002244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>
                <a:solidFill>
                  <a:schemeClr val="bg1">
                    <a:lumMod val="95000"/>
                  </a:schemeClr>
                </a:solidFill>
                <a:latin typeface="Malgun Gothic"/>
              </a:rPr>
              <a:t>BEHAVIOR </a:t>
            </a:r>
            <a:r>
              <a:rPr sz="1600" b="1" smtClean="0">
                <a:solidFill>
                  <a:schemeClr val="bg1">
                    <a:lumMod val="95000"/>
                  </a:schemeClr>
                </a:solidFill>
                <a:latin typeface="Malgun Gothic"/>
              </a:rPr>
              <a:t>EXECUTION</a:t>
            </a:r>
            <a:endParaRPr lang="en-US" sz="1600" b="1" smtClean="0">
              <a:solidFill>
                <a:schemeClr val="bg1">
                  <a:lumMod val="95000"/>
                </a:schemeClr>
              </a:solidFill>
              <a:latin typeface="Malgun Gothic"/>
            </a:endParaRPr>
          </a:p>
          <a:p>
            <a:pPr algn="ctr"/>
            <a:endParaRPr sz="200" b="1">
              <a:solidFill>
                <a:schemeClr val="bg1">
                  <a:lumMod val="95000"/>
                </a:schemeClr>
              </a:solidFill>
              <a:latin typeface="Malgun Gothic"/>
            </a:endParaRPr>
          </a:p>
          <a:p>
            <a:pPr algn="ctr"/>
            <a:r>
              <a:rPr sz="1400" b="0">
                <a:solidFill>
                  <a:schemeClr val="bg1">
                    <a:lumMod val="95000"/>
                  </a:schemeClr>
                </a:solidFill>
                <a:latin typeface="Malgun Gothic"/>
              </a:rPr>
              <a:t>CORNER · TURN_180 · JUNCTION · STOP_END · PARK_FORWARD</a:t>
            </a:r>
          </a:p>
        </p:txBody>
      </p:sp>
      <p:sp>
        <p:nvSpPr>
          <p:cNvPr id="141" name="Rounded Rectangle 337"/>
          <p:cNvSpPr/>
          <p:nvPr/>
        </p:nvSpPr>
        <p:spPr>
          <a:xfrm>
            <a:off x="11009671" y="7521264"/>
            <a:ext cx="2157984" cy="792000"/>
          </a:xfrm>
          <a:prstGeom prst="roundRect">
            <a:avLst/>
          </a:prstGeom>
          <a:solidFill>
            <a:srgbClr val="002244"/>
          </a:solidFill>
          <a:ln w="19050">
            <a:solidFill>
              <a:srgbClr val="20B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>
                <a:solidFill>
                  <a:schemeClr val="bg1">
                    <a:lumMod val="95000"/>
                  </a:schemeClr>
                </a:solidFill>
                <a:latin typeface="Malgun Gothic"/>
              </a:rPr>
              <a:t>RESUME / </a:t>
            </a:r>
            <a:r>
              <a:rPr sz="1600" b="1" smtClean="0">
                <a:solidFill>
                  <a:schemeClr val="bg1">
                    <a:lumMod val="95000"/>
                  </a:schemeClr>
                </a:solidFill>
                <a:latin typeface="Malgun Gothic"/>
              </a:rPr>
              <a:t>WAIT</a:t>
            </a:r>
            <a:endParaRPr lang="en-US" sz="1600" b="1" smtClean="0">
              <a:solidFill>
                <a:schemeClr val="bg1">
                  <a:lumMod val="95000"/>
                </a:schemeClr>
              </a:solidFill>
              <a:latin typeface="Malgun Gothic"/>
            </a:endParaRPr>
          </a:p>
          <a:p>
            <a:pPr algn="ctr"/>
            <a:endParaRPr sz="200" b="1">
              <a:solidFill>
                <a:schemeClr val="bg1">
                  <a:lumMod val="95000"/>
                </a:schemeClr>
              </a:solidFill>
              <a:latin typeface="Malgun Gothic"/>
            </a:endParaRPr>
          </a:p>
          <a:p>
            <a:pPr algn="ctr"/>
            <a:r>
              <a:rPr sz="1400" b="0">
                <a:solidFill>
                  <a:schemeClr val="bg1">
                    <a:lumMod val="95000"/>
                  </a:schemeClr>
                </a:solidFill>
                <a:latin typeface="Malgun Gothic"/>
              </a:rPr>
              <a:t>next behavior or external event</a:t>
            </a:r>
          </a:p>
        </p:txBody>
      </p:sp>
      <p:sp>
        <p:nvSpPr>
          <p:cNvPr id="142" name="Rounded Rectangle 338"/>
          <p:cNvSpPr/>
          <p:nvPr/>
        </p:nvSpPr>
        <p:spPr>
          <a:xfrm>
            <a:off x="6136420" y="8377967"/>
            <a:ext cx="1022606" cy="432000"/>
          </a:xfrm>
          <a:prstGeom prst="roundRect">
            <a:avLst/>
          </a:prstGeom>
          <a:solidFill>
            <a:srgbClr val="002244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chemeClr val="bg1">
                    <a:lumMod val="95000"/>
                  </a:schemeClr>
                </a:solidFill>
                <a:latin typeface="Malgun Gothic"/>
              </a:rPr>
              <a:t>CORNER</a:t>
            </a:r>
          </a:p>
          <a:p>
            <a:pPr algn="ctr"/>
            <a:r>
              <a:rPr sz="1200" b="0">
                <a:solidFill>
                  <a:schemeClr val="bg1">
                    <a:lumMod val="95000"/>
                  </a:schemeClr>
                </a:solidFill>
                <a:latin typeface="Malgun Gothic"/>
              </a:rPr>
              <a:t>odom yaw</a:t>
            </a:r>
          </a:p>
        </p:txBody>
      </p:sp>
      <p:sp>
        <p:nvSpPr>
          <p:cNvPr id="143" name="Rounded Rectangle 339"/>
          <p:cNvSpPr/>
          <p:nvPr/>
        </p:nvSpPr>
        <p:spPr>
          <a:xfrm>
            <a:off x="7263988" y="8363360"/>
            <a:ext cx="1035235" cy="432000"/>
          </a:xfrm>
          <a:prstGeom prst="roundRect">
            <a:avLst/>
          </a:prstGeom>
          <a:solidFill>
            <a:srgbClr val="002244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chemeClr val="bg1">
                    <a:lumMod val="95000"/>
                  </a:schemeClr>
                </a:solidFill>
                <a:latin typeface="Malgun Gothic"/>
              </a:rPr>
              <a:t>JUNCTION</a:t>
            </a:r>
          </a:p>
          <a:p>
            <a:pPr algn="ctr"/>
            <a:r>
              <a:rPr sz="1200" b="0">
                <a:solidFill>
                  <a:schemeClr val="bg1">
                    <a:lumMod val="95000"/>
                  </a:schemeClr>
                </a:solidFill>
                <a:latin typeface="Malgun Gothic"/>
              </a:rPr>
              <a:t>QR align</a:t>
            </a:r>
          </a:p>
        </p:txBody>
      </p:sp>
      <p:sp>
        <p:nvSpPr>
          <p:cNvPr id="144" name="Rounded Rectangle 340"/>
          <p:cNvSpPr/>
          <p:nvPr/>
        </p:nvSpPr>
        <p:spPr>
          <a:xfrm>
            <a:off x="8404185" y="8365272"/>
            <a:ext cx="969931" cy="432000"/>
          </a:xfrm>
          <a:prstGeom prst="roundRect">
            <a:avLst/>
          </a:prstGeom>
          <a:solidFill>
            <a:srgbClr val="002244"/>
          </a:solidFill>
          <a:ln w="19050">
            <a:solidFill>
              <a:srgbClr val="F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chemeClr val="bg1">
                    <a:lumMod val="95000"/>
                  </a:schemeClr>
                </a:solidFill>
                <a:latin typeface="Malgun Gothic"/>
              </a:rPr>
              <a:t>STOP_END</a:t>
            </a:r>
          </a:p>
          <a:p>
            <a:pPr algn="ctr"/>
            <a:r>
              <a:rPr sz="1200" b="0">
                <a:solidFill>
                  <a:schemeClr val="bg1">
                    <a:lumMod val="95000"/>
                  </a:schemeClr>
                </a:solidFill>
                <a:latin typeface="Malgun Gothic"/>
              </a:rPr>
              <a:t>arrival</a:t>
            </a:r>
          </a:p>
        </p:txBody>
      </p:sp>
      <p:sp>
        <p:nvSpPr>
          <p:cNvPr id="145" name="Rounded Rectangle 341"/>
          <p:cNvSpPr/>
          <p:nvPr/>
        </p:nvSpPr>
        <p:spPr>
          <a:xfrm>
            <a:off x="9473425" y="8361458"/>
            <a:ext cx="658368" cy="432000"/>
          </a:xfrm>
          <a:prstGeom prst="roundRect">
            <a:avLst/>
          </a:prstGeom>
          <a:solidFill>
            <a:srgbClr val="002244"/>
          </a:solidFill>
          <a:ln w="19050">
            <a:solidFill>
              <a:srgbClr val="6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chemeClr val="bg1">
                    <a:lumMod val="95000"/>
                  </a:schemeClr>
                </a:solidFill>
                <a:latin typeface="Malgun Gothic"/>
              </a:rPr>
              <a:t>PARK</a:t>
            </a:r>
          </a:p>
          <a:p>
            <a:pPr algn="ctr"/>
            <a:r>
              <a:rPr sz="1200" b="0">
                <a:solidFill>
                  <a:schemeClr val="bg1">
                    <a:lumMod val="95000"/>
                  </a:schemeClr>
                </a:solidFill>
                <a:latin typeface="Malgun Gothic"/>
              </a:rPr>
              <a:t>entry</a:t>
            </a:r>
          </a:p>
        </p:txBody>
      </p:sp>
      <p:sp>
        <p:nvSpPr>
          <p:cNvPr id="146" name="Rounded Rectangle 342"/>
          <p:cNvSpPr/>
          <p:nvPr/>
        </p:nvSpPr>
        <p:spPr>
          <a:xfrm>
            <a:off x="10243022" y="8363066"/>
            <a:ext cx="973639" cy="432000"/>
          </a:xfrm>
          <a:prstGeom prst="roundRect">
            <a:avLst/>
          </a:prstGeom>
          <a:solidFill>
            <a:srgbClr val="002244"/>
          </a:solidFill>
          <a:ln w="19050">
            <a:solidFill>
              <a:srgbClr val="829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smtClean="0">
                <a:solidFill>
                  <a:schemeClr val="bg1">
                    <a:lumMod val="95000"/>
                  </a:schemeClr>
                </a:solidFill>
                <a:latin typeface="Malgun Gothic"/>
              </a:rPr>
              <a:t>LINE </a:t>
            </a:r>
            <a:r>
              <a:rPr sz="1200" b="1">
                <a:solidFill>
                  <a:schemeClr val="bg1">
                    <a:lumMod val="95000"/>
                  </a:schemeClr>
                </a:solidFill>
                <a:latin typeface="Malgun Gothic"/>
              </a:rPr>
              <a:t>LOST</a:t>
            </a:r>
          </a:p>
          <a:p>
            <a:pPr algn="ctr"/>
            <a:r>
              <a:rPr sz="1200" b="0" smtClean="0">
                <a:solidFill>
                  <a:schemeClr val="bg1">
                    <a:lumMod val="95000"/>
                  </a:schemeClr>
                </a:solidFill>
                <a:latin typeface="Malgun Gothic"/>
              </a:rPr>
              <a:t>search/stop</a:t>
            </a:r>
            <a:endParaRPr sz="1200" b="0">
              <a:solidFill>
                <a:schemeClr val="bg1">
                  <a:lumMod val="95000"/>
                </a:schemeClr>
              </a:solidFill>
              <a:latin typeface="Malgun Gothic"/>
            </a:endParaRPr>
          </a:p>
        </p:txBody>
      </p:sp>
      <p:grpSp>
        <p:nvGrpSpPr>
          <p:cNvPr id="158" name="그룹 157"/>
          <p:cNvGrpSpPr/>
          <p:nvPr/>
        </p:nvGrpSpPr>
        <p:grpSpPr>
          <a:xfrm>
            <a:off x="13414426" y="3391912"/>
            <a:ext cx="2433571" cy="2185311"/>
            <a:chOff x="7014054" y="4028698"/>
            <a:chExt cx="2572445" cy="2310018"/>
          </a:xfrm>
        </p:grpSpPr>
        <p:grpSp>
          <p:nvGrpSpPr>
            <p:cNvPr id="97" name="그룹 96"/>
            <p:cNvGrpSpPr/>
            <p:nvPr/>
          </p:nvGrpSpPr>
          <p:grpSpPr>
            <a:xfrm>
              <a:off x="7041525" y="4028698"/>
              <a:ext cx="2544974" cy="1924252"/>
              <a:chOff x="11819074" y="2836289"/>
              <a:chExt cx="3053444" cy="2249200"/>
            </a:xfrm>
          </p:grpSpPr>
          <p:pic>
            <p:nvPicPr>
              <p:cNvPr id="100" name="그림 99"/>
              <p:cNvPicPr>
                <a:picLocks noChangeAspect="1"/>
              </p:cNvPicPr>
              <p:nvPr/>
            </p:nvPicPr>
            <p:blipFill rotWithShape="1">
              <a:blip r:embed="rId4"/>
              <a:srcRect l="67265" b="1892"/>
              <a:stretch/>
            </p:blipFill>
            <p:spPr>
              <a:xfrm>
                <a:off x="11819074" y="2836289"/>
                <a:ext cx="3053444" cy="2249200"/>
              </a:xfrm>
              <a:prstGeom prst="rect">
                <a:avLst/>
              </a:prstGeom>
            </p:spPr>
          </p:pic>
          <p:sp>
            <p:nvSpPr>
              <p:cNvPr id="101" name="직사각형 100"/>
              <p:cNvSpPr/>
              <p:nvPr/>
            </p:nvSpPr>
            <p:spPr>
              <a:xfrm>
                <a:off x="11978593" y="2836289"/>
                <a:ext cx="2728007" cy="853061"/>
              </a:xfrm>
              <a:prstGeom prst="rect">
                <a:avLst/>
              </a:prstGeom>
              <a:solidFill>
                <a:srgbClr val="FFFF00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02" name="직사각형 101"/>
              <p:cNvSpPr/>
              <p:nvPr/>
            </p:nvSpPr>
            <p:spPr>
              <a:xfrm>
                <a:off x="11819074" y="4649578"/>
                <a:ext cx="3030401" cy="408198"/>
              </a:xfrm>
              <a:prstGeom prst="rect">
                <a:avLst/>
              </a:prstGeom>
              <a:solidFill>
                <a:srgbClr val="00B050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03" name="직사각형 102"/>
              <p:cNvSpPr/>
              <p:nvPr/>
            </p:nvSpPr>
            <p:spPr>
              <a:xfrm>
                <a:off x="11827395" y="4338556"/>
                <a:ext cx="3030401" cy="408198"/>
              </a:xfrm>
              <a:prstGeom prst="rect">
                <a:avLst/>
              </a:prstGeom>
              <a:solidFill>
                <a:srgbClr val="2D9CDB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sp>
          <p:nvSpPr>
            <p:cNvPr id="189" name="TextBox 188"/>
            <p:cNvSpPr txBox="1"/>
            <p:nvPr/>
          </p:nvSpPr>
          <p:spPr>
            <a:xfrm>
              <a:off x="7014054" y="6070310"/>
              <a:ext cx="1987964" cy="268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altLang="ko-KR" sz="1050" smtClean="0">
                  <a:solidFill>
                    <a:schemeClr val="bg1">
                      <a:lumMod val="95000"/>
                    </a:schemeClr>
                  </a:solidFill>
                </a:rPr>
                <a:t>OpenCV </a:t>
              </a:r>
              <a:r>
                <a:rPr lang="ko-KR" altLang="en-US" sz="1050" smtClean="0">
                  <a:solidFill>
                    <a:schemeClr val="bg1">
                      <a:lumMod val="95000"/>
                    </a:schemeClr>
                  </a:solidFill>
                </a:rPr>
                <a:t>영상 처리 사진</a:t>
              </a:r>
              <a:r>
                <a:rPr lang="en-US" altLang="ko-KR" sz="1050" smtClean="0">
                  <a:solidFill>
                    <a:schemeClr val="bg1">
                      <a:lumMod val="95000"/>
                    </a:schemeClr>
                  </a:solidFill>
                </a:rPr>
                <a:t>  </a:t>
              </a:r>
              <a:endParaRPr lang="ko-KR" altLang="en-US" sz="105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1564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3024" y="341376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 제어 안정성 KPI 검증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97408" y="842391"/>
            <a:ext cx="586316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Velocity Safety Filter 적용 전·후 </a:t>
            </a:r>
            <a:r>
              <a:rPr lang="en-US" sz="1200">
                <a:solidFill>
                  <a:schemeClr val="bg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</a:t>
            </a:r>
            <a:r>
              <a:rPr lang="en-US" sz="1200" smtClean="0">
                <a:solidFill>
                  <a:schemeClr val="bg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cmd_vel &amp; /odom </a:t>
            </a:r>
            <a:r>
              <a:rPr lang="en-US" sz="1200" dirty="0">
                <a:solidFill>
                  <a:schemeClr val="bg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정합성 및 overshoot 변화 분석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3874496" y="493776"/>
            <a:ext cx="1328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Validation</a:t>
            </a:r>
            <a:endParaRPr lang="en-US" sz="867" dirty="0"/>
          </a:p>
        </p:txBody>
      </p:sp>
      <p:graphicFrame>
        <p:nvGraphicFramePr>
          <p:cNvPr id="76" name="표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720741"/>
              </p:ext>
            </p:extLst>
          </p:nvPr>
        </p:nvGraphicFramePr>
        <p:xfrm>
          <a:off x="10086556" y="1954729"/>
          <a:ext cx="5866914" cy="15636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638">
                  <a:extLst>
                    <a:ext uri="{9D8B030D-6E8A-4147-A177-3AD203B41FA5}">
                      <a16:colId xmlns:a16="http://schemas.microsoft.com/office/drawing/2014/main" val="4095263137"/>
                    </a:ext>
                  </a:extLst>
                </a:gridCol>
                <a:gridCol w="1955638">
                  <a:extLst>
                    <a:ext uri="{9D8B030D-6E8A-4147-A177-3AD203B41FA5}">
                      <a16:colId xmlns:a16="http://schemas.microsoft.com/office/drawing/2014/main" val="4073868613"/>
                    </a:ext>
                  </a:extLst>
                </a:gridCol>
                <a:gridCol w="1955638">
                  <a:extLst>
                    <a:ext uri="{9D8B030D-6E8A-4147-A177-3AD203B41FA5}">
                      <a16:colId xmlns:a16="http://schemas.microsoft.com/office/drawing/2014/main" val="3036392654"/>
                    </a:ext>
                  </a:extLst>
                </a:gridCol>
              </a:tblGrid>
              <a:tr h="420818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NRMSE</a:t>
                      </a:r>
                      <a:r>
                        <a:rPr lang="en-US" altLang="ko-KR" baseline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 Before</a:t>
                      </a:r>
                      <a:endParaRPr lang="ko-KR" altLang="en-US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NRMSE After</a:t>
                      </a:r>
                      <a:endParaRPr lang="ko-KR" altLang="en-US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760840"/>
                  </a:ext>
                </a:extLst>
              </a:tr>
              <a:tr h="5714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Linear.x</a:t>
                      </a:r>
                      <a:endParaRPr lang="ko-KR" altLang="en-US" b="1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600" smtClean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46.8%</a:t>
                      </a:r>
                      <a:endParaRPr lang="ko-KR" altLang="en-US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600" smtClean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17.6%</a:t>
                      </a:r>
                      <a:endParaRPr lang="ko-KR" altLang="en-US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50758"/>
                  </a:ext>
                </a:extLst>
              </a:tr>
              <a:tr h="5714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Angular.z</a:t>
                      </a:r>
                      <a:endParaRPr lang="ko-KR" altLang="en-US" b="1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600" smtClean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76.3%</a:t>
                      </a:r>
                      <a:endParaRPr lang="ko-KR" altLang="en-US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600" smtClean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28.0%</a:t>
                      </a:r>
                      <a:endParaRPr lang="ko-KR" altLang="en-US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886452"/>
                  </a:ext>
                </a:extLst>
              </a:tr>
            </a:tbl>
          </a:graphicData>
        </a:graphic>
      </p:graphicFrame>
      <p:graphicFrame>
        <p:nvGraphicFramePr>
          <p:cNvPr id="77" name="표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041006"/>
              </p:ext>
            </p:extLst>
          </p:nvPr>
        </p:nvGraphicFramePr>
        <p:xfrm>
          <a:off x="10086556" y="4482383"/>
          <a:ext cx="5866914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280">
                  <a:extLst>
                    <a:ext uri="{9D8B030D-6E8A-4147-A177-3AD203B41FA5}">
                      <a16:colId xmlns:a16="http://schemas.microsoft.com/office/drawing/2014/main" val="3467397792"/>
                    </a:ext>
                  </a:extLst>
                </a:gridCol>
                <a:gridCol w="1298371">
                  <a:extLst>
                    <a:ext uri="{9D8B030D-6E8A-4147-A177-3AD203B41FA5}">
                      <a16:colId xmlns:a16="http://schemas.microsoft.com/office/drawing/2014/main" val="2842644569"/>
                    </a:ext>
                  </a:extLst>
                </a:gridCol>
                <a:gridCol w="1254801">
                  <a:extLst>
                    <a:ext uri="{9D8B030D-6E8A-4147-A177-3AD203B41FA5}">
                      <a16:colId xmlns:a16="http://schemas.microsoft.com/office/drawing/2014/main" val="1731669141"/>
                    </a:ext>
                  </a:extLst>
                </a:gridCol>
                <a:gridCol w="1250462">
                  <a:extLst>
                    <a:ext uri="{9D8B030D-6E8A-4147-A177-3AD203B41FA5}">
                      <a16:colId xmlns:a16="http://schemas.microsoft.com/office/drawing/2014/main" val="1192428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Before</a:t>
                      </a:r>
                      <a:endParaRPr lang="ko-KR" altLang="en-US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After</a:t>
                      </a:r>
                      <a:endParaRPr lang="ko-KR" altLang="en-US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mtClean="0">
                          <a:solidFill>
                            <a:sysClr val="windowText" lastClr="000000"/>
                          </a:solidFill>
                        </a:rPr>
                        <a:t>개선</a:t>
                      </a:r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562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Linear.x peak overshoot</a:t>
                      </a:r>
                      <a:endParaRPr lang="ko-KR" altLang="en-US" b="1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mtClean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0.31 m/s</a:t>
                      </a:r>
                      <a:endParaRPr lang="ko-KR" altLang="en-US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mtClean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0.01 m/s</a:t>
                      </a:r>
                      <a:endParaRPr lang="ko-KR" altLang="en-US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b="1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1" smtClean="0">
                          <a:solidFill>
                            <a:sysClr val="windowText" lastClr="000000"/>
                          </a:solidFill>
                        </a:rPr>
                        <a:t>-96.8%</a:t>
                      </a:r>
                      <a:endParaRPr lang="ko-KR" altLang="en-US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765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Angular.z peak overshoot</a:t>
                      </a:r>
                      <a:endParaRPr lang="ko-KR" altLang="en-US" b="1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mtClean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0.87 rad/s</a:t>
                      </a:r>
                      <a:endParaRPr lang="ko-KR" altLang="en-US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mtClean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0.22 rad/s</a:t>
                      </a:r>
                      <a:endParaRPr lang="ko-KR" altLang="en-US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b="1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1" smtClean="0">
                          <a:solidFill>
                            <a:sysClr val="windowText" lastClr="000000"/>
                          </a:solidFill>
                        </a:rPr>
                        <a:t>-74.7</a:t>
                      </a:r>
                      <a:r>
                        <a:rPr lang="en-US" altLang="ko-KR" b="1" baseline="0" smtClean="0">
                          <a:solidFill>
                            <a:sysClr val="windowText" lastClr="000000"/>
                          </a:solidFill>
                        </a:rPr>
                        <a:t>%</a:t>
                      </a:r>
                      <a:endParaRPr lang="ko-KR" altLang="en-US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811288"/>
                  </a:ext>
                </a:extLst>
              </a:tr>
            </a:tbl>
          </a:graphicData>
        </a:graphic>
      </p:graphicFrame>
      <p:sp>
        <p:nvSpPr>
          <p:cNvPr id="79" name="TextBox 78"/>
          <p:cNvSpPr txBox="1"/>
          <p:nvPr/>
        </p:nvSpPr>
        <p:spPr>
          <a:xfrm>
            <a:off x="10086556" y="1521360"/>
            <a:ext cx="3432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&lt;NRMSE(normalized RMSE)&gt;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966164" y="3931945"/>
            <a:ext cx="3519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&lt;Overshoot </a:t>
            </a:r>
            <a:r>
              <a:rPr lang="ko-KR" altLang="en-US" b="1" smtClean="0">
                <a:solidFill>
                  <a:schemeClr val="bg1"/>
                </a:solidFill>
              </a:rPr>
              <a:t>초과량 및 초과율</a:t>
            </a:r>
            <a:r>
              <a:rPr lang="en-US" altLang="ko-KR" b="1" smtClean="0">
                <a:solidFill>
                  <a:schemeClr val="bg1"/>
                </a:solidFill>
              </a:rPr>
              <a:t>&gt;</a:t>
            </a:r>
            <a:endParaRPr lang="ko-KR" altLang="en-US" b="1">
              <a:solidFill>
                <a:schemeClr val="bg1"/>
              </a:solidFill>
            </a:endParaRPr>
          </a:p>
        </p:txBody>
      </p:sp>
      <p:grpSp>
        <p:nvGrpSpPr>
          <p:cNvPr id="86" name="그룹 85"/>
          <p:cNvGrpSpPr/>
          <p:nvPr/>
        </p:nvGrpSpPr>
        <p:grpSpPr>
          <a:xfrm>
            <a:off x="178156" y="1499939"/>
            <a:ext cx="9546336" cy="6993004"/>
            <a:chOff x="289668" y="1370708"/>
            <a:chExt cx="9546336" cy="6993004"/>
          </a:xfrm>
        </p:grpSpPr>
        <p:grpSp>
          <p:nvGrpSpPr>
            <p:cNvPr id="43" name="그룹 42"/>
            <p:cNvGrpSpPr/>
            <p:nvPr/>
          </p:nvGrpSpPr>
          <p:grpSpPr>
            <a:xfrm>
              <a:off x="289668" y="1370708"/>
              <a:ext cx="9546336" cy="6993004"/>
              <a:chOff x="585216" y="1377696"/>
              <a:chExt cx="9546336" cy="6993004"/>
            </a:xfrm>
          </p:grpSpPr>
          <p:sp>
            <p:nvSpPr>
              <p:cNvPr id="6" name="Shape 4"/>
              <p:cNvSpPr/>
              <p:nvPr/>
            </p:nvSpPr>
            <p:spPr>
              <a:xfrm>
                <a:off x="585216" y="1377696"/>
                <a:ext cx="9546336" cy="6993004"/>
              </a:xfrm>
              <a:prstGeom prst="roundRect">
                <a:avLst>
                  <a:gd name="adj" fmla="val 1396"/>
                </a:avLst>
              </a:prstGeom>
              <a:solidFill>
                <a:schemeClr val="bg1"/>
              </a:solidFill>
              <a:ln w="28575">
                <a:solidFill>
                  <a:schemeClr val="accent5">
                    <a:lumMod val="50000"/>
                  </a:schemeClr>
                </a:solidFill>
                <a:prstDash val="solid"/>
              </a:ln>
            </p:spPr>
          </p:sp>
          <p:sp>
            <p:nvSpPr>
              <p:cNvPr id="7" name="Text 5"/>
              <p:cNvSpPr/>
              <p:nvPr/>
            </p:nvSpPr>
            <p:spPr>
              <a:xfrm>
                <a:off x="707136" y="1473596"/>
                <a:ext cx="3169920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67" b="1" dirty="0">
                    <a:solidFill>
                      <a:srgbClr val="1E2A2F"/>
                    </a:solidFill>
                    <a:latin typeface="Noto Sans CJK KR" pitchFamily="34" charset="0"/>
                    <a:ea typeface="Noto Sans CJK KR" pitchFamily="34" charset="-122"/>
                    <a:cs typeface="Noto Sans CJK KR" pitchFamily="34" charset="-120"/>
                  </a:rPr>
                  <a:t>cmd_vel–odom tracking overlay</a:t>
                </a:r>
                <a:endParaRPr lang="en-US" sz="1067" dirty="0"/>
              </a:p>
            </p:txBody>
          </p:sp>
          <p:grpSp>
            <p:nvGrpSpPr>
              <p:cNvPr id="41" name="그룹 40"/>
              <p:cNvGrpSpPr/>
              <p:nvPr/>
            </p:nvGrpSpPr>
            <p:grpSpPr>
              <a:xfrm>
                <a:off x="640851" y="1665100"/>
                <a:ext cx="9195153" cy="2901188"/>
                <a:chOff x="949785" y="1926336"/>
                <a:chExt cx="9195153" cy="2901188"/>
              </a:xfrm>
            </p:grpSpPr>
            <p:pic>
              <p:nvPicPr>
                <p:cNvPr id="9" name="Image 0" descr="/mnt/data/agv_kpi_plot_slide.png"/>
                <p:cNvPicPr>
                  <a:picLocks noChangeAspect="1"/>
                </p:cNvPicPr>
                <p:nvPr/>
              </p:nvPicPr>
              <p:blipFill rotWithShape="1">
                <a:blip r:embed="rId3"/>
                <a:srcRect b="51830"/>
                <a:stretch/>
              </p:blipFill>
              <p:spPr>
                <a:xfrm>
                  <a:off x="949785" y="1926336"/>
                  <a:ext cx="9195153" cy="2901188"/>
                </a:xfrm>
                <a:prstGeom prst="rect">
                  <a:avLst/>
                </a:prstGeom>
              </p:spPr>
            </p:pic>
            <p:sp>
              <p:nvSpPr>
                <p:cNvPr id="35" name="직사각형 34"/>
                <p:cNvSpPr/>
                <p:nvPr/>
              </p:nvSpPr>
              <p:spPr>
                <a:xfrm>
                  <a:off x="2374900" y="1926336"/>
                  <a:ext cx="488950" cy="2560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직사각형 38"/>
                <p:cNvSpPr/>
                <p:nvPr/>
              </p:nvSpPr>
              <p:spPr>
                <a:xfrm>
                  <a:off x="6788950" y="1987296"/>
                  <a:ext cx="560032" cy="19507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grpSp>
          <p:nvGrpSpPr>
            <p:cNvPr id="37" name="그룹 36"/>
            <p:cNvGrpSpPr/>
            <p:nvPr/>
          </p:nvGrpSpPr>
          <p:grpSpPr>
            <a:xfrm>
              <a:off x="363191" y="5086300"/>
              <a:ext cx="9195153" cy="3113139"/>
              <a:chOff x="363191" y="4999216"/>
              <a:chExt cx="9195153" cy="3113139"/>
            </a:xfrm>
          </p:grpSpPr>
          <p:pic>
            <p:nvPicPr>
              <p:cNvPr id="55" name="Image 0" descr="/mnt/data/agv_kpi_plot_slide.png"/>
              <p:cNvPicPr>
                <a:picLocks noChangeAspect="1"/>
              </p:cNvPicPr>
              <p:nvPr/>
            </p:nvPicPr>
            <p:blipFill rotWithShape="1">
              <a:blip r:embed="rId3"/>
              <a:srcRect t="48311"/>
              <a:stretch/>
            </p:blipFill>
            <p:spPr>
              <a:xfrm>
                <a:off x="363191" y="4999216"/>
                <a:ext cx="9195153" cy="3113139"/>
              </a:xfrm>
              <a:prstGeom prst="rect">
                <a:avLst/>
              </a:prstGeom>
            </p:spPr>
          </p:pic>
          <p:sp>
            <p:nvSpPr>
              <p:cNvPr id="8" name="직사각형 7"/>
              <p:cNvSpPr/>
              <p:nvPr/>
            </p:nvSpPr>
            <p:spPr>
              <a:xfrm>
                <a:off x="6460568" y="5008822"/>
                <a:ext cx="485613" cy="22154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직사각형 55"/>
              <p:cNvSpPr/>
              <p:nvPr/>
            </p:nvSpPr>
            <p:spPr>
              <a:xfrm>
                <a:off x="1928893" y="4999216"/>
                <a:ext cx="485613" cy="2079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57" name="직선 연결선 56"/>
            <p:cNvCxnSpPr/>
            <p:nvPr/>
          </p:nvCxnSpPr>
          <p:spPr>
            <a:xfrm>
              <a:off x="411588" y="4851834"/>
              <a:ext cx="914675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직사각형 3"/>
            <p:cNvSpPr/>
            <p:nvPr/>
          </p:nvSpPr>
          <p:spPr>
            <a:xfrm>
              <a:off x="4305300" y="1914144"/>
              <a:ext cx="285750" cy="147395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770418" y="2132318"/>
              <a:ext cx="401282" cy="125577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9" name="직선 연결선 58"/>
            <p:cNvCxnSpPr/>
            <p:nvPr/>
          </p:nvCxnSpPr>
          <p:spPr>
            <a:xfrm>
              <a:off x="3657600" y="3474720"/>
              <a:ext cx="6477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/>
            <p:cNvCxnSpPr/>
            <p:nvPr/>
          </p:nvCxnSpPr>
          <p:spPr>
            <a:xfrm>
              <a:off x="3759200" y="2132318"/>
              <a:ext cx="6477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/>
            <p:cNvCxnSpPr/>
            <p:nvPr/>
          </p:nvCxnSpPr>
          <p:spPr>
            <a:xfrm flipV="1">
              <a:off x="4152900" y="2182368"/>
              <a:ext cx="0" cy="1205726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2992322" y="2294768"/>
              <a:ext cx="120898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smtClean="0"/>
                <a:t>3.38</a:t>
              </a:r>
              <a:r>
                <a:rPr lang="ko-KR" altLang="en-US" sz="1100" b="1" smtClean="0"/>
                <a:t>배 증폭 출력</a:t>
              </a:r>
              <a:endParaRPr lang="ko-KR" altLang="en-US" sz="1100" b="1"/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1680814" y="6164580"/>
              <a:ext cx="490886" cy="37592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171700" y="6013631"/>
              <a:ext cx="120898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smtClean="0"/>
                <a:t>1.05</a:t>
              </a:r>
              <a:r>
                <a:rPr lang="ko-KR" altLang="en-US" sz="1100" b="1" smtClean="0"/>
                <a:t>배 증폭 출력</a:t>
              </a:r>
              <a:endParaRPr lang="ko-KR" altLang="en-US" sz="1100" b="1"/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6321608" y="1999488"/>
              <a:ext cx="403041" cy="94235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8898118" y="3169920"/>
              <a:ext cx="331607" cy="108332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7379376" y="5606415"/>
              <a:ext cx="120898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smtClean="0"/>
                <a:t>1.49</a:t>
              </a:r>
              <a:r>
                <a:rPr lang="ko-KR" altLang="en-US" sz="1100" b="1" smtClean="0"/>
                <a:t>배 증폭 출력</a:t>
              </a:r>
              <a:endParaRPr lang="ko-KR" altLang="en-US" sz="1100" b="1"/>
            </a:p>
          </p:txBody>
        </p:sp>
        <p:cxnSp>
          <p:nvCxnSpPr>
            <p:cNvPr id="65" name="직선 연결선 64"/>
            <p:cNvCxnSpPr/>
            <p:nvPr/>
          </p:nvCxnSpPr>
          <p:spPr>
            <a:xfrm>
              <a:off x="8347166" y="4209643"/>
              <a:ext cx="6477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/>
            <p:cNvCxnSpPr/>
            <p:nvPr/>
          </p:nvCxnSpPr>
          <p:spPr>
            <a:xfrm>
              <a:off x="8347166" y="3108706"/>
              <a:ext cx="6477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화살표 연결선 66"/>
            <p:cNvCxnSpPr/>
            <p:nvPr/>
          </p:nvCxnSpPr>
          <p:spPr>
            <a:xfrm>
              <a:off x="8745719" y="3108706"/>
              <a:ext cx="0" cy="1066900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직사각형 69"/>
            <p:cNvSpPr/>
            <p:nvPr/>
          </p:nvSpPr>
          <p:spPr>
            <a:xfrm>
              <a:off x="8566512" y="5705856"/>
              <a:ext cx="179208" cy="83464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583603" y="3241402"/>
              <a:ext cx="120898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smtClean="0"/>
                <a:t>3.90</a:t>
              </a:r>
              <a:r>
                <a:rPr lang="ko-KR" altLang="en-US" sz="1100" b="1" smtClean="0"/>
                <a:t>배 증폭 출력</a:t>
              </a:r>
              <a:endParaRPr lang="ko-KR" altLang="en-US" sz="1100" b="1"/>
            </a:p>
          </p:txBody>
        </p:sp>
      </p:grpSp>
      <p:sp>
        <p:nvSpPr>
          <p:cNvPr id="46" name="Shape 4"/>
          <p:cNvSpPr/>
          <p:nvPr/>
        </p:nvSpPr>
        <p:spPr>
          <a:xfrm>
            <a:off x="206106" y="1484563"/>
            <a:ext cx="9546336" cy="6993004"/>
          </a:xfrm>
          <a:prstGeom prst="roundRect">
            <a:avLst>
              <a:gd name="adj" fmla="val 139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ln w="28575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128678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1352</TotalTime>
  <Words>335</Words>
  <Application>Microsoft Office PowerPoint</Application>
  <PresentationFormat>사용자 지정</PresentationFormat>
  <Paragraphs>120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Noto Sans CJK KR</vt:lpstr>
      <vt:lpstr>맑은 고딕</vt:lpstr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김윤정</cp:lastModifiedBy>
  <cp:revision>83</cp:revision>
  <dcterms:created xsi:type="dcterms:W3CDTF">2006-08-16T00:00:00Z</dcterms:created>
  <dcterms:modified xsi:type="dcterms:W3CDTF">2026-06-30T01:12:52Z</dcterms:modified>
</cp:coreProperties>
</file>